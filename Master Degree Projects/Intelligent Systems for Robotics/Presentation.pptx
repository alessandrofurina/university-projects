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9"/>
  </p:notesMasterIdLst>
  <p:sldIdLst>
    <p:sldId id="256" r:id="rId2"/>
    <p:sldId id="257" r:id="rId3"/>
    <p:sldId id="258" r:id="rId4"/>
    <p:sldId id="259" r:id="rId5"/>
    <p:sldId id="260" r:id="rId6"/>
    <p:sldId id="261" r:id="rId7"/>
    <p:sldId id="263" r:id="rId8"/>
    <p:sldId id="275" r:id="rId9"/>
    <p:sldId id="265" r:id="rId10"/>
    <p:sldId id="266" r:id="rId11"/>
    <p:sldId id="267" r:id="rId12"/>
    <p:sldId id="268" r:id="rId13"/>
    <p:sldId id="270" r:id="rId14"/>
    <p:sldId id="271" r:id="rId15"/>
    <p:sldId id="272" r:id="rId16"/>
    <p:sldId id="273" r:id="rId17"/>
    <p:sldId id="274"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2D63"/>
    <a:srgbClr val="1056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94660"/>
  </p:normalViewPr>
  <p:slideViewPr>
    <p:cSldViewPr snapToGrid="0">
      <p:cViewPr varScale="1">
        <p:scale>
          <a:sx n="74" d="100"/>
          <a:sy n="74" d="100"/>
        </p:scale>
        <p:origin x="9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EB2FE3-E523-4E79-B74A-2B9164CDA4C6}" type="datetimeFigureOut">
              <a:rPr lang="it-IT" smtClean="0"/>
              <a:t>26/08/2025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A4A107-603A-4981-B769-808E736C5162}" type="slidenum">
              <a:rPr lang="it-IT" smtClean="0"/>
              <a:t>‹N›</a:t>
            </a:fld>
            <a:endParaRPr lang="it-IT"/>
          </a:p>
        </p:txBody>
      </p:sp>
    </p:spTree>
    <p:extLst>
      <p:ext uri="{BB962C8B-B14F-4D97-AF65-F5344CB8AC3E}">
        <p14:creationId xmlns:p14="http://schemas.microsoft.com/office/powerpoint/2010/main" val="1765920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B3A4A107-603A-4981-B769-808E736C5162}" type="slidenum">
              <a:rPr lang="it-IT" smtClean="0"/>
              <a:t>11</a:t>
            </a:fld>
            <a:endParaRPr lang="it-IT"/>
          </a:p>
        </p:txBody>
      </p:sp>
    </p:spTree>
    <p:extLst>
      <p:ext uri="{BB962C8B-B14F-4D97-AF65-F5344CB8AC3E}">
        <p14:creationId xmlns:p14="http://schemas.microsoft.com/office/powerpoint/2010/main" val="275703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B3A4A107-603A-4981-B769-808E736C5162}" type="slidenum">
              <a:rPr lang="it-IT" smtClean="0"/>
              <a:t>14</a:t>
            </a:fld>
            <a:endParaRPr lang="it-IT"/>
          </a:p>
        </p:txBody>
      </p:sp>
    </p:spTree>
    <p:extLst>
      <p:ext uri="{BB962C8B-B14F-4D97-AF65-F5344CB8AC3E}">
        <p14:creationId xmlns:p14="http://schemas.microsoft.com/office/powerpoint/2010/main" val="1034363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95135-B97D-E86F-E7C7-8566BD8C2BF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DB7BA62-A75F-27F5-8D18-C3E2F4691F6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BFFC10B-EF04-E511-1BAA-93617AAE96B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DD9ED9F-BB97-65A6-4EE1-F2240FE0DD64}"/>
              </a:ext>
            </a:extLst>
          </p:cNvPr>
          <p:cNvSpPr>
            <a:spLocks noGrp="1"/>
          </p:cNvSpPr>
          <p:nvPr>
            <p:ph type="sldNum" sz="quarter" idx="5"/>
          </p:nvPr>
        </p:nvSpPr>
        <p:spPr/>
        <p:txBody>
          <a:bodyPr/>
          <a:lstStyle/>
          <a:p>
            <a:fld id="{B3A4A107-603A-4981-B769-808E736C5162}" type="slidenum">
              <a:rPr lang="it-IT" smtClean="0"/>
              <a:t>15</a:t>
            </a:fld>
            <a:endParaRPr lang="it-IT"/>
          </a:p>
        </p:txBody>
      </p:sp>
    </p:spTree>
    <p:extLst>
      <p:ext uri="{BB962C8B-B14F-4D97-AF65-F5344CB8AC3E}">
        <p14:creationId xmlns:p14="http://schemas.microsoft.com/office/powerpoint/2010/main" val="2702924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E59D-A705-0CA8-203D-99E5BA8235D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4B1B75D-E4E2-644D-CE92-6373502436F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7C0D3B9-84A9-184A-6DB8-C2CA4FBE2D7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CB6719B-70A3-3B68-DAB4-672E64090C6A}"/>
              </a:ext>
            </a:extLst>
          </p:cNvPr>
          <p:cNvSpPr>
            <a:spLocks noGrp="1"/>
          </p:cNvSpPr>
          <p:nvPr>
            <p:ph type="sldNum" sz="quarter" idx="5"/>
          </p:nvPr>
        </p:nvSpPr>
        <p:spPr/>
        <p:txBody>
          <a:bodyPr/>
          <a:lstStyle/>
          <a:p>
            <a:fld id="{B3A4A107-603A-4981-B769-808E736C5162}" type="slidenum">
              <a:rPr lang="it-IT" smtClean="0"/>
              <a:t>16</a:t>
            </a:fld>
            <a:endParaRPr lang="it-IT"/>
          </a:p>
        </p:txBody>
      </p:sp>
    </p:spTree>
    <p:extLst>
      <p:ext uri="{BB962C8B-B14F-4D97-AF65-F5344CB8AC3E}">
        <p14:creationId xmlns:p14="http://schemas.microsoft.com/office/powerpoint/2010/main" val="3212565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8/26/2025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950079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8/26/2025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079429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8/26/2025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421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8/26/2025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986412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8/26/2025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674983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8/26/2025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85309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8/26/2025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59700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8/26/2025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77627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8/26/2025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47784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8/26/2025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206828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8/26/2025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192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8/26/2025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94489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sellaDiTesto 8">
            <a:extLst>
              <a:ext uri="{FF2B5EF4-FFF2-40B4-BE49-F238E27FC236}">
                <a16:creationId xmlns:a16="http://schemas.microsoft.com/office/drawing/2014/main" id="{1355C75C-6130-2B70-5604-E7684F4235C4}"/>
              </a:ext>
            </a:extLst>
          </p:cNvPr>
          <p:cNvSpPr txBox="1"/>
          <p:nvPr/>
        </p:nvSpPr>
        <p:spPr>
          <a:xfrm>
            <a:off x="6667087" y="711122"/>
            <a:ext cx="4308672" cy="3224045"/>
          </a:xfrm>
          <a:prstGeom prst="rect">
            <a:avLst/>
          </a:prstGeom>
        </p:spPr>
        <p:txBody>
          <a:bodyPr vert="horz" lIns="91440" tIns="45720" rIns="91440" bIns="45720" rtlCol="0" anchor="b">
            <a:normAutofit/>
          </a:bodyPr>
          <a:lstStyle/>
          <a:p>
            <a:pPr>
              <a:spcBef>
                <a:spcPct val="0"/>
              </a:spcBef>
              <a:spcAft>
                <a:spcPts val="600"/>
              </a:spcAft>
            </a:pPr>
            <a:endParaRPr lang="en-US" sz="5800" b="1" kern="1200" dirty="0">
              <a:solidFill>
                <a:schemeClr val="tx1"/>
              </a:solidFill>
              <a:latin typeface="Times New Roman" panose="02020603050405020304" pitchFamily="18" charset="0"/>
              <a:ea typeface="+mj-ea"/>
              <a:cs typeface="Times New Roman" panose="02020603050405020304" pitchFamily="18" charset="0"/>
            </a:endParaRPr>
          </a:p>
        </p:txBody>
      </p:sp>
      <p:pic>
        <p:nvPicPr>
          <p:cNvPr id="5" name="Immagine 4" descr="Immagine che contiene schermata, luce, Blu intenso&#10;&#10;Il contenuto generato dall'IA potrebbe non essere corretto.">
            <a:extLst>
              <a:ext uri="{FF2B5EF4-FFF2-40B4-BE49-F238E27FC236}">
                <a16:creationId xmlns:a16="http://schemas.microsoft.com/office/drawing/2014/main" id="{1FF47BAA-E5C7-4DDB-E260-703835139436}"/>
              </a:ext>
            </a:extLst>
          </p:cNvPr>
          <p:cNvPicPr>
            <a:picLocks noChangeAspect="1"/>
          </p:cNvPicPr>
          <p:nvPr/>
        </p:nvPicPr>
        <p:blipFill>
          <a:blip r:embed="rId2">
            <a:extLst>
              <a:ext uri="{28A0092B-C50C-407E-A947-70E740481C1C}">
                <a14:useLocalDpi xmlns:a14="http://schemas.microsoft.com/office/drawing/2010/main" val="0"/>
              </a:ext>
            </a:extLst>
          </a:blip>
          <a:srcRect l="16791" r="26359"/>
          <a:stretch>
            <a:fillRect/>
          </a:stretch>
        </p:blipFill>
        <p:spPr>
          <a:xfrm>
            <a:off x="20" y="10"/>
            <a:ext cx="5507162" cy="6857990"/>
          </a:xfrm>
          <a:prstGeom prst="rect">
            <a:avLst/>
          </a:prstGeom>
        </p:spPr>
      </p:pic>
      <p:cxnSp>
        <p:nvCxnSpPr>
          <p:cNvPr id="16" name="Straight Connector 15">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0" name="Rettangolo 9">
            <a:extLst>
              <a:ext uri="{FF2B5EF4-FFF2-40B4-BE49-F238E27FC236}">
                <a16:creationId xmlns:a16="http://schemas.microsoft.com/office/drawing/2014/main" id="{CA774433-3C69-B48B-20CC-DF6C4A8DB46A}"/>
              </a:ext>
            </a:extLst>
          </p:cNvPr>
          <p:cNvSpPr/>
          <p:nvPr/>
        </p:nvSpPr>
        <p:spPr>
          <a:xfrm>
            <a:off x="7509134" y="4646288"/>
            <a:ext cx="1312289" cy="130581"/>
          </a:xfrm>
          <a:prstGeom prst="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CasellaDiTesto 11">
            <a:extLst>
              <a:ext uri="{FF2B5EF4-FFF2-40B4-BE49-F238E27FC236}">
                <a16:creationId xmlns:a16="http://schemas.microsoft.com/office/drawing/2014/main" id="{2B0EFBCC-D6AA-489C-3310-964B4E4866D9}"/>
              </a:ext>
            </a:extLst>
          </p:cNvPr>
          <p:cNvSpPr txBox="1"/>
          <p:nvPr/>
        </p:nvSpPr>
        <p:spPr>
          <a:xfrm>
            <a:off x="5803130" y="2323144"/>
            <a:ext cx="6094268" cy="2585323"/>
          </a:xfrm>
          <a:prstGeom prst="rect">
            <a:avLst/>
          </a:prstGeom>
          <a:noFill/>
        </p:spPr>
        <p:txBody>
          <a:bodyPr wrap="square">
            <a:spAutoFit/>
          </a:bodyPr>
          <a:lstStyle/>
          <a:p>
            <a:pPr algn="just">
              <a:spcBef>
                <a:spcPct val="0"/>
              </a:spcBef>
              <a:spcAft>
                <a:spcPts val="600"/>
              </a:spcAft>
            </a:pPr>
            <a:r>
              <a:rPr lang="en-GB" i="1" dirty="0">
                <a:latin typeface="Times New Roman" panose="02020603050405020304" pitchFamily="18" charset="0"/>
                <a:cs typeface="Times New Roman" panose="02020603050405020304" pitchFamily="18" charset="0"/>
              </a:rPr>
              <a:t>This work is oriented to develop an application based on reinforcement learning algorithm. This technique belongs to a wider field of research that is Machine Learning. It represents a branch of artificial intelligence oriented to design systems capable of learning, accomplishing tasks, making predictions based on the acquisition of large quantity of data. Intelligent systems, in this way, end up acquiring experience regarding how to sort off the problem without having explicit instructions from the designers</a:t>
            </a:r>
            <a:endParaRPr lang="en-US" sz="5800" b="1" i="1" kern="1200" dirty="0">
              <a:solidFill>
                <a:schemeClr val="tx1"/>
              </a:solidFill>
              <a:latin typeface="Times New Roman" panose="02020603050405020304" pitchFamily="18" charset="0"/>
              <a:ea typeface="+mj-ea"/>
              <a:cs typeface="Times New Roman" panose="02020603050405020304" pitchFamily="18" charset="0"/>
            </a:endParaRPr>
          </a:p>
        </p:txBody>
      </p:sp>
      <p:sp>
        <p:nvSpPr>
          <p:cNvPr id="13" name="CasellaDiTesto 12">
            <a:extLst>
              <a:ext uri="{FF2B5EF4-FFF2-40B4-BE49-F238E27FC236}">
                <a16:creationId xmlns:a16="http://schemas.microsoft.com/office/drawing/2014/main" id="{40BE8F8F-5DE3-CEB0-5810-E0C487F0FD74}"/>
              </a:ext>
            </a:extLst>
          </p:cNvPr>
          <p:cNvSpPr txBox="1"/>
          <p:nvPr/>
        </p:nvSpPr>
        <p:spPr>
          <a:xfrm>
            <a:off x="5803130" y="1339453"/>
            <a:ext cx="6034187" cy="1097280"/>
          </a:xfrm>
          <a:prstGeom prst="rect">
            <a:avLst/>
          </a:prstGeom>
        </p:spPr>
        <p:txBody>
          <a:bodyPr vert="horz" lIns="91440" tIns="45720" rIns="91440" bIns="45720" rtlCol="0" anchor="t">
            <a:normAutofit/>
          </a:bodyPr>
          <a:lstStyle/>
          <a:p>
            <a:pPr>
              <a:spcBef>
                <a:spcPct val="0"/>
              </a:spcBef>
              <a:spcAft>
                <a:spcPts val="600"/>
              </a:spcAft>
            </a:pPr>
            <a:r>
              <a:rPr lang="en-GB" sz="4000" b="1" i="1" noProof="0" dirty="0">
                <a:latin typeface="+mj-lt"/>
                <a:ea typeface="+mj-ea"/>
                <a:cs typeface="+mj-cs"/>
              </a:rPr>
              <a:t>Objective</a:t>
            </a:r>
          </a:p>
        </p:txBody>
      </p:sp>
    </p:spTree>
    <p:extLst>
      <p:ext uri="{BB962C8B-B14F-4D97-AF65-F5344CB8AC3E}">
        <p14:creationId xmlns:p14="http://schemas.microsoft.com/office/powerpoint/2010/main" val="3746901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519B1681-34D3-DD30-8E72-58BB7385D8FC}"/>
              </a:ext>
            </a:extLst>
          </p:cNvPr>
          <p:cNvSpPr/>
          <p:nvPr/>
        </p:nvSpPr>
        <p:spPr>
          <a:xfrm>
            <a:off x="0" y="-1"/>
            <a:ext cx="12192000" cy="111439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CasellaDiTesto 3">
            <a:extLst>
              <a:ext uri="{FF2B5EF4-FFF2-40B4-BE49-F238E27FC236}">
                <a16:creationId xmlns:a16="http://schemas.microsoft.com/office/drawing/2014/main" id="{D62E4DDE-B728-8526-D90F-E9F60D502921}"/>
              </a:ext>
            </a:extLst>
          </p:cNvPr>
          <p:cNvSpPr txBox="1"/>
          <p:nvPr/>
        </p:nvSpPr>
        <p:spPr>
          <a:xfrm>
            <a:off x="474518" y="1496290"/>
            <a:ext cx="11242963" cy="4247317"/>
          </a:xfrm>
          <a:prstGeom prst="rect">
            <a:avLst/>
          </a:prstGeom>
          <a:noFill/>
        </p:spPr>
        <p:txBody>
          <a:bodyPr wrap="square" rtlCol="0">
            <a:spAutoFit/>
          </a:bodyPr>
          <a:lstStyle/>
          <a:p>
            <a:pPr algn="just"/>
            <a:r>
              <a:rPr lang="en-GB" i="1" dirty="0">
                <a:latin typeface="Times New Roman" panose="02020603050405020304" pitchFamily="18" charset="0"/>
                <a:cs typeface="Times New Roman" panose="02020603050405020304" pitchFamily="18" charset="0"/>
              </a:rPr>
              <a:t> Among all the techniques in the artificial intelligence field, it is possible to recognize two main categories:</a:t>
            </a:r>
          </a:p>
          <a:p>
            <a:pPr algn="just"/>
            <a:endParaRPr lang="it-IT" i="1"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GB" b="1" i="1" dirty="0">
                <a:latin typeface="Times New Roman" panose="02020603050405020304" pitchFamily="18" charset="0"/>
                <a:cs typeface="Times New Roman" panose="02020603050405020304" pitchFamily="18" charset="0"/>
              </a:rPr>
              <a:t>Supervised Learning</a:t>
            </a:r>
            <a:r>
              <a:rPr lang="en-GB" i="1" dirty="0">
                <a:latin typeface="Times New Roman" panose="02020603050405020304" pitchFamily="18" charset="0"/>
                <a:cs typeface="Times New Roman" panose="02020603050405020304" pitchFamily="18" charset="0"/>
              </a:rPr>
              <a:t>: in supervised learning the system is learning from a training set of labelled examples provided by an external supervisor. Each example is a description of a situation together with a specification, the label, of the correct action the system should take to that situation, which is often to identify a category to which the situation belongs. The object is to extrapolate, or generalize, its responses so that it acts correctly in situations not present in the training set.</a:t>
            </a:r>
            <a:endParaRPr lang="it-IT" i="1"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GB" b="1" i="1" dirty="0">
                <a:latin typeface="Times New Roman" panose="02020603050405020304" pitchFamily="18" charset="0"/>
                <a:cs typeface="Times New Roman" panose="02020603050405020304" pitchFamily="18" charset="0"/>
              </a:rPr>
              <a:t>Unsupervised Learning</a:t>
            </a:r>
            <a:r>
              <a:rPr lang="en-GB" i="1" dirty="0">
                <a:latin typeface="Times New Roman" panose="02020603050405020304" pitchFamily="18" charset="0"/>
                <a:cs typeface="Times New Roman" panose="02020603050405020304" pitchFamily="18" charset="0"/>
              </a:rPr>
              <a:t>: it consists of finding structures hidden in collections of data. Based on these structures, the system should be able to classify the input data.</a:t>
            </a:r>
          </a:p>
          <a:p>
            <a:pPr lvl="0" algn="just"/>
            <a:endParaRPr lang="it-IT" i="1" dirty="0">
              <a:latin typeface="Times New Roman" panose="02020603050405020304" pitchFamily="18" charset="0"/>
              <a:cs typeface="Times New Roman" panose="02020603050405020304" pitchFamily="18" charset="0"/>
            </a:endParaRPr>
          </a:p>
          <a:p>
            <a:pPr algn="just"/>
            <a:r>
              <a:rPr lang="en-GB" i="1" dirty="0">
                <a:latin typeface="Times New Roman" panose="02020603050405020304" pitchFamily="18" charset="0"/>
                <a:cs typeface="Times New Roman" panose="02020603050405020304" pitchFamily="18" charset="0"/>
              </a:rPr>
              <a:t>Both of these categories do not have an explicit interaction between the intelligent system and the environment. Since Reinforcement Learning is strongly affected by the information conveyed from the external environment in response to each action the agent makes, we can classify this technique in the middle between supervised and unsupervised learning.</a:t>
            </a:r>
            <a:endParaRPr lang="it-IT" i="1" dirty="0">
              <a:latin typeface="Times New Roman" panose="02020603050405020304" pitchFamily="18" charset="0"/>
              <a:cs typeface="Times New Roman" panose="02020603050405020304" pitchFamily="18" charset="0"/>
            </a:endParaRPr>
          </a:p>
          <a:p>
            <a:endParaRPr lang="it-IT" dirty="0"/>
          </a:p>
        </p:txBody>
      </p:sp>
    </p:spTree>
    <p:extLst>
      <p:ext uri="{BB962C8B-B14F-4D97-AF65-F5344CB8AC3E}">
        <p14:creationId xmlns:p14="http://schemas.microsoft.com/office/powerpoint/2010/main" val="2723926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F345D957-0269-2A30-83CB-FE19B900E1FA}"/>
              </a:ext>
            </a:extLst>
          </p:cNvPr>
          <p:cNvSpPr/>
          <p:nvPr/>
        </p:nvSpPr>
        <p:spPr>
          <a:xfrm>
            <a:off x="0" y="-1"/>
            <a:ext cx="12192000" cy="111439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076EBCDB-5293-D81F-93FD-CD04BFDF8636}"/>
              </a:ext>
            </a:extLst>
          </p:cNvPr>
          <p:cNvSpPr txBox="1"/>
          <p:nvPr/>
        </p:nvSpPr>
        <p:spPr>
          <a:xfrm>
            <a:off x="280554" y="258469"/>
            <a:ext cx="4086568" cy="707886"/>
          </a:xfrm>
          <a:prstGeom prst="rect">
            <a:avLst/>
          </a:prstGeom>
          <a:noFill/>
        </p:spPr>
        <p:txBody>
          <a:bodyPr wrap="none" rtlCol="0">
            <a:spAutoFit/>
          </a:bodyPr>
          <a:lstStyle/>
          <a:p>
            <a:r>
              <a:rPr lang="it-IT" sz="4000" b="1" i="1" dirty="0" err="1">
                <a:solidFill>
                  <a:schemeClr val="bg1"/>
                </a:solidFill>
                <a:latin typeface="Times New Roman" panose="02020603050405020304" pitchFamily="18" charset="0"/>
                <a:cs typeface="Times New Roman" panose="02020603050405020304" pitchFamily="18" charset="0"/>
              </a:rPr>
              <a:t>What</a:t>
            </a:r>
            <a:r>
              <a:rPr lang="it-IT" sz="4000" b="1" i="1" dirty="0">
                <a:solidFill>
                  <a:schemeClr val="bg1"/>
                </a:solidFill>
                <a:latin typeface="Times New Roman" panose="02020603050405020304" pitchFamily="18" charset="0"/>
                <a:cs typeface="Times New Roman" panose="02020603050405020304" pitchFamily="18" charset="0"/>
              </a:rPr>
              <a:t> </a:t>
            </a:r>
            <a:r>
              <a:rPr lang="it-IT" sz="4000" b="1" i="1" dirty="0" err="1">
                <a:solidFill>
                  <a:schemeClr val="bg1"/>
                </a:solidFill>
                <a:latin typeface="Times New Roman" panose="02020603050405020304" pitchFamily="18" charset="0"/>
                <a:cs typeface="Times New Roman" panose="02020603050405020304" pitchFamily="18" charset="0"/>
              </a:rPr>
              <a:t>is</a:t>
            </a:r>
            <a:r>
              <a:rPr lang="it-IT" sz="4000" b="1" i="1" dirty="0">
                <a:solidFill>
                  <a:schemeClr val="bg1"/>
                </a:solidFill>
                <a:latin typeface="Times New Roman" panose="02020603050405020304" pitchFamily="18" charset="0"/>
                <a:cs typeface="Times New Roman" panose="02020603050405020304" pitchFamily="18" charset="0"/>
              </a:rPr>
              <a:t> an Agent?</a:t>
            </a:r>
          </a:p>
        </p:txBody>
      </p:sp>
      <p:sp>
        <p:nvSpPr>
          <p:cNvPr id="4" name="CasellaDiTesto 3">
            <a:extLst>
              <a:ext uri="{FF2B5EF4-FFF2-40B4-BE49-F238E27FC236}">
                <a16:creationId xmlns:a16="http://schemas.microsoft.com/office/drawing/2014/main" id="{4C4F0D28-EB6A-5D68-DFC1-0DED429C5EBA}"/>
              </a:ext>
            </a:extLst>
          </p:cNvPr>
          <p:cNvSpPr txBox="1"/>
          <p:nvPr/>
        </p:nvSpPr>
        <p:spPr>
          <a:xfrm>
            <a:off x="428968" y="1891146"/>
            <a:ext cx="11170227" cy="3416320"/>
          </a:xfrm>
          <a:prstGeom prst="rect">
            <a:avLst/>
          </a:prstGeom>
          <a:noFill/>
        </p:spPr>
        <p:txBody>
          <a:bodyPr wrap="square" rtlCol="0">
            <a:spAutoFit/>
          </a:bodyPr>
          <a:lstStyle/>
          <a:p>
            <a:pPr algn="just"/>
            <a:r>
              <a:rPr lang="en-US" i="1" dirty="0">
                <a:latin typeface="Times New Roman" panose="02020603050405020304" pitchFamily="18" charset="0"/>
                <a:cs typeface="Times New Roman" panose="02020603050405020304" pitchFamily="18" charset="0"/>
              </a:rPr>
              <a:t>An intelligent agent is a computer system capable of flexible autonomous action in some environment. It can be seen as an upgrade of the object-oriented programming paradigm. Indeed, a program is considered </a:t>
            </a:r>
            <a:r>
              <a:rPr lang="en-US" b="1" i="1" dirty="0">
                <a:latin typeface="Times New Roman" panose="02020603050405020304" pitchFamily="18" charset="0"/>
                <a:cs typeface="Times New Roman" panose="02020603050405020304" pitchFamily="18" charset="0"/>
              </a:rPr>
              <a:t>intelligent </a:t>
            </a:r>
            <a:r>
              <a:rPr lang="en-US" i="1" dirty="0">
                <a:latin typeface="Times New Roman" panose="02020603050405020304" pitchFamily="18" charset="0"/>
                <a:cs typeface="Times New Roman" panose="02020603050405020304" pitchFamily="18" charset="0"/>
              </a:rPr>
              <a:t>if the following properties hold:</a:t>
            </a:r>
          </a:p>
          <a:p>
            <a:pPr marL="342900" indent="-342900" algn="just">
              <a:buFont typeface="+mj-lt"/>
              <a:buAutoNum type="arabicPeriod"/>
            </a:pPr>
            <a:r>
              <a:rPr lang="en-US" b="1" i="1" dirty="0">
                <a:latin typeface="Times New Roman" panose="02020603050405020304" pitchFamily="18" charset="0"/>
                <a:cs typeface="Times New Roman" panose="02020603050405020304" pitchFamily="18" charset="0"/>
              </a:rPr>
              <a:t>Reactivity</a:t>
            </a:r>
            <a:r>
              <a:rPr lang="en-US" i="1" dirty="0">
                <a:latin typeface="Times New Roman" panose="02020603050405020304" pitchFamily="18" charset="0"/>
                <a:cs typeface="Times New Roman" panose="02020603050405020304" pitchFamily="18" charset="0"/>
              </a:rPr>
              <a:t>: a reactive system maintains an ongoing interaction with its environment. It is capable to respond to changes that occur in the environment (in time for the response to be useful).</a:t>
            </a:r>
          </a:p>
          <a:p>
            <a:pPr marL="342900" indent="-342900" algn="just">
              <a:buFont typeface="+mj-lt"/>
              <a:buAutoNum type="arabicPeriod"/>
            </a:pPr>
            <a:r>
              <a:rPr lang="en-US" b="1" i="1" dirty="0">
                <a:latin typeface="Times New Roman" panose="02020603050405020304" pitchFamily="18" charset="0"/>
                <a:cs typeface="Times New Roman" panose="02020603050405020304" pitchFamily="18" charset="0"/>
              </a:rPr>
              <a:t>Proactiveness</a:t>
            </a:r>
            <a:r>
              <a:rPr lang="en-US" i="1" dirty="0">
                <a:latin typeface="Times New Roman" panose="02020603050405020304" pitchFamily="18" charset="0"/>
                <a:cs typeface="Times New Roman" panose="02020603050405020304" pitchFamily="18" charset="0"/>
              </a:rPr>
              <a:t>: is the capability of generating actions to attempt to achieve the goal. Thus, is the ability to take the initiative.</a:t>
            </a:r>
          </a:p>
          <a:p>
            <a:pPr marL="342900" indent="-342900" algn="just">
              <a:buFont typeface="+mj-lt"/>
              <a:buAutoNum type="arabicPeriod"/>
            </a:pPr>
            <a:r>
              <a:rPr lang="en-US" b="1" i="1" dirty="0">
                <a:latin typeface="Times New Roman" panose="02020603050405020304" pitchFamily="18" charset="0"/>
                <a:cs typeface="Times New Roman" panose="02020603050405020304" pitchFamily="18" charset="0"/>
              </a:rPr>
              <a:t>Social</a:t>
            </a:r>
            <a:r>
              <a:rPr lang="en-US" i="1" dirty="0">
                <a:latin typeface="Times New Roman" panose="02020603050405020304" pitchFamily="18" charset="0"/>
                <a:cs typeface="Times New Roman" panose="02020603050405020304" pitchFamily="18" charset="0"/>
              </a:rPr>
              <a:t>: sociality characterizes multi-agent systems. Sometimes, in order to achieve the goal it is convenient to define a net of communication where each agent shares information. Thus, intelligent agent should be able to collaborate</a:t>
            </a:r>
          </a:p>
          <a:p>
            <a:pPr algn="just"/>
            <a:r>
              <a:rPr lang="en-US" i="1" dirty="0">
                <a:latin typeface="Times New Roman" panose="02020603050405020304" pitchFamily="18" charset="0"/>
                <a:cs typeface="Times New Roman" panose="02020603050405020304" pitchFamily="18" charset="0"/>
              </a:rPr>
              <a:t>Generally, at each time instant an agent must choose among the set of all the possible actions the best action to perform according to the information obtained from the environment. The sequence of actions should accomplish the task.</a:t>
            </a:r>
            <a:endParaRPr lang="it-IT"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4596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4AE23-2A56-14AE-91AD-7DDBA2B91724}"/>
            </a:ext>
          </a:extLst>
        </p:cNvPr>
        <p:cNvGrpSpPr/>
        <p:nvPr/>
      </p:nvGrpSpPr>
      <p:grpSpPr>
        <a:xfrm>
          <a:off x="0" y="0"/>
          <a:ext cx="0" cy="0"/>
          <a:chOff x="0" y="0"/>
          <a:chExt cx="0" cy="0"/>
        </a:xfrm>
      </p:grpSpPr>
      <p:sp>
        <p:nvSpPr>
          <p:cNvPr id="10" name="Connettore 9">
            <a:extLst>
              <a:ext uri="{FF2B5EF4-FFF2-40B4-BE49-F238E27FC236}">
                <a16:creationId xmlns:a16="http://schemas.microsoft.com/office/drawing/2014/main" id="{24EE0DA5-0FAC-EAB8-C8DD-DCDA4FD7C13B}"/>
              </a:ext>
            </a:extLst>
          </p:cNvPr>
          <p:cNvSpPr/>
          <p:nvPr/>
        </p:nvSpPr>
        <p:spPr>
          <a:xfrm>
            <a:off x="-3379729" y="1302486"/>
            <a:ext cx="8957214" cy="7230804"/>
          </a:xfrm>
          <a:prstGeom prst="flowChartConnector">
            <a:avLst/>
          </a:prstGeom>
          <a:solidFill>
            <a:schemeClr val="bg1"/>
          </a:solidFill>
          <a:ln>
            <a:solidFill>
              <a:schemeClr val="accent1">
                <a:lumMod val="50000"/>
              </a:schemeClr>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Rettangolo 1">
            <a:extLst>
              <a:ext uri="{FF2B5EF4-FFF2-40B4-BE49-F238E27FC236}">
                <a16:creationId xmlns:a16="http://schemas.microsoft.com/office/drawing/2014/main" id="{060008AE-5337-968F-EEC7-1846EFB96E84}"/>
              </a:ext>
            </a:extLst>
          </p:cNvPr>
          <p:cNvSpPr/>
          <p:nvPr/>
        </p:nvSpPr>
        <p:spPr>
          <a:xfrm>
            <a:off x="300243" y="859754"/>
            <a:ext cx="1153391" cy="197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9D367E40-AF42-76CE-24AB-9B38BCE92FB3}"/>
              </a:ext>
            </a:extLst>
          </p:cNvPr>
          <p:cNvSpPr txBox="1"/>
          <p:nvPr/>
        </p:nvSpPr>
        <p:spPr>
          <a:xfrm>
            <a:off x="203783" y="151868"/>
            <a:ext cx="5415265" cy="707886"/>
          </a:xfrm>
          <a:prstGeom prst="rect">
            <a:avLst/>
          </a:prstGeom>
          <a:noFill/>
        </p:spPr>
        <p:txBody>
          <a:bodyPr wrap="none" rtlCol="0">
            <a:spAutoFit/>
          </a:bodyPr>
          <a:lstStyle/>
          <a:p>
            <a:r>
              <a:rPr lang="it-IT" sz="4000" b="1" i="1" dirty="0" err="1">
                <a:latin typeface="Times New Roman" panose="02020603050405020304" pitchFamily="18" charset="0"/>
                <a:cs typeface="Times New Roman" panose="02020603050405020304" pitchFamily="18" charset="0"/>
              </a:rPr>
              <a:t>Reinforcement</a:t>
            </a:r>
            <a:r>
              <a:rPr lang="it-IT" sz="4000" b="1" i="1" dirty="0">
                <a:latin typeface="Times New Roman" panose="02020603050405020304" pitchFamily="18" charset="0"/>
                <a:cs typeface="Times New Roman" panose="02020603050405020304" pitchFamily="18" charset="0"/>
              </a:rPr>
              <a:t> Learning</a:t>
            </a:r>
          </a:p>
        </p:txBody>
      </p:sp>
      <p:sp>
        <p:nvSpPr>
          <p:cNvPr id="4" name="CasellaDiTesto 3">
            <a:extLst>
              <a:ext uri="{FF2B5EF4-FFF2-40B4-BE49-F238E27FC236}">
                <a16:creationId xmlns:a16="http://schemas.microsoft.com/office/drawing/2014/main" id="{DE20DDF6-A006-2CD1-6D62-0F166DA78E35}"/>
              </a:ext>
            </a:extLst>
          </p:cNvPr>
          <p:cNvSpPr txBox="1"/>
          <p:nvPr/>
        </p:nvSpPr>
        <p:spPr>
          <a:xfrm>
            <a:off x="5712567" y="1764360"/>
            <a:ext cx="5847098" cy="646331"/>
          </a:xfrm>
          <a:prstGeom prst="rect">
            <a:avLst/>
          </a:prstGeom>
          <a:noFill/>
        </p:spPr>
        <p:txBody>
          <a:bodyPr wrap="square" rtlCol="0">
            <a:spAutoFit/>
          </a:bodyPr>
          <a:lstStyle/>
          <a:p>
            <a:pPr algn="just"/>
            <a:r>
              <a:rPr lang="en-GB" i="1" dirty="0">
                <a:latin typeface="Times New Roman" panose="02020603050405020304" pitchFamily="18" charset="0"/>
                <a:cs typeface="Times New Roman" panose="02020603050405020304" pitchFamily="18" charset="0"/>
              </a:rPr>
              <a:t>Reinforcement learning is based on a continuous interaction with the external environment:</a:t>
            </a:r>
            <a:endParaRPr lang="it-IT" i="1" dirty="0">
              <a:latin typeface="Times New Roman" panose="02020603050405020304" pitchFamily="18" charset="0"/>
              <a:cs typeface="Times New Roman" panose="02020603050405020304" pitchFamily="18" charset="0"/>
            </a:endParaRPr>
          </a:p>
        </p:txBody>
      </p:sp>
      <p:pic>
        <p:nvPicPr>
          <p:cNvPr id="5" name="Immagine 4" descr="Immagine che contiene testo, diagramma, linea, schermata&#10;&#10;Il contenuto generato dall'IA potrebbe non essere corretto.">
            <a:extLst>
              <a:ext uri="{FF2B5EF4-FFF2-40B4-BE49-F238E27FC236}">
                <a16:creationId xmlns:a16="http://schemas.microsoft.com/office/drawing/2014/main" id="{ADFCEBE4-DFA8-4823-43D0-2F244742E4F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0243" y="2841793"/>
            <a:ext cx="4302930" cy="3426616"/>
          </a:xfrm>
          <a:prstGeom prst="rect">
            <a:avLst/>
          </a:prstGeom>
          <a:noFill/>
          <a:ln>
            <a:noFill/>
          </a:ln>
        </p:spPr>
      </p:pic>
      <p:sp>
        <p:nvSpPr>
          <p:cNvPr id="7" name="CasellaDiTesto 6">
            <a:extLst>
              <a:ext uri="{FF2B5EF4-FFF2-40B4-BE49-F238E27FC236}">
                <a16:creationId xmlns:a16="http://schemas.microsoft.com/office/drawing/2014/main" id="{CD8C3FA3-613E-63ED-7B3E-DDDFEF73C19A}"/>
              </a:ext>
            </a:extLst>
          </p:cNvPr>
          <p:cNvSpPr txBox="1"/>
          <p:nvPr/>
        </p:nvSpPr>
        <p:spPr>
          <a:xfrm>
            <a:off x="5712567" y="2410691"/>
            <a:ext cx="5847098" cy="3673442"/>
          </a:xfrm>
          <a:prstGeom prst="rect">
            <a:avLst/>
          </a:prstGeom>
          <a:noFill/>
        </p:spPr>
        <p:txBody>
          <a:bodyPr wrap="square">
            <a:spAutoFit/>
          </a:bodyPr>
          <a:lstStyle/>
          <a:p>
            <a:pPr algn="just">
              <a:lnSpc>
                <a:spcPct val="115000"/>
              </a:lnSpc>
              <a:spcAft>
                <a:spcPts val="800"/>
              </a:spcAft>
              <a:buNone/>
            </a:pPr>
            <a:r>
              <a:rPr lang="en-GB" sz="1800" i="1" kern="100" dirty="0">
                <a:effectLst/>
                <a:latin typeface="Times New Roman" panose="02020603050405020304" pitchFamily="18" charset="0"/>
                <a:ea typeface="Aptos" panose="020B0004020202020204" pitchFamily="34" charset="0"/>
                <a:cs typeface="Times New Roman" panose="02020603050405020304" pitchFamily="18" charset="0"/>
              </a:rPr>
              <a:t>Where:</a:t>
            </a:r>
            <a:endParaRPr lang="it-IT" sz="1800" i="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1800" b="1" i="1" kern="100" dirty="0">
                <a:effectLst/>
                <a:latin typeface="Times New Roman" panose="02020603050405020304" pitchFamily="18" charset="0"/>
                <a:ea typeface="Aptos" panose="020B0004020202020204" pitchFamily="34" charset="0"/>
                <a:cs typeface="Times New Roman" panose="02020603050405020304" pitchFamily="18" charset="0"/>
              </a:rPr>
              <a:t>S</a:t>
            </a:r>
            <a:r>
              <a:rPr lang="en-GB" sz="1800" i="1" kern="100" dirty="0">
                <a:effectLst/>
                <a:latin typeface="Times New Roman" panose="02020603050405020304" pitchFamily="18" charset="0"/>
                <a:ea typeface="Aptos" panose="020B0004020202020204" pitchFamily="34" charset="0"/>
                <a:cs typeface="Times New Roman" panose="02020603050405020304" pitchFamily="18" charset="0"/>
              </a:rPr>
              <a:t> represents the observation of the environment performed at each time. It is the measurable data that the agent can observe.</a:t>
            </a:r>
            <a:endParaRPr lang="it-IT" sz="1800" i="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GB" sz="1800" b="1" i="1" kern="100" dirty="0">
                <a:effectLst/>
                <a:latin typeface="Times New Roman" panose="02020603050405020304" pitchFamily="18" charset="0"/>
                <a:ea typeface="Aptos" panose="020B0004020202020204" pitchFamily="34" charset="0"/>
                <a:cs typeface="Times New Roman" panose="02020603050405020304" pitchFamily="18" charset="0"/>
              </a:rPr>
              <a:t>R</a:t>
            </a:r>
            <a:r>
              <a:rPr lang="en-GB" sz="1800" i="1" kern="100" dirty="0">
                <a:effectLst/>
                <a:latin typeface="Times New Roman" panose="02020603050405020304" pitchFamily="18" charset="0"/>
                <a:ea typeface="Aptos" panose="020B0004020202020204" pitchFamily="34" charset="0"/>
                <a:cs typeface="Times New Roman" panose="02020603050405020304" pitchFamily="18" charset="0"/>
              </a:rPr>
              <a:t> is the reward, a scalar value sent from the environment to the agent.</a:t>
            </a:r>
            <a:endParaRPr lang="it-IT" sz="1800" i="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Symbol" panose="05050102010706020507" pitchFamily="18" charset="2"/>
              <a:buChar char=""/>
            </a:pPr>
            <a:r>
              <a:rPr lang="en-GB" sz="1800" b="1" i="1" kern="100" dirty="0">
                <a:effectLst/>
                <a:latin typeface="Times New Roman" panose="02020603050405020304" pitchFamily="18" charset="0"/>
                <a:ea typeface="Aptos" panose="020B0004020202020204" pitchFamily="34" charset="0"/>
                <a:cs typeface="Times New Roman" panose="02020603050405020304" pitchFamily="18" charset="0"/>
              </a:rPr>
              <a:t>A</a:t>
            </a:r>
            <a:r>
              <a:rPr lang="en-GB" sz="1800" i="1" kern="100" dirty="0">
                <a:effectLst/>
                <a:latin typeface="Times New Roman" panose="02020603050405020304" pitchFamily="18" charset="0"/>
                <a:ea typeface="Aptos" panose="020B0004020202020204" pitchFamily="34" charset="0"/>
                <a:cs typeface="Times New Roman" panose="02020603050405020304" pitchFamily="18" charset="0"/>
              </a:rPr>
              <a:t> is the action actuated at each time from the agent. The action can modify the state of the environment which generates as a consequence a new state and the corresponding reward that can be seen as an indicator of how good was the action performed.</a:t>
            </a:r>
            <a:endParaRPr lang="it-IT" sz="1800" i="1"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09876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75610-B6DA-3283-01C3-F4A1C2B2419A}"/>
            </a:ext>
          </a:extLst>
        </p:cNvPr>
        <p:cNvGrpSpPr/>
        <p:nvPr/>
      </p:nvGrpSpPr>
      <p:grpSpPr>
        <a:xfrm>
          <a:off x="0" y="0"/>
          <a:ext cx="0" cy="0"/>
          <a:chOff x="0" y="0"/>
          <a:chExt cx="0" cy="0"/>
        </a:xfrm>
      </p:grpSpPr>
      <p:sp>
        <p:nvSpPr>
          <p:cNvPr id="10" name="Connettore 9">
            <a:extLst>
              <a:ext uri="{FF2B5EF4-FFF2-40B4-BE49-F238E27FC236}">
                <a16:creationId xmlns:a16="http://schemas.microsoft.com/office/drawing/2014/main" id="{0CC56FA6-B0B5-655B-EDEE-BF26E583C1F0}"/>
              </a:ext>
            </a:extLst>
          </p:cNvPr>
          <p:cNvSpPr/>
          <p:nvPr/>
        </p:nvSpPr>
        <p:spPr>
          <a:xfrm>
            <a:off x="-3379729" y="1302486"/>
            <a:ext cx="8957214" cy="7230804"/>
          </a:xfrm>
          <a:prstGeom prst="flowChartConnector">
            <a:avLst/>
          </a:prstGeom>
          <a:solidFill>
            <a:schemeClr val="bg1"/>
          </a:solidFill>
          <a:ln>
            <a:solidFill>
              <a:schemeClr val="accent1">
                <a:lumMod val="50000"/>
              </a:schemeClr>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Rettangolo 1">
            <a:extLst>
              <a:ext uri="{FF2B5EF4-FFF2-40B4-BE49-F238E27FC236}">
                <a16:creationId xmlns:a16="http://schemas.microsoft.com/office/drawing/2014/main" id="{51EBE0C9-F04D-4EFD-1F06-F3DBCEA27DBC}"/>
              </a:ext>
            </a:extLst>
          </p:cNvPr>
          <p:cNvSpPr/>
          <p:nvPr/>
        </p:nvSpPr>
        <p:spPr>
          <a:xfrm>
            <a:off x="300243" y="859754"/>
            <a:ext cx="1153391" cy="197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1E034676-954C-6519-C417-92A5C045D164}"/>
              </a:ext>
            </a:extLst>
          </p:cNvPr>
          <p:cNvSpPr txBox="1"/>
          <p:nvPr/>
        </p:nvSpPr>
        <p:spPr>
          <a:xfrm>
            <a:off x="203783" y="151868"/>
            <a:ext cx="5415265" cy="707886"/>
          </a:xfrm>
          <a:prstGeom prst="rect">
            <a:avLst/>
          </a:prstGeom>
          <a:noFill/>
        </p:spPr>
        <p:txBody>
          <a:bodyPr wrap="none" rtlCol="0">
            <a:spAutoFit/>
          </a:bodyPr>
          <a:lstStyle/>
          <a:p>
            <a:r>
              <a:rPr lang="it-IT" sz="4000" b="1" i="1" dirty="0" err="1">
                <a:latin typeface="Times New Roman" panose="02020603050405020304" pitchFamily="18" charset="0"/>
                <a:cs typeface="Times New Roman" panose="02020603050405020304" pitchFamily="18" charset="0"/>
              </a:rPr>
              <a:t>Reinforcement</a:t>
            </a:r>
            <a:r>
              <a:rPr lang="it-IT" sz="4000" b="1" i="1" dirty="0">
                <a:latin typeface="Times New Roman" panose="02020603050405020304" pitchFamily="18" charset="0"/>
                <a:cs typeface="Times New Roman" panose="02020603050405020304" pitchFamily="18" charset="0"/>
              </a:rPr>
              <a:t> Learning</a:t>
            </a:r>
          </a:p>
        </p:txBody>
      </p:sp>
      <p:pic>
        <p:nvPicPr>
          <p:cNvPr id="5" name="Immagine 4" descr="Immagine che contiene testo, diagramma, linea, schermata&#10;&#10;Il contenuto generato dall'IA potrebbe non essere corretto.">
            <a:extLst>
              <a:ext uri="{FF2B5EF4-FFF2-40B4-BE49-F238E27FC236}">
                <a16:creationId xmlns:a16="http://schemas.microsoft.com/office/drawing/2014/main" id="{17EBECC3-5C5C-D369-953D-50A1BE69D97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0243" y="2841793"/>
            <a:ext cx="4302930" cy="3426616"/>
          </a:xfrm>
          <a:prstGeom prst="rect">
            <a:avLst/>
          </a:prstGeom>
          <a:noFill/>
          <a:ln>
            <a:noFill/>
          </a:ln>
        </p:spPr>
      </p:pic>
      <p:cxnSp>
        <p:nvCxnSpPr>
          <p:cNvPr id="8" name="Straight Connector 20">
            <a:extLst>
              <a:ext uri="{FF2B5EF4-FFF2-40B4-BE49-F238E27FC236}">
                <a16:creationId xmlns:a16="http://schemas.microsoft.com/office/drawing/2014/main" id="{AAD7DF4B-C109-92D8-8151-BE35E9C10FE3}"/>
              </a:ext>
            </a:extLst>
          </p:cNvPr>
          <p:cNvCxnSpPr>
            <a:cxnSpLocks/>
          </p:cNvCxnSpPr>
          <p:nvPr/>
        </p:nvCxnSpPr>
        <p:spPr>
          <a:xfrm flipV="1">
            <a:off x="1846239" y="801904"/>
            <a:ext cx="5065369" cy="2150735"/>
          </a:xfrm>
          <a:prstGeom prst="line">
            <a:avLst/>
          </a:prstGeom>
          <a:ln w="28575">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9" name="Straight Connector 28">
            <a:extLst>
              <a:ext uri="{FF2B5EF4-FFF2-40B4-BE49-F238E27FC236}">
                <a16:creationId xmlns:a16="http://schemas.microsoft.com/office/drawing/2014/main" id="{5E50337B-922F-C2F2-E33F-E97AD5416362}"/>
              </a:ext>
            </a:extLst>
          </p:cNvPr>
          <p:cNvCxnSpPr>
            <a:cxnSpLocks/>
          </p:cNvCxnSpPr>
          <p:nvPr/>
        </p:nvCxnSpPr>
        <p:spPr>
          <a:xfrm flipV="1">
            <a:off x="3498590" y="3429000"/>
            <a:ext cx="3413018" cy="1467534"/>
          </a:xfrm>
          <a:prstGeom prst="line">
            <a:avLst/>
          </a:prstGeom>
          <a:ln w="28575">
            <a:solidFill>
              <a:schemeClr val="accent1"/>
            </a:solidFill>
          </a:ln>
        </p:spPr>
        <p:style>
          <a:lnRef idx="1">
            <a:schemeClr val="accent2"/>
          </a:lnRef>
          <a:fillRef idx="0">
            <a:schemeClr val="accent2"/>
          </a:fillRef>
          <a:effectRef idx="0">
            <a:schemeClr val="accent2"/>
          </a:effectRef>
          <a:fontRef idx="minor">
            <a:schemeClr val="tx1"/>
          </a:fontRef>
        </p:style>
      </p:cxnSp>
      <p:sp>
        <p:nvSpPr>
          <p:cNvPr id="12" name="Rettangolo 11">
            <a:extLst>
              <a:ext uri="{FF2B5EF4-FFF2-40B4-BE49-F238E27FC236}">
                <a16:creationId xmlns:a16="http://schemas.microsoft.com/office/drawing/2014/main" id="{792228EB-EB92-750A-4824-466FF2EAA311}"/>
              </a:ext>
            </a:extLst>
          </p:cNvPr>
          <p:cNvSpPr/>
          <p:nvPr/>
        </p:nvSpPr>
        <p:spPr>
          <a:xfrm>
            <a:off x="6911610" y="801904"/>
            <a:ext cx="2866237" cy="2627096"/>
          </a:xfrm>
          <a:prstGeom prst="rect">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21" name="Immagine 20" descr="Immagine che contiene testo, linea, Carattere, schermata&#10;&#10;Il contenuto generato dall'IA potrebbe non essere corretto.">
            <a:extLst>
              <a:ext uri="{FF2B5EF4-FFF2-40B4-BE49-F238E27FC236}">
                <a16:creationId xmlns:a16="http://schemas.microsoft.com/office/drawing/2014/main" id="{35FD05CB-4749-1D39-C4FC-FAA01F2810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9771" y="859754"/>
            <a:ext cx="2329913" cy="2497667"/>
          </a:xfrm>
          <a:prstGeom prst="rect">
            <a:avLst/>
          </a:prstGeom>
        </p:spPr>
      </p:pic>
      <p:sp>
        <p:nvSpPr>
          <p:cNvPr id="25" name="CasellaDiTesto 24">
            <a:extLst>
              <a:ext uri="{FF2B5EF4-FFF2-40B4-BE49-F238E27FC236}">
                <a16:creationId xmlns:a16="http://schemas.microsoft.com/office/drawing/2014/main" id="{44F3877D-0C0C-3A68-13B6-BE90DA4E4657}"/>
              </a:ext>
            </a:extLst>
          </p:cNvPr>
          <p:cNvSpPr txBox="1"/>
          <p:nvPr/>
        </p:nvSpPr>
        <p:spPr>
          <a:xfrm>
            <a:off x="5942362" y="3833782"/>
            <a:ext cx="5666940" cy="3457485"/>
          </a:xfrm>
          <a:prstGeom prst="rect">
            <a:avLst/>
          </a:prstGeom>
          <a:noFill/>
        </p:spPr>
        <p:txBody>
          <a:bodyPr wrap="square">
            <a:spAutoFit/>
          </a:bodyPr>
          <a:lstStyle/>
          <a:p>
            <a:pPr algn="just">
              <a:lnSpc>
                <a:spcPct val="115000"/>
              </a:lnSpc>
              <a:spcAft>
                <a:spcPts val="800"/>
              </a:spcAft>
              <a:buNone/>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An agent can be defined by the relationship between two entities:</a:t>
            </a:r>
            <a:endParaRPr lang="it-IT"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15000"/>
              </a:lnSpc>
              <a:buFont typeface="+mj-lt"/>
              <a:buAutoNum type="arabicPeriod"/>
            </a:pPr>
            <a:r>
              <a:rPr lang="en-GB" sz="1800" b="1" i="1" kern="100" dirty="0">
                <a:effectLst/>
                <a:latin typeface="Times New Roman" panose="02020603050405020304" pitchFamily="18" charset="0"/>
                <a:ea typeface="Aptos" panose="020B0004020202020204" pitchFamily="34" charset="0"/>
                <a:cs typeface="Times New Roman" panose="02020603050405020304" pitchFamily="18" charset="0"/>
              </a:rPr>
              <a:t>Policy: </a:t>
            </a: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it is a mapping from the space of the observations to the space of the actions. The policy associates an action to the observation.</a:t>
            </a:r>
            <a:endParaRPr lang="it-IT"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pPr>
            <a:r>
              <a:rPr lang="en-GB" sz="1800" b="1" i="1" kern="100" dirty="0">
                <a:effectLst/>
                <a:latin typeface="Times New Roman" panose="02020603050405020304" pitchFamily="18" charset="0"/>
                <a:ea typeface="Aptos" panose="020B0004020202020204" pitchFamily="34" charset="0"/>
                <a:cs typeface="Times New Roman" panose="02020603050405020304" pitchFamily="18" charset="0"/>
              </a:rPr>
              <a:t>Algorithm: </a:t>
            </a: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it can be seen as the ‘brain’ of the agent since based on the experience obtained from the data acquisition it updates the policy, so the behaviour of the agent. </a:t>
            </a:r>
            <a:endParaRPr lang="it-IT"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15000"/>
              </a:lnSpc>
              <a:spcAft>
                <a:spcPts val="800"/>
              </a:spcAft>
              <a:buNone/>
            </a:pPr>
            <a:r>
              <a:rPr lang="en-GB"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it-IT"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85822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93EC-06F0-D98F-37EF-92DD7F7772EB}"/>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4BA88215-9D2B-1C03-3147-3FDB38B665A3}"/>
              </a:ext>
            </a:extLst>
          </p:cNvPr>
          <p:cNvSpPr/>
          <p:nvPr/>
        </p:nvSpPr>
        <p:spPr>
          <a:xfrm>
            <a:off x="300243" y="859754"/>
            <a:ext cx="1153391" cy="197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95B0AE2F-1D69-39EE-CD39-EB36CAAA6A53}"/>
              </a:ext>
            </a:extLst>
          </p:cNvPr>
          <p:cNvSpPr txBox="1"/>
          <p:nvPr/>
        </p:nvSpPr>
        <p:spPr>
          <a:xfrm>
            <a:off x="203783" y="151868"/>
            <a:ext cx="5415265" cy="707886"/>
          </a:xfrm>
          <a:prstGeom prst="rect">
            <a:avLst/>
          </a:prstGeom>
          <a:noFill/>
        </p:spPr>
        <p:txBody>
          <a:bodyPr wrap="none" rtlCol="0">
            <a:spAutoFit/>
          </a:bodyPr>
          <a:lstStyle/>
          <a:p>
            <a:r>
              <a:rPr lang="it-IT" sz="4000" b="1" i="1" dirty="0" err="1">
                <a:latin typeface="Times New Roman" panose="02020603050405020304" pitchFamily="18" charset="0"/>
                <a:cs typeface="Times New Roman" panose="02020603050405020304" pitchFamily="18" charset="0"/>
              </a:rPr>
              <a:t>Reinforcement</a:t>
            </a:r>
            <a:r>
              <a:rPr lang="it-IT" sz="4000" b="1" i="1" dirty="0">
                <a:latin typeface="Times New Roman" panose="02020603050405020304" pitchFamily="18" charset="0"/>
                <a:cs typeface="Times New Roman" panose="02020603050405020304" pitchFamily="18" charset="0"/>
              </a:rPr>
              <a:t> Learning</a:t>
            </a:r>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80CDE17F-2D39-A78F-9996-20BCBDE3D410}"/>
                  </a:ext>
                </a:extLst>
              </p:cNvPr>
              <p:cNvSpPr txBox="1"/>
              <p:nvPr/>
            </p:nvSpPr>
            <p:spPr>
              <a:xfrm>
                <a:off x="388620" y="1451610"/>
                <a:ext cx="11258550" cy="5133328"/>
              </a:xfrm>
              <a:prstGeom prst="rect">
                <a:avLst/>
              </a:prstGeom>
              <a:noFill/>
            </p:spPr>
            <p:txBody>
              <a:bodyPr wrap="square" rtlCol="0">
                <a:spAutoFit/>
              </a:bodyPr>
              <a:lstStyle/>
              <a:p>
                <a:r>
                  <a:rPr lang="it-IT" i="1" dirty="0">
                    <a:latin typeface="Times New Roman" panose="02020603050405020304" pitchFamily="18" charset="0"/>
                    <a:cs typeface="Times New Roman" panose="02020603050405020304" pitchFamily="18" charset="0"/>
                  </a:rPr>
                  <a:t>The </a:t>
                </a:r>
                <a:r>
                  <a:rPr lang="it-IT" i="1" dirty="0" err="1">
                    <a:latin typeface="Times New Roman" panose="02020603050405020304" pitchFamily="18" charset="0"/>
                    <a:cs typeface="Times New Roman" panose="02020603050405020304" pitchFamily="18" charset="0"/>
                  </a:rPr>
                  <a:t>aim</a:t>
                </a:r>
                <a:r>
                  <a:rPr lang="it-IT" i="1" dirty="0">
                    <a:latin typeface="Times New Roman" panose="02020603050405020304" pitchFamily="18" charset="0"/>
                    <a:cs typeface="Times New Roman" panose="02020603050405020304" pitchFamily="18" charset="0"/>
                  </a:rPr>
                  <a:t> of a </a:t>
                </a:r>
                <a:r>
                  <a:rPr lang="it-IT" i="1" dirty="0" err="1">
                    <a:latin typeface="Times New Roman" panose="02020603050405020304" pitchFamily="18" charset="0"/>
                    <a:cs typeface="Times New Roman" panose="02020603050405020304" pitchFamily="18" charset="0"/>
                  </a:rPr>
                  <a:t>reinforcement</a:t>
                </a:r>
                <a:r>
                  <a:rPr lang="it-IT" i="1" dirty="0">
                    <a:latin typeface="Times New Roman" panose="02020603050405020304" pitchFamily="18" charset="0"/>
                    <a:cs typeface="Times New Roman" panose="02020603050405020304" pitchFamily="18" charset="0"/>
                  </a:rPr>
                  <a:t> learning </a:t>
                </a:r>
                <a:r>
                  <a:rPr lang="it-IT" i="1" dirty="0" err="1">
                    <a:latin typeface="Times New Roman" panose="02020603050405020304" pitchFamily="18" charset="0"/>
                    <a:cs typeface="Times New Roman" panose="02020603050405020304" pitchFamily="18" charset="0"/>
                  </a:rPr>
                  <a:t>algorithm</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maximize</a:t>
                </a:r>
                <a:r>
                  <a:rPr lang="it-IT" i="1" dirty="0">
                    <a:latin typeface="Times New Roman" panose="02020603050405020304" pitchFamily="18" charset="0"/>
                    <a:cs typeface="Times New Roman" panose="02020603050405020304" pitchFamily="18" charset="0"/>
                  </a:rPr>
                  <a:t> a </a:t>
                </a:r>
                <a:r>
                  <a:rPr lang="it-IT" i="1" dirty="0" err="1">
                    <a:latin typeface="Times New Roman" panose="02020603050405020304" pitchFamily="18" charset="0"/>
                    <a:cs typeface="Times New Roman" panose="02020603050405020304" pitchFamily="18" charset="0"/>
                  </a:rPr>
                  <a:t>particular</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of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named</a:t>
                </a:r>
                <a:r>
                  <a:rPr lang="it-IT"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discounted</a:t>
                </a:r>
                <a:r>
                  <a:rPr lang="it-IT" b="1"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return</a:t>
                </a:r>
                <a:r>
                  <a:rPr lang="it-IT" b="1"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function</a:t>
                </a:r>
                <a:r>
                  <a:rPr lang="it-IT" b="1" i="1" dirty="0">
                    <a:latin typeface="Times New Roman" panose="02020603050405020304" pitchFamily="18" charset="0"/>
                    <a:cs typeface="Times New Roman" panose="02020603050405020304" pitchFamily="18" charset="0"/>
                  </a:rPr>
                  <a:t>:</a:t>
                </a:r>
              </a:p>
              <a:p>
                <a:pPr algn="ctr"/>
                <a14:m>
                  <m:oMath xmlns:m="http://schemas.openxmlformats.org/officeDocument/2006/math">
                    <m:sSub>
                      <m:sSubPr>
                        <m:ctrlPr>
                          <a:rPr lang="it-IT" b="1" i="1" smtClean="0">
                            <a:latin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cs typeface="Times New Roman" panose="02020603050405020304" pitchFamily="18" charset="0"/>
                          </a:rPr>
                          <m:t>𝑮</m:t>
                        </m:r>
                      </m:e>
                      <m:sub>
                        <m:r>
                          <a:rPr lang="it-IT" b="1" i="1" smtClean="0">
                            <a:latin typeface="Cambria Math" panose="02040503050406030204" pitchFamily="18" charset="0"/>
                            <a:cs typeface="Times New Roman" panose="02020603050405020304" pitchFamily="18" charset="0"/>
                          </a:rPr>
                          <m:t>𝒕</m:t>
                        </m:r>
                      </m:sub>
                    </m:sSub>
                    <m:r>
                      <a:rPr lang="it-IT" b="1" i="1" smtClean="0">
                        <a:latin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cs typeface="Times New Roman" panose="02020603050405020304" pitchFamily="18" charset="0"/>
                          </a:rPr>
                          <m:t>𝒕</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cs typeface="Times New Roman" panose="02020603050405020304" pitchFamily="18" charset="0"/>
                          </a:rPr>
                          <m:t>𝟏</m:t>
                        </m:r>
                      </m:sub>
                    </m:sSub>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𝜸</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cs typeface="Times New Roman" panose="02020603050405020304" pitchFamily="18" charset="0"/>
                          </a:rPr>
                          <m:t>𝒕</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cs typeface="Times New Roman" panose="02020603050405020304" pitchFamily="18" charset="0"/>
                          </a:rPr>
                          <m:t>𝟐</m:t>
                        </m:r>
                      </m:sub>
                    </m:sSub>
                    <m:r>
                      <a:rPr lang="it-IT" b="1" i="1" smtClean="0">
                        <a:latin typeface="Cambria Math" panose="02040503050406030204" pitchFamily="18" charset="0"/>
                        <a:cs typeface="Times New Roman" panose="02020603050405020304" pitchFamily="18" charset="0"/>
                      </a:rPr>
                      <m:t>+</m:t>
                    </m:r>
                    <m:sSup>
                      <m:sSupPr>
                        <m:ctrlPr>
                          <a:rPr lang="it-IT" b="1" i="1" smtClean="0">
                            <a:latin typeface="Cambria Math" panose="02040503050406030204" pitchFamily="18" charset="0"/>
                            <a:cs typeface="Times New Roman" panose="02020603050405020304" pitchFamily="18" charset="0"/>
                          </a:rPr>
                        </m:ctrlPr>
                      </m:sSupPr>
                      <m:e>
                        <m:r>
                          <a:rPr lang="it-IT" b="1" i="1" smtClean="0">
                            <a:latin typeface="Cambria Math" panose="02040503050406030204" pitchFamily="18" charset="0"/>
                            <a:ea typeface="Cambria Math" panose="02040503050406030204" pitchFamily="18" charset="0"/>
                            <a:cs typeface="Times New Roman" panose="02020603050405020304" pitchFamily="18" charset="0"/>
                          </a:rPr>
                          <m:t>𝜸</m:t>
                        </m:r>
                      </m:e>
                      <m:sup>
                        <m:r>
                          <a:rPr lang="it-IT" b="1" i="1" smtClean="0">
                            <a:latin typeface="Cambria Math" panose="02040503050406030204" pitchFamily="18" charset="0"/>
                            <a:cs typeface="Times New Roman" panose="02020603050405020304" pitchFamily="18" charset="0"/>
                          </a:rPr>
                          <m:t>𝟐</m:t>
                        </m:r>
                      </m:sup>
                    </m:sSup>
                    <m:sSub>
                      <m:sSubPr>
                        <m:ctrlPr>
                          <a:rPr lang="it-IT" b="1" i="1" smtClean="0">
                            <a:latin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cs typeface="Times New Roman" panose="02020603050405020304" pitchFamily="18" charset="0"/>
                          </a:rPr>
                          <m:t>𝒕</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cs typeface="Times New Roman" panose="02020603050405020304" pitchFamily="18" charset="0"/>
                          </a:rPr>
                          <m:t>𝟑</m:t>
                        </m:r>
                      </m:sub>
                    </m:sSub>
                    <m:r>
                      <a:rPr lang="it-IT" b="1" i="1" smtClean="0">
                        <a:latin typeface="Cambria Math" panose="02040503050406030204" pitchFamily="18" charset="0"/>
                        <a:cs typeface="Times New Roman" panose="02020603050405020304" pitchFamily="18" charset="0"/>
                      </a:rPr>
                      <m:t>+. . .=</m:t>
                    </m:r>
                    <m:nary>
                      <m:naryPr>
                        <m:chr m:val="∑"/>
                        <m:ctrlPr>
                          <a:rPr lang="it-IT" b="1" i="1" smtClean="0">
                            <a:latin typeface="Cambria Math" panose="02040503050406030204" pitchFamily="18" charset="0"/>
                            <a:cs typeface="Times New Roman" panose="02020603050405020304" pitchFamily="18" charset="0"/>
                          </a:rPr>
                        </m:ctrlPr>
                      </m:naryPr>
                      <m:sub>
                        <m:r>
                          <m:rPr>
                            <m:brk m:alnAt="23"/>
                          </m:rPr>
                          <a:rPr lang="it-IT" b="1" i="1" smtClean="0">
                            <a:latin typeface="Cambria Math" panose="02040503050406030204" pitchFamily="18" charset="0"/>
                            <a:cs typeface="Times New Roman" panose="02020603050405020304" pitchFamily="18" charset="0"/>
                          </a:rPr>
                          <m:t>𝒌</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cs typeface="Times New Roman" panose="02020603050405020304" pitchFamily="18" charset="0"/>
                          </a:rPr>
                          <m:t>𝟎</m:t>
                        </m:r>
                      </m:sub>
                      <m:sup>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it-IT" b="1" i="1" smtClean="0">
                                <a:latin typeface="Cambria Math" panose="02040503050406030204" pitchFamily="18" charset="0"/>
                                <a:cs typeface="Times New Roman" panose="02020603050405020304" pitchFamily="18" charset="0"/>
                              </a:rPr>
                            </m:ctrlPr>
                          </m:sSupPr>
                          <m:e>
                            <m:r>
                              <a:rPr lang="it-IT" b="1" i="1" smtClean="0">
                                <a:latin typeface="Cambria Math" panose="02040503050406030204" pitchFamily="18" charset="0"/>
                                <a:ea typeface="Cambria Math" panose="02040503050406030204" pitchFamily="18" charset="0"/>
                                <a:cs typeface="Times New Roman" panose="02020603050405020304" pitchFamily="18" charset="0"/>
                              </a:rPr>
                              <m:t>𝜸</m:t>
                            </m:r>
                          </m:e>
                          <m:sup>
                            <m:r>
                              <a:rPr lang="it-IT" b="1" i="1" smtClean="0">
                                <a:latin typeface="Cambria Math" panose="02040503050406030204" pitchFamily="18" charset="0"/>
                                <a:cs typeface="Times New Roman" panose="02020603050405020304" pitchFamily="18" charset="0"/>
                              </a:rPr>
                              <m:t>𝒌</m:t>
                            </m:r>
                          </m:sup>
                        </m:sSup>
                      </m:e>
                    </m:nary>
                    <m:r>
                      <a:rPr lang="it-IT" b="1" i="1" smtClean="0">
                        <a:latin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cs typeface="Times New Roman" panose="02020603050405020304" pitchFamily="18" charset="0"/>
                          </a:rPr>
                          <m:t>𝒕</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cs typeface="Times New Roman" panose="02020603050405020304" pitchFamily="18" charset="0"/>
                          </a:rPr>
                          <m:t>𝒌</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cs typeface="Times New Roman" panose="02020603050405020304" pitchFamily="18" charset="0"/>
                          </a:rPr>
                          <m:t>𝟏</m:t>
                        </m:r>
                      </m:sub>
                    </m:sSub>
                    <m:r>
                      <a:rPr lang="it-IT" b="1" i="1" smtClean="0">
                        <a:latin typeface="Cambria Math" panose="02040503050406030204" pitchFamily="18" charset="0"/>
                        <a:cs typeface="Times New Roman" panose="02020603050405020304" pitchFamily="18" charset="0"/>
                      </a:rPr>
                      <m:t>             , </m:t>
                    </m:r>
                    <m:r>
                      <a:rPr lang="it-IT" b="1" i="1" smtClean="0">
                        <a:latin typeface="Cambria Math" panose="02040503050406030204" pitchFamily="18" charset="0"/>
                        <a:cs typeface="Times New Roman" panose="02020603050405020304" pitchFamily="18" charset="0"/>
                      </a:rPr>
                      <m:t>𝟎</m:t>
                    </m:r>
                    <m:r>
                      <a:rPr lang="it-IT" b="1" i="1" smtClean="0">
                        <a:latin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𝜸</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oMath>
                </a14:m>
                <a:r>
                  <a:rPr lang="it-IT" b="1" i="1" dirty="0">
                    <a:latin typeface="Times New Roman" panose="02020603050405020304" pitchFamily="18" charset="0"/>
                    <a:cs typeface="Times New Roman" panose="02020603050405020304" pitchFamily="18" charset="0"/>
                  </a:rPr>
                  <a:t> </a:t>
                </a:r>
              </a:p>
              <a:p>
                <a:pPr algn="ctr"/>
                <a:r>
                  <a:rPr lang="it-IT" b="1" i="1" dirty="0">
                    <a:latin typeface="Times New Roman" panose="02020603050405020304" pitchFamily="18" charset="0"/>
                    <a:cs typeface="Times New Roman" panose="02020603050405020304" pitchFamily="18" charset="0"/>
                  </a:rPr>
                  <a:t>   </a:t>
                </a:r>
              </a:p>
              <a:p>
                <a:pPr algn="just"/>
                <a:r>
                  <a:rPr lang="it-IT" i="1" dirty="0">
                    <a:latin typeface="Times New Roman" panose="02020603050405020304" pitchFamily="18" charset="0"/>
                    <a:cs typeface="Times New Roman" panose="02020603050405020304" pitchFamily="18" charset="0"/>
                  </a:rPr>
                  <a:t>Where </a:t>
                </a:r>
                <a14:m>
                  <m:oMath xmlns:m="http://schemas.openxmlformats.org/officeDocument/2006/math">
                    <m:r>
                      <a:rPr lang="it-IT" b="1" i="1" smtClean="0">
                        <a:latin typeface="Cambria Math" panose="02040503050406030204" pitchFamily="18" charset="0"/>
                        <a:ea typeface="Cambria Math" panose="02040503050406030204" pitchFamily="18" charset="0"/>
                        <a:cs typeface="Times New Roman" panose="02020603050405020304" pitchFamily="18" charset="0"/>
                      </a:rPr>
                      <m:t>𝜸</m:t>
                    </m:r>
                  </m:oMath>
                </a14:m>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a:t>
                </a:r>
                <a:r>
                  <a:rPr lang="it-IT" b="1" i="1" dirty="0">
                    <a:latin typeface="Times New Roman" panose="02020603050405020304" pitchFamily="18" charset="0"/>
                    <a:cs typeface="Times New Roman" panose="02020603050405020304" pitchFamily="18" charset="0"/>
                  </a:rPr>
                  <a:t>discount rate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Thus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during</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evolution</a:t>
                </a:r>
                <a:r>
                  <a:rPr lang="it-IT" i="1" dirty="0">
                    <a:latin typeface="Times New Roman" panose="02020603050405020304" pitchFamily="18" charset="0"/>
                    <a:cs typeface="Times New Roman" panose="02020603050405020304" pitchFamily="18" charset="0"/>
                  </a:rPr>
                  <a:t> the agent </a:t>
                </a:r>
                <a:r>
                  <a:rPr lang="it-IT" i="1" dirty="0" err="1">
                    <a:latin typeface="Times New Roman" panose="02020603050405020304" pitchFamily="18" charset="0"/>
                    <a:cs typeface="Times New Roman" panose="02020603050405020304" pitchFamily="18" charset="0"/>
                  </a:rPr>
                  <a:t>tries</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establish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which</a:t>
                </a:r>
                <a:r>
                  <a:rPr lang="it-IT" i="1" dirty="0">
                    <a:latin typeface="Times New Roman" panose="02020603050405020304" pitchFamily="18" charset="0"/>
                    <a:cs typeface="Times New Roman" panose="02020603050405020304" pitchFamily="18" charset="0"/>
                  </a:rPr>
                  <a:t> action can </a:t>
                </a:r>
                <a:r>
                  <a:rPr lang="it-IT" i="1" dirty="0" err="1">
                    <a:latin typeface="Times New Roman" panose="02020603050405020304" pitchFamily="18" charset="0"/>
                    <a:cs typeface="Times New Roman" panose="02020603050405020304" pitchFamily="18" charset="0"/>
                  </a:rPr>
                  <a:t>contribute</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obtain</a:t>
                </a:r>
                <a:r>
                  <a:rPr lang="it-IT" i="1" dirty="0">
                    <a:latin typeface="Times New Roman" panose="02020603050405020304" pitchFamily="18" charset="0"/>
                    <a:cs typeface="Times New Roman" panose="02020603050405020304" pitchFamily="18" charset="0"/>
                  </a:rPr>
                  <a:t> the maximum overall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following a long-</a:t>
                </a:r>
                <a:r>
                  <a:rPr lang="it-IT" i="1" dirty="0" err="1">
                    <a:latin typeface="Times New Roman" panose="02020603050405020304" pitchFamily="18" charset="0"/>
                    <a:cs typeface="Times New Roman" panose="02020603050405020304" pitchFamily="18" charset="0"/>
                  </a:rPr>
                  <a:t>term</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logic</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If</a:t>
                </a:r>
                <a:r>
                  <a:rPr lang="it-IT" i="1" dirty="0">
                    <a:latin typeface="Times New Roman" panose="02020603050405020304" pitchFamily="18" charset="0"/>
                    <a:cs typeface="Times New Roman" panose="02020603050405020304" pitchFamily="18" charset="0"/>
                  </a:rPr>
                  <a:t> </a:t>
                </a:r>
                <a14:m>
                  <m:oMath xmlns:m="http://schemas.openxmlformats.org/officeDocument/2006/math">
                    <m:r>
                      <a:rPr lang="it-IT" b="1" i="1" smtClean="0">
                        <a:latin typeface="Cambria Math" panose="02040503050406030204" pitchFamily="18" charset="0"/>
                        <a:ea typeface="Cambria Math" panose="02040503050406030204" pitchFamily="18" charset="0"/>
                        <a:cs typeface="Times New Roman" panose="02020603050405020304" pitchFamily="18" charset="0"/>
                      </a:rPr>
                      <m:t>𝜸</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𝟎</m:t>
                    </m:r>
                  </m:oMath>
                </a14:m>
                <a:r>
                  <a:rPr lang="it-IT" i="1" dirty="0">
                    <a:latin typeface="Times New Roman" panose="02020603050405020304" pitchFamily="18" charset="0"/>
                    <a:cs typeface="Times New Roman" panose="02020603050405020304" pitchFamily="18" charset="0"/>
                  </a:rPr>
                  <a:t> the agent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said</a:t>
                </a:r>
                <a:r>
                  <a:rPr lang="it-IT"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myopic</a:t>
                </a:r>
                <a:r>
                  <a:rPr lang="it-IT" i="1" dirty="0">
                    <a:latin typeface="Times New Roman" panose="02020603050405020304" pitchFamily="18" charset="0"/>
                    <a:cs typeface="Times New Roman" panose="02020603050405020304" pitchFamily="18" charset="0"/>
                  </a:rPr>
                  <a:t>, in the </a:t>
                </a:r>
                <a:r>
                  <a:rPr lang="it-IT" i="1" dirty="0" err="1">
                    <a:latin typeface="Times New Roman" panose="02020603050405020304" pitchFamily="18" charset="0"/>
                    <a:cs typeface="Times New Roman" panose="02020603050405020304" pitchFamily="18" charset="0"/>
                  </a:rPr>
                  <a:t>sense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efforts</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related</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acquire</a:t>
                </a:r>
                <a:r>
                  <a:rPr lang="it-IT" i="1" dirty="0">
                    <a:latin typeface="Times New Roman" panose="02020603050405020304" pitchFamily="18" charset="0"/>
                    <a:cs typeface="Times New Roman" panose="02020603050405020304" pitchFamily="18" charset="0"/>
                  </a:rPr>
                  <a:t> the maximum immediate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a:t>
                </a:r>
              </a:p>
              <a:p>
                <a:pPr algn="just"/>
                <a:r>
                  <a:rPr lang="it-IT" i="1" dirty="0" err="1">
                    <a:latin typeface="Times New Roman" panose="02020603050405020304" pitchFamily="18" charset="0"/>
                    <a:cs typeface="Times New Roman" panose="02020603050405020304" pitchFamily="18" charset="0"/>
                  </a:rPr>
                  <a:t>Another</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important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indicator</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represented</a:t>
                </a:r>
                <a:r>
                  <a:rPr lang="it-IT" i="1" dirty="0">
                    <a:latin typeface="Times New Roman" panose="02020603050405020304" pitchFamily="18" charset="0"/>
                    <a:cs typeface="Times New Roman" panose="02020603050405020304" pitchFamily="18" charset="0"/>
                  </a:rPr>
                  <a:t> by the </a:t>
                </a:r>
                <a:r>
                  <a:rPr lang="it-IT" b="1" i="1" dirty="0" err="1">
                    <a:latin typeface="Times New Roman" panose="02020603050405020304" pitchFamily="18" charset="0"/>
                    <a:cs typeface="Times New Roman" panose="02020603050405020304" pitchFamily="18" charset="0"/>
                  </a:rPr>
                  <a:t>value</a:t>
                </a:r>
                <a:r>
                  <a:rPr lang="it-IT" b="1"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function</a:t>
                </a:r>
                <a:r>
                  <a:rPr lang="it-IT" b="1" i="1" dirty="0">
                    <a:latin typeface="Times New Roman" panose="02020603050405020304" pitchFamily="18" charset="0"/>
                    <a:cs typeface="Times New Roman" panose="02020603050405020304" pitchFamily="18" charset="0"/>
                  </a:rPr>
                  <a:t> </a:t>
                </a:r>
                <a:r>
                  <a:rPr lang="it-IT" i="1" dirty="0">
                    <a:latin typeface="Times New Roman" panose="02020603050405020304" pitchFamily="18" charset="0"/>
                    <a:cs typeface="Times New Roman" panose="02020603050405020304" pitchFamily="18" charset="0"/>
                  </a:rPr>
                  <a:t>:</a:t>
                </a:r>
              </a:p>
              <a:p>
                <a:pPr algn="just"/>
                <a:endParaRPr lang="it-IT" b="1" i="1" dirty="0">
                  <a:latin typeface="Cambria Math" panose="02040503050406030204" pitchFamily="18" charset="0"/>
                  <a:ea typeface="Cambria Math" panose="02040503050406030204" pitchFamily="18" charset="0"/>
                  <a:cs typeface="Times New Roman" panose="02020603050405020304" pitchFamily="18" charset="0"/>
                </a:endParaRPr>
              </a:p>
              <a:p>
                <a:pPr algn="ctr"/>
                <a14:m>
                  <m:oMath xmlns:m="http://schemas.openxmlformats.org/officeDocument/2006/math">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𝐯</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𝛑</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𝐬</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𝐄</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𝛑</m:t>
                        </m:r>
                      </m:sub>
                    </m:sSub>
                    <m:d>
                      <m:dPr>
                        <m:begChr m:val="["/>
                        <m:endChr m:val="]"/>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𝐆</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e>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𝐒</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𝐬</m:t>
                        </m:r>
                      </m:e>
                    </m:d>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𝐄</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𝛑</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it-IT" b="1" i="0" smtClean="0">
                            <a:latin typeface="Cambria Math" panose="02040503050406030204" pitchFamily="18" charset="0"/>
                            <a:ea typeface="Cambria Math" panose="02040503050406030204" pitchFamily="18" charset="0"/>
                            <a:cs typeface="Times New Roman" panose="02020603050405020304" pitchFamily="18" charset="0"/>
                          </a:rPr>
                          <m:t>𝐤</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𝟎</m:t>
                        </m:r>
                      </m:sub>
                      <m:sup>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it-IT" b="1" i="0" smtClean="0">
                                <a:latin typeface="Cambria Math" panose="02040503050406030204" pitchFamily="18" charset="0"/>
                                <a:ea typeface="Cambria Math" panose="02040503050406030204" pitchFamily="18" charset="0"/>
                                <a:cs typeface="Times New Roman" panose="02020603050405020304" pitchFamily="18" charset="0"/>
                              </a:rPr>
                              <m:t>𝛄</m:t>
                            </m:r>
                          </m:e>
                          <m:sup>
                            <m:r>
                              <a:rPr lang="it-IT" b="1" i="0" smtClean="0">
                                <a:latin typeface="Cambria Math" panose="02040503050406030204" pitchFamily="18" charset="0"/>
                                <a:ea typeface="Cambria Math" panose="02040503050406030204" pitchFamily="18" charset="0"/>
                                <a:cs typeface="Times New Roman" panose="02020603050405020304" pitchFamily="18" charset="0"/>
                              </a:rPr>
                              <m:t>𝐤</m:t>
                            </m:r>
                          </m:sup>
                        </m:sSup>
                      </m:e>
                    </m:nary>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𝐑</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𝐤</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it-IT" b="1"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𝐒</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oMath>
                </a14:m>
                <a:r>
                  <a:rPr lang="it-IT" b="1" dirty="0">
                    <a:latin typeface="Cambria Math" panose="02040503050406030204" pitchFamily="18" charset="0"/>
                    <a:ea typeface="Cambria Math" panose="02040503050406030204" pitchFamily="18" charset="0"/>
                    <a:cs typeface="Times New Roman" panose="02020603050405020304" pitchFamily="18" charset="0"/>
                  </a:rPr>
                  <a:t>=s]</a:t>
                </a:r>
              </a:p>
              <a:p>
                <a:pPr algn="just"/>
                <a:r>
                  <a:rPr lang="it-IT" i="1" dirty="0">
                    <a:latin typeface="Times New Roman" panose="02020603050405020304" pitchFamily="18" charset="0"/>
                    <a:cs typeface="Times New Roman" panose="02020603050405020304" pitchFamily="18" charset="0"/>
                  </a:rPr>
                  <a:t>and the </a:t>
                </a:r>
                <a:r>
                  <a:rPr lang="it-IT" b="1" i="1" dirty="0">
                    <a:latin typeface="Times New Roman" panose="02020603050405020304" pitchFamily="18" charset="0"/>
                    <a:cs typeface="Times New Roman" panose="02020603050405020304" pitchFamily="18" charset="0"/>
                  </a:rPr>
                  <a:t>action-</a:t>
                </a:r>
                <a:r>
                  <a:rPr lang="it-IT" b="1" i="1" dirty="0" err="1">
                    <a:latin typeface="Times New Roman" panose="02020603050405020304" pitchFamily="18" charset="0"/>
                    <a:cs typeface="Times New Roman" panose="02020603050405020304" pitchFamily="18" charset="0"/>
                  </a:rPr>
                  <a:t>value</a:t>
                </a:r>
                <a:r>
                  <a:rPr lang="it-IT" b="1"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function</a:t>
                </a:r>
                <a:r>
                  <a:rPr lang="it-IT" b="1" i="1" dirty="0">
                    <a:latin typeface="Times New Roman" panose="02020603050405020304" pitchFamily="18" charset="0"/>
                    <a:cs typeface="Times New Roman" panose="02020603050405020304" pitchFamily="18" charset="0"/>
                  </a:rPr>
                  <a:t>:</a:t>
                </a:r>
              </a:p>
              <a:p>
                <a:pPr algn="just"/>
                <a:endParaRPr lang="it-IT" b="1" i="1" dirty="0">
                  <a:latin typeface="Times New Roman" panose="02020603050405020304" pitchFamily="18" charset="0"/>
                  <a:cs typeface="Times New Roman" panose="02020603050405020304" pitchFamily="18" charset="0"/>
                </a:endParaRPr>
              </a:p>
              <a:p>
                <a:pPr algn="ctr"/>
                <a14:m>
                  <m:oMath xmlns:m="http://schemas.openxmlformats.org/officeDocument/2006/math">
                    <m:r>
                      <a:rPr lang="it-IT" b="1" i="1" smtClean="0">
                        <a:latin typeface="Cambria Math" panose="02040503050406030204" pitchFamily="18" charset="0"/>
                        <a:ea typeface="Cambria Math" panose="02040503050406030204" pitchFamily="18" charset="0"/>
                        <a:cs typeface="Times New Roman" panose="02020603050405020304" pitchFamily="18" charset="0"/>
                      </a:rPr>
                      <m:t>𝒒</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𝐬</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𝐚</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𝐄</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𝛑</m:t>
                        </m:r>
                      </m:sub>
                    </m:sSub>
                    <m:d>
                      <m:dPr>
                        <m:begChr m:val="["/>
                        <m:endChr m:val="]"/>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𝐆</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e>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𝐒</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𝐬</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𝑨</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𝒂</m:t>
                        </m:r>
                      </m:e>
                    </m:d>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𝐄</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𝛑</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it-IT" b="1" i="0" smtClean="0">
                            <a:latin typeface="Cambria Math" panose="02040503050406030204" pitchFamily="18" charset="0"/>
                            <a:ea typeface="Cambria Math" panose="02040503050406030204" pitchFamily="18" charset="0"/>
                            <a:cs typeface="Times New Roman" panose="02020603050405020304" pitchFamily="18" charset="0"/>
                          </a:rPr>
                          <m:t>𝐤</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𝟎</m:t>
                        </m:r>
                      </m:sub>
                      <m:sup>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it-IT" b="1" i="0" smtClean="0">
                                <a:latin typeface="Cambria Math" panose="02040503050406030204" pitchFamily="18" charset="0"/>
                                <a:ea typeface="Cambria Math" panose="02040503050406030204" pitchFamily="18" charset="0"/>
                                <a:cs typeface="Times New Roman" panose="02020603050405020304" pitchFamily="18" charset="0"/>
                              </a:rPr>
                              <m:t>𝛄</m:t>
                            </m:r>
                          </m:e>
                          <m:sup>
                            <m:r>
                              <a:rPr lang="it-IT" b="1" i="0" smtClean="0">
                                <a:latin typeface="Cambria Math" panose="02040503050406030204" pitchFamily="18" charset="0"/>
                                <a:ea typeface="Cambria Math" panose="02040503050406030204" pitchFamily="18" charset="0"/>
                                <a:cs typeface="Times New Roman" panose="02020603050405020304" pitchFamily="18" charset="0"/>
                              </a:rPr>
                              <m:t>𝐤</m:t>
                            </m:r>
                          </m:sup>
                        </m:sSup>
                      </m:e>
                    </m:nary>
                    <m:r>
                      <a:rPr lang="it-IT" b="1"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𝐑</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𝐤</m:t>
                        </m:r>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a:rPr lang="it-IT" b="1" i="0" smtClean="0">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it-IT" b="1"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𝐒</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oMath>
                </a14:m>
                <a:r>
                  <a:rPr lang="it-IT" b="1" dirty="0">
                    <a:latin typeface="Cambria Math" panose="02040503050406030204" pitchFamily="18" charset="0"/>
                    <a:ea typeface="Cambria Math" panose="02040503050406030204" pitchFamily="18" charset="0"/>
                    <a:cs typeface="Times New Roman" panose="02020603050405020304" pitchFamily="18" charset="0"/>
                  </a:rPr>
                  <a:t>=s, </a:t>
                </a:r>
                <a14:m>
                  <m:oMath xmlns:m="http://schemas.openxmlformats.org/officeDocument/2006/math">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𝑨</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it-IT" b="1" dirty="0">
                    <a:latin typeface="Cambria Math" panose="02040503050406030204" pitchFamily="18" charset="0"/>
                    <a:ea typeface="Cambria Math" panose="02040503050406030204" pitchFamily="18" charset="0"/>
                    <a:cs typeface="Times New Roman" panose="02020603050405020304" pitchFamily="18" charset="0"/>
                  </a:rPr>
                  <a:t>a]</a:t>
                </a:r>
              </a:p>
              <a:p>
                <a:pPr algn="just"/>
                <a:endParaRPr lang="it-IT" i="1" dirty="0">
                  <a:latin typeface="Times New Roman" panose="02020603050405020304" pitchFamily="18" charset="0"/>
                  <a:cs typeface="Times New Roman" panose="02020603050405020304" pitchFamily="18" charset="0"/>
                </a:endParaRPr>
              </a:p>
              <a:p>
                <a:pPr algn="just"/>
                <a:r>
                  <a:rPr lang="it-IT" i="1" dirty="0" err="1">
                    <a:latin typeface="Times New Roman" panose="02020603050405020304" pitchFamily="18" charset="0"/>
                    <a:cs typeface="Times New Roman" panose="02020603050405020304" pitchFamily="18" charset="0"/>
                  </a:rPr>
                  <a:t>They</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defined</a:t>
                </a:r>
                <a:r>
                  <a:rPr lang="it-IT" i="1" dirty="0">
                    <a:latin typeface="Times New Roman" panose="02020603050405020304" pitchFamily="18" charset="0"/>
                    <a:cs typeface="Times New Roman" panose="02020603050405020304" pitchFamily="18" charset="0"/>
                  </a:rPr>
                  <a:t> by the </a:t>
                </a:r>
                <a:r>
                  <a:rPr lang="it-IT" i="1" dirty="0" err="1">
                    <a:latin typeface="Times New Roman" panose="02020603050405020304" pitchFamily="18" charset="0"/>
                    <a:cs typeface="Times New Roman" panose="02020603050405020304" pitchFamily="18" charset="0"/>
                  </a:rPr>
                  <a:t>expected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 operator </a:t>
                </a:r>
                <a:r>
                  <a:rPr lang="it-IT" i="1" dirty="0" err="1">
                    <a:latin typeface="Times New Roman" panose="02020603050405020304" pitchFamily="18" charset="0"/>
                    <a:cs typeface="Times New Roman" panose="02020603050405020304" pitchFamily="18" charset="0"/>
                  </a:rPr>
                  <a:t>since</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choice</a:t>
                </a:r>
                <a:r>
                  <a:rPr lang="it-IT" i="1" dirty="0">
                    <a:latin typeface="Times New Roman" panose="02020603050405020304" pitchFamily="18" charset="0"/>
                    <a:cs typeface="Times New Roman" panose="02020603050405020304" pitchFamily="18" charset="0"/>
                  </a:rPr>
                  <a:t> of the action </a:t>
                </a:r>
                <a:r>
                  <a:rPr lang="it-IT" i="1" dirty="0" err="1">
                    <a:latin typeface="Times New Roman" panose="02020603050405020304" pitchFamily="18" charset="0"/>
                    <a:cs typeface="Times New Roman" panose="02020603050405020304" pitchFamily="18" charset="0"/>
                  </a:rPr>
                  <a:t>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time instant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non </a:t>
                </a:r>
                <a:r>
                  <a:rPr lang="it-IT" i="1" dirty="0" err="1">
                    <a:latin typeface="Times New Roman" panose="02020603050405020304" pitchFamily="18" charset="0"/>
                    <a:cs typeface="Times New Roman" panose="02020603050405020304" pitchFamily="18" charset="0"/>
                  </a:rPr>
                  <a:t>deterministic</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Both</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functions</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related</a:t>
                </a:r>
                <a:r>
                  <a:rPr lang="it-IT" i="1" dirty="0">
                    <a:latin typeface="Times New Roman" panose="02020603050405020304" pitchFamily="18" charset="0"/>
                    <a:cs typeface="Times New Roman" panose="02020603050405020304" pitchFamily="18" charset="0"/>
                  </a:rPr>
                  <a:t> to the </a:t>
                </a:r>
                <a:r>
                  <a:rPr lang="it-IT" i="1" dirty="0" err="1">
                    <a:latin typeface="Times New Roman" panose="02020603050405020304" pitchFamily="18" charset="0"/>
                    <a:cs typeface="Times New Roman" panose="02020603050405020304" pitchFamily="18" charset="0"/>
                  </a:rPr>
                  <a:t>specific</a:t>
                </a:r>
                <a:r>
                  <a:rPr lang="it-IT" i="1" dirty="0">
                    <a:latin typeface="Times New Roman" panose="02020603050405020304" pitchFamily="18" charset="0"/>
                    <a:cs typeface="Times New Roman" panose="02020603050405020304" pitchFamily="18" charset="0"/>
                  </a:rPr>
                  <a:t> policy </a:t>
                </a:r>
                <a:r>
                  <a:rPr lang="el-GR" b="1" i="1" dirty="0">
                    <a:latin typeface="Times New Roman" panose="02020603050405020304" pitchFamily="18" charset="0"/>
                    <a:cs typeface="Times New Roman" panose="02020603050405020304" pitchFamily="18" charset="0"/>
                  </a:rPr>
                  <a:t>π</a:t>
                </a:r>
                <a:r>
                  <a:rPr lang="it-IT" b="1"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adopted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since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affects</a:t>
                </a:r>
                <a:r>
                  <a:rPr lang="it-IT" i="1" dirty="0">
                    <a:latin typeface="Times New Roman" panose="02020603050405020304" pitchFamily="18" charset="0"/>
                    <a:cs typeface="Times New Roman" panose="02020603050405020304" pitchFamily="18" charset="0"/>
                  </a:rPr>
                  <a:t> the action </a:t>
                </a:r>
                <a:r>
                  <a:rPr lang="it-IT" i="1" dirty="0" err="1">
                    <a:latin typeface="Times New Roman" panose="02020603050405020304" pitchFamily="18" charset="0"/>
                    <a:cs typeface="Times New Roman" panose="02020603050405020304" pitchFamily="18" charset="0"/>
                  </a:rPr>
                  <a:t>selection</a:t>
                </a:r>
                <a:r>
                  <a:rPr lang="it-IT" i="1" dirty="0">
                    <a:latin typeface="Times New Roman" panose="02020603050405020304" pitchFamily="18" charset="0"/>
                    <a:cs typeface="Times New Roman" panose="02020603050405020304" pitchFamily="18" charset="0"/>
                  </a:rPr>
                  <a:t>. In </a:t>
                </a:r>
                <a:r>
                  <a:rPr lang="it-IT" i="1" dirty="0" err="1">
                    <a:latin typeface="Times New Roman" panose="02020603050405020304" pitchFamily="18" charset="0"/>
                    <a:cs typeface="Times New Roman" panose="02020603050405020304" pitchFamily="18" charset="0"/>
                  </a:rPr>
                  <a:t>particular</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they</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goodness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indicator</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regarding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how</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much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convenient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to stay in the state s </a:t>
                </a:r>
                <a:r>
                  <a:rPr lang="it-IT" i="1" dirty="0" err="1">
                    <a:latin typeface="Times New Roman" panose="02020603050405020304" pitchFamily="18" charset="0"/>
                    <a:cs typeface="Times New Roman" panose="02020603050405020304" pitchFamily="18" charset="0"/>
                  </a:rPr>
                  <a:t>considering</a:t>
                </a:r>
                <a:r>
                  <a:rPr lang="it-IT" i="1" dirty="0">
                    <a:latin typeface="Times New Roman" panose="02020603050405020304" pitchFamily="18" charset="0"/>
                    <a:cs typeface="Times New Roman" panose="02020603050405020304" pitchFamily="18" charset="0"/>
                  </a:rPr>
                  <a:t> future actions </a:t>
                </a:r>
                <a:r>
                  <a:rPr lang="it-IT" i="1" dirty="0" err="1">
                    <a:latin typeface="Times New Roman" panose="02020603050405020304" pitchFamily="18" charset="0"/>
                    <a:cs typeface="Times New Roman" panose="02020603050405020304" pitchFamily="18" charset="0"/>
                  </a:rPr>
                  <a:t>designed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according</a:t>
                </a:r>
                <a:r>
                  <a:rPr lang="it-IT" i="1" dirty="0">
                    <a:latin typeface="Times New Roman" panose="02020603050405020304" pitchFamily="18" charset="0"/>
                    <a:cs typeface="Times New Roman" panose="02020603050405020304" pitchFamily="18" charset="0"/>
                  </a:rPr>
                  <a:t> to the policy. The action–</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beyond</a:t>
                </a:r>
                <a:r>
                  <a:rPr lang="it-IT" i="1" dirty="0">
                    <a:latin typeface="Times New Roman" panose="02020603050405020304" pitchFamily="18" charset="0"/>
                    <a:cs typeface="Times New Roman" panose="02020603050405020304" pitchFamily="18" charset="0"/>
                  </a:rPr>
                  <a:t> the state </a:t>
                </a:r>
                <a:r>
                  <a:rPr lang="it-IT" i="1" dirty="0" err="1">
                    <a:latin typeface="Times New Roman" panose="02020603050405020304" pitchFamily="18" charset="0"/>
                    <a:cs typeface="Times New Roman" panose="02020603050405020304" pitchFamily="18" charset="0"/>
                  </a:rPr>
                  <a:t>fixes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also</a:t>
                </a:r>
                <a:r>
                  <a:rPr lang="it-IT" i="1" dirty="0">
                    <a:latin typeface="Times New Roman" panose="02020603050405020304" pitchFamily="18" charset="0"/>
                    <a:cs typeface="Times New Roman" panose="02020603050405020304" pitchFamily="18" charset="0"/>
                  </a:rPr>
                  <a:t> a </a:t>
                </a:r>
                <a:r>
                  <a:rPr lang="it-IT" i="1" dirty="0" err="1">
                    <a:latin typeface="Times New Roman" panose="02020603050405020304" pitchFamily="18" charset="0"/>
                    <a:cs typeface="Times New Roman" panose="02020603050405020304" pitchFamily="18" charset="0"/>
                  </a:rPr>
                  <a:t>specific</a:t>
                </a:r>
                <a:r>
                  <a:rPr lang="it-IT" i="1" dirty="0">
                    <a:latin typeface="Times New Roman" panose="02020603050405020304" pitchFamily="18" charset="0"/>
                    <a:cs typeface="Times New Roman" panose="02020603050405020304" pitchFamily="18" charset="0"/>
                  </a:rPr>
                  <a:t> action. </a:t>
                </a:r>
              </a:p>
            </p:txBody>
          </p:sp>
        </mc:Choice>
        <mc:Fallback>
          <p:sp>
            <p:nvSpPr>
              <p:cNvPr id="4" name="CasellaDiTesto 3">
                <a:extLst>
                  <a:ext uri="{FF2B5EF4-FFF2-40B4-BE49-F238E27FC236}">
                    <a16:creationId xmlns:a16="http://schemas.microsoft.com/office/drawing/2014/main" id="{80CDE17F-2D39-A78F-9996-20BCBDE3D410}"/>
                  </a:ext>
                </a:extLst>
              </p:cNvPr>
              <p:cNvSpPr txBox="1">
                <a:spLocks noRot="1" noChangeAspect="1" noMove="1" noResize="1" noEditPoints="1" noAdjustHandles="1" noChangeArrowheads="1" noChangeShapeType="1" noTextEdit="1"/>
              </p:cNvSpPr>
              <p:nvPr/>
            </p:nvSpPr>
            <p:spPr>
              <a:xfrm>
                <a:off x="388620" y="1451610"/>
                <a:ext cx="11258550" cy="5133328"/>
              </a:xfrm>
              <a:prstGeom prst="rect">
                <a:avLst/>
              </a:prstGeom>
              <a:blipFill>
                <a:blip r:embed="rId2"/>
                <a:stretch>
                  <a:fillRect l="-487" t="-594" r="-433" b="-950"/>
                </a:stretch>
              </a:blipFill>
            </p:spPr>
            <p:txBody>
              <a:bodyPr/>
              <a:lstStyle/>
              <a:p>
                <a:r>
                  <a:rPr lang="it-IT">
                    <a:noFill/>
                  </a:rPr>
                  <a:t> </a:t>
                </a:r>
              </a:p>
            </p:txBody>
          </p:sp>
        </mc:Fallback>
      </mc:AlternateContent>
    </p:spTree>
    <p:extLst>
      <p:ext uri="{BB962C8B-B14F-4D97-AF65-F5344CB8AC3E}">
        <p14:creationId xmlns:p14="http://schemas.microsoft.com/office/powerpoint/2010/main" val="1041623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7A9F8-8D93-9049-3BBD-25669A8CFF3E}"/>
            </a:ext>
          </a:extLst>
        </p:cNvPr>
        <p:cNvGrpSpPr/>
        <p:nvPr/>
      </p:nvGrpSpPr>
      <p:grpSpPr>
        <a:xfrm>
          <a:off x="0" y="0"/>
          <a:ext cx="0" cy="0"/>
          <a:chOff x="0" y="0"/>
          <a:chExt cx="0" cy="0"/>
        </a:xfrm>
      </p:grpSpPr>
      <p:sp>
        <p:nvSpPr>
          <p:cNvPr id="5" name="Rettangolo 4">
            <a:extLst>
              <a:ext uri="{FF2B5EF4-FFF2-40B4-BE49-F238E27FC236}">
                <a16:creationId xmlns:a16="http://schemas.microsoft.com/office/drawing/2014/main" id="{3208472A-A4E9-6778-12ED-ED786D563C74}"/>
              </a:ext>
            </a:extLst>
          </p:cNvPr>
          <p:cNvSpPr/>
          <p:nvPr/>
        </p:nvSpPr>
        <p:spPr>
          <a:xfrm>
            <a:off x="0" y="-1"/>
            <a:ext cx="12192000" cy="111439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99A16951-2EE4-8226-932C-E41C0EF6BE46}"/>
              </a:ext>
            </a:extLst>
          </p:cNvPr>
          <p:cNvSpPr txBox="1"/>
          <p:nvPr/>
        </p:nvSpPr>
        <p:spPr>
          <a:xfrm>
            <a:off x="280554" y="258469"/>
            <a:ext cx="3791423" cy="707886"/>
          </a:xfrm>
          <a:prstGeom prst="rect">
            <a:avLst/>
          </a:prstGeom>
          <a:noFill/>
        </p:spPr>
        <p:txBody>
          <a:bodyPr wrap="none" rtlCol="0">
            <a:spAutoFit/>
          </a:bodyPr>
          <a:lstStyle/>
          <a:p>
            <a:r>
              <a:rPr lang="it-IT" sz="4000" b="1" i="1" dirty="0">
                <a:solidFill>
                  <a:schemeClr val="bg1"/>
                </a:solidFill>
                <a:latin typeface="Times New Roman" panose="02020603050405020304" pitchFamily="18" charset="0"/>
                <a:cs typeface="Times New Roman" panose="02020603050405020304" pitchFamily="18" charset="0"/>
              </a:rPr>
              <a:t>Markov </a:t>
            </a:r>
            <a:r>
              <a:rPr lang="it-IT" sz="4000" b="1" i="1" dirty="0" err="1">
                <a:solidFill>
                  <a:schemeClr val="bg1"/>
                </a:solidFill>
                <a:latin typeface="Times New Roman" panose="02020603050405020304" pitchFamily="18" charset="0"/>
                <a:cs typeface="Times New Roman" panose="02020603050405020304" pitchFamily="18" charset="0"/>
              </a:rPr>
              <a:t>Property</a:t>
            </a:r>
            <a:endParaRPr lang="it-IT" sz="4000" b="1" i="1"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5260B01B-E73D-51E4-6E03-3307D97C5B95}"/>
                  </a:ext>
                </a:extLst>
              </p:cNvPr>
              <p:cNvSpPr txBox="1"/>
              <p:nvPr/>
            </p:nvSpPr>
            <p:spPr>
              <a:xfrm>
                <a:off x="293802" y="1720840"/>
                <a:ext cx="11604396" cy="3970318"/>
              </a:xfrm>
              <a:prstGeom prst="rect">
                <a:avLst/>
              </a:prstGeom>
              <a:noFill/>
            </p:spPr>
            <p:txBody>
              <a:bodyPr wrap="square" rtlCol="0">
                <a:spAutoFit/>
              </a:bodyPr>
              <a:lstStyle/>
              <a:p>
                <a:r>
                  <a:rPr lang="it-IT" i="1" dirty="0">
                    <a:latin typeface="Times New Roman" panose="02020603050405020304" pitchFamily="18" charset="0"/>
                    <a:cs typeface="Times New Roman" panose="02020603050405020304" pitchFamily="18" charset="0"/>
                  </a:rPr>
                  <a:t>Previous </a:t>
                </a:r>
                <a:r>
                  <a:rPr lang="it-IT" i="1" dirty="0" err="1">
                    <a:latin typeface="Times New Roman" panose="02020603050405020304" pitchFamily="18" charset="0"/>
                    <a:cs typeface="Times New Roman" panose="02020603050405020304" pitchFamily="18" charset="0"/>
                  </a:rPr>
                  <a:t>definition</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related</a:t>
                </a:r>
                <a:r>
                  <a:rPr lang="it-IT" i="1" dirty="0">
                    <a:latin typeface="Times New Roman" panose="02020603050405020304" pitchFamily="18" charset="0"/>
                    <a:cs typeface="Times New Roman" panose="02020603050405020304" pitchFamily="18" charset="0"/>
                  </a:rPr>
                  <a:t> to an </a:t>
                </a:r>
                <a:r>
                  <a:rPr lang="it-IT" i="1" dirty="0" err="1">
                    <a:latin typeface="Times New Roman" panose="02020603050405020304" pitchFamily="18" charset="0"/>
                    <a:cs typeface="Times New Roman" panose="02020603050405020304" pitchFamily="18" charset="0"/>
                  </a:rPr>
                  <a:t>important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assumption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Markov </a:t>
                </a:r>
                <a:r>
                  <a:rPr lang="it-IT" i="1" dirty="0" err="1">
                    <a:latin typeface="Times New Roman" panose="02020603050405020304" pitchFamily="18" charset="0"/>
                    <a:cs typeface="Times New Roman" panose="02020603050405020304" pitchFamily="18" charset="0"/>
                  </a:rPr>
                  <a:t>Property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Consider</a:t>
                </a:r>
                <a:r>
                  <a:rPr lang="it-IT" i="1" dirty="0">
                    <a:latin typeface="Times New Roman" panose="02020603050405020304" pitchFamily="18" charset="0"/>
                    <a:cs typeface="Times New Roman" panose="02020603050405020304" pitchFamily="18" charset="0"/>
                  </a:rPr>
                  <a:t> an action </a:t>
                </a:r>
                <a:r>
                  <a:rPr lang="it-IT" i="1" dirty="0" err="1">
                    <a:latin typeface="Times New Roman" panose="02020603050405020304" pitchFamily="18" charset="0"/>
                    <a:cs typeface="Times New Roman" panose="02020603050405020304" pitchFamily="18" charset="0"/>
                  </a:rPr>
                  <a:t>performed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at</a:t>
                </a:r>
                <a:r>
                  <a:rPr lang="it-IT" i="1" dirty="0">
                    <a:latin typeface="Times New Roman" panose="02020603050405020304" pitchFamily="18" charset="0"/>
                    <a:cs typeface="Times New Roman" panose="02020603050405020304" pitchFamily="18" charset="0"/>
                  </a:rPr>
                  <a:t> time t, the </a:t>
                </a:r>
                <a:r>
                  <a:rPr lang="it-IT" i="1" dirty="0" err="1">
                    <a:latin typeface="Times New Roman" panose="02020603050405020304" pitchFamily="18" charset="0"/>
                    <a:cs typeface="Times New Roman" panose="02020603050405020304" pitchFamily="18" charset="0"/>
                  </a:rPr>
                  <a:t>resulting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next</a:t>
                </a:r>
                <a:r>
                  <a:rPr lang="it-IT" i="1" dirty="0">
                    <a:latin typeface="Times New Roman" panose="02020603050405020304" pitchFamily="18" charset="0"/>
                    <a:cs typeface="Times New Roman" panose="02020603050405020304" pitchFamily="18" charset="0"/>
                  </a:rPr>
                  <a:t> state and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can be </a:t>
                </a:r>
                <a:r>
                  <a:rPr lang="it-IT" i="1" dirty="0" err="1">
                    <a:latin typeface="Times New Roman" panose="02020603050405020304" pitchFamily="18" charset="0"/>
                    <a:cs typeface="Times New Roman" panose="02020603050405020304" pitchFamily="18" charset="0"/>
                  </a:rPr>
                  <a:t>expressed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as</a:t>
                </a:r>
                <a:r>
                  <a:rPr lang="it-IT" i="1" dirty="0">
                    <a:latin typeface="Times New Roman" panose="02020603050405020304" pitchFamily="18" charset="0"/>
                    <a:cs typeface="Times New Roman" panose="02020603050405020304" pitchFamily="18" charset="0"/>
                  </a:rPr>
                  <a:t> follows:</a:t>
                </a:r>
              </a:p>
              <a:p>
                <a:endParaRPr lang="it-IT" b="1"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ea typeface="Cambria Math" panose="02040503050406030204" pitchFamily="18" charset="0"/>
                          <a:cs typeface="Times New Roman" panose="02020603050405020304" pitchFamily="18" charset="0"/>
                        </a:rPr>
                        <m:t>𝒑</m:t>
                      </m:r>
                      <m:d>
                        <m:d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it-IT" b="1" i="1" smtClean="0">
                                  <a:latin typeface="Cambria Math" panose="02040503050406030204" pitchFamily="18" charset="0"/>
                                  <a:ea typeface="Cambria Math" panose="02040503050406030204" pitchFamily="18" charset="0"/>
                                  <a:cs typeface="Times New Roman" panose="02020603050405020304" pitchFamily="18" charset="0"/>
                                </a:rPr>
                                <m:t>𝒔</m:t>
                              </m:r>
                            </m:e>
                            <m:sup>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up>
                          </m:sSup>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𝒓</m:t>
                          </m:r>
                        </m:e>
                        <m:e>
                          <m:r>
                            <a:rPr lang="it-IT" b="1" i="1" smtClean="0">
                              <a:latin typeface="Cambria Math" panose="02040503050406030204" pitchFamily="18" charset="0"/>
                              <a:ea typeface="Cambria Math" panose="02040503050406030204" pitchFamily="18" charset="0"/>
                              <a:cs typeface="Times New Roman" panose="02020603050405020304" pitchFamily="18" charset="0"/>
                            </a:rPr>
                            <m:t>𝒔</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𝒂</m:t>
                          </m:r>
                        </m:e>
                      </m:d>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𝑷𝒓</m:t>
                      </m:r>
                      <m:d>
                        <m:dPr>
                          <m:begChr m:val="{"/>
                          <m:endChr m:val="}"/>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𝐒</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m:rPr>
                              <m:nor/>
                            </m:rPr>
                            <a:rPr lang="it-IT" b="1" dirty="0">
                              <a:latin typeface="Cambria Math" panose="02040503050406030204" pitchFamily="18" charset="0"/>
                              <a:ea typeface="Cambria Math" panose="02040503050406030204" pitchFamily="18" charset="0"/>
                              <a:cs typeface="Times New Roman" panose="02020603050405020304" pitchFamily="18" charset="0"/>
                            </a:rPr>
                            <m:t>=</m:t>
                          </m:r>
                          <m:r>
                            <m:rPr>
                              <m:nor/>
                            </m:rPr>
                            <a:rPr lang="it-IT" b="1" i="0" dirty="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it-IT" b="1" dirty="0">
                              <a:latin typeface="Cambria Math" panose="02040503050406030204" pitchFamily="18" charset="0"/>
                              <a:ea typeface="Cambria Math" panose="02040503050406030204" pitchFamily="18" charset="0"/>
                              <a:cs typeface="Times New Roman" panose="02020603050405020304" pitchFamily="18" charset="0"/>
                            </a:rPr>
                            <m:t>s</m:t>
                          </m:r>
                          <m:r>
                            <m:rPr>
                              <m:nor/>
                            </m:rPr>
                            <a:rPr lang="it-IT" b="1" i="0"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it-IT" b="1" dirty="0">
                              <a:latin typeface="Cambria Math" panose="02040503050406030204" pitchFamily="18" charset="0"/>
                              <a:ea typeface="Cambria Math" panose="02040503050406030204" pitchFamily="18" charset="0"/>
                              <a:cs typeface="Times New Roman" panose="02020603050405020304" pitchFamily="18" charset="0"/>
                            </a:rPr>
                            <m:t>, </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it-IT" b="1" i="0" smtClean="0">
                              <a:latin typeface="Cambria Math" panose="02040503050406030204" pitchFamily="18" charset="0"/>
                              <a:ea typeface="Cambria Math" panose="02040503050406030204" pitchFamily="18" charset="0"/>
                              <a:cs typeface="Times New Roman" panose="02020603050405020304" pitchFamily="18" charset="0"/>
                            </a:rPr>
                            <m:t>r</m:t>
                          </m:r>
                          <m:r>
                            <m:rPr>
                              <m:nor/>
                            </m:rPr>
                            <a:rPr lang="it-IT" b="1" i="0"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𝟎</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𝟎</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𝟐</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 </m:t>
                          </m:r>
                        </m:e>
                      </m:d>
                    </m:oMath>
                  </m:oMathPara>
                </a14:m>
                <a:endParaRPr lang="it-IT" b="1" i="1" dirty="0">
                  <a:latin typeface="Cambria Math" panose="02040503050406030204" pitchFamily="18" charset="0"/>
                  <a:ea typeface="Cambria Math" panose="02040503050406030204" pitchFamily="18" charset="0"/>
                  <a:cs typeface="Times New Roman" panose="02020603050405020304" pitchFamily="18" charset="0"/>
                </a:endParaRPr>
              </a:p>
              <a:p>
                <a:pPr algn="just"/>
                <a:endParaRPr lang="it-IT" i="1" dirty="0">
                  <a:latin typeface="Times New Roman" panose="02020603050405020304" pitchFamily="18" charset="0"/>
                  <a:ea typeface="Cambria Math" panose="02040503050406030204" pitchFamily="18" charset="0"/>
                  <a:cs typeface="Times New Roman" panose="02020603050405020304" pitchFamily="18" charset="0"/>
                </a:endParaRPr>
              </a:p>
              <a:p>
                <a:pPr algn="just"/>
                <a:r>
                  <a:rPr lang="it-IT" i="1" dirty="0" err="1">
                    <a:latin typeface="Times New Roman" panose="02020603050405020304" pitchFamily="18" charset="0"/>
                    <a:ea typeface="Cambria Math" panose="02040503050406030204" pitchFamily="18" charset="0"/>
                    <a:cs typeface="Times New Roman" panose="02020603050405020304" pitchFamily="18" charset="0"/>
                  </a:rPr>
                  <a:t>That</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is</a:t>
                </a:r>
                <a:r>
                  <a:rPr lang="it-IT" i="1" dirty="0">
                    <a:latin typeface="Times New Roman" panose="02020603050405020304" pitchFamily="18" charset="0"/>
                    <a:ea typeface="Cambria Math" panose="02040503050406030204" pitchFamily="18" charset="0"/>
                    <a:cs typeface="Times New Roman" panose="02020603050405020304" pitchFamily="18" charset="0"/>
                  </a:rPr>
                  <a:t> a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relationship</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between</a:t>
                </a:r>
                <a:r>
                  <a:rPr lang="it-IT" i="1" dirty="0">
                    <a:latin typeface="Times New Roman" panose="02020603050405020304" pitchFamily="18" charset="0"/>
                    <a:ea typeface="Cambria Math" panose="02040503050406030204" pitchFamily="18" charset="0"/>
                    <a:cs typeface="Times New Roman" panose="02020603050405020304" pitchFamily="18" charset="0"/>
                  </a:rPr>
                  <a:t> the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current</a:t>
                </a:r>
                <a:r>
                  <a:rPr lang="it-IT" i="1" dirty="0">
                    <a:latin typeface="Times New Roman" panose="02020603050405020304" pitchFamily="18" charset="0"/>
                    <a:ea typeface="Cambria Math" panose="02040503050406030204" pitchFamily="18" charset="0"/>
                    <a:cs typeface="Times New Roman" panose="02020603050405020304" pitchFamily="18" charset="0"/>
                  </a:rPr>
                  <a:t> state and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reward</a:t>
                </a:r>
                <a:r>
                  <a:rPr lang="it-IT" i="1" dirty="0">
                    <a:latin typeface="Times New Roman" panose="02020603050405020304" pitchFamily="18" charset="0"/>
                    <a:ea typeface="Cambria Math" panose="02040503050406030204" pitchFamily="18" charset="0"/>
                    <a:cs typeface="Times New Roman" panose="02020603050405020304" pitchFamily="18" charset="0"/>
                  </a:rPr>
                  <a:t> with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respect</a:t>
                </a:r>
                <a:r>
                  <a:rPr lang="it-IT" i="1" dirty="0">
                    <a:latin typeface="Times New Roman" panose="02020603050405020304" pitchFamily="18" charset="0"/>
                    <a:ea typeface="Cambria Math" panose="02040503050406030204" pitchFamily="18" charset="0"/>
                    <a:cs typeface="Times New Roman" panose="02020603050405020304" pitchFamily="18" charset="0"/>
                  </a:rPr>
                  <a:t> to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all</a:t>
                </a:r>
                <a:r>
                  <a:rPr lang="it-IT" i="1" dirty="0">
                    <a:latin typeface="Times New Roman" panose="02020603050405020304" pitchFamily="18" charset="0"/>
                    <a:ea typeface="Cambria Math" panose="02040503050406030204" pitchFamily="18" charset="0"/>
                    <a:cs typeface="Times New Roman" panose="02020603050405020304" pitchFamily="18" charset="0"/>
                  </a:rPr>
                  <a:t> the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past</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values</a:t>
                </a:r>
                <a:r>
                  <a:rPr lang="it-IT" i="1" dirty="0">
                    <a:latin typeface="Times New Roman" panose="02020603050405020304" pitchFamily="18" charset="0"/>
                    <a:ea typeface="Cambria Math" panose="02040503050406030204" pitchFamily="18" charset="0"/>
                    <a:cs typeface="Times New Roman" panose="02020603050405020304" pitchFamily="18" charset="0"/>
                  </a:rPr>
                  <a:t> of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states,actions</a:t>
                </a:r>
                <a:r>
                  <a:rPr lang="it-IT" i="1" dirty="0">
                    <a:latin typeface="Times New Roman" panose="02020603050405020304" pitchFamily="18" charset="0"/>
                    <a:ea typeface="Cambria Math" panose="02040503050406030204" pitchFamily="18" charset="0"/>
                    <a:cs typeface="Times New Roman" panose="02020603050405020304" pitchFamily="18" charset="0"/>
                  </a:rPr>
                  <a:t> and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rewards</a:t>
                </a:r>
                <a:r>
                  <a:rPr lang="it-IT" i="1" dirty="0">
                    <a:latin typeface="Times New Roman" panose="02020603050405020304" pitchFamily="18" charset="0"/>
                    <a:ea typeface="Cambria Math" panose="02040503050406030204" pitchFamily="18" charset="0"/>
                    <a:cs typeface="Times New Roman" panose="02020603050405020304" pitchFamily="18" charset="0"/>
                  </a:rPr>
                  <a:t> in the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episode</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If</a:t>
                </a:r>
                <a:r>
                  <a:rPr lang="it-IT" i="1" dirty="0">
                    <a:latin typeface="Times New Roman" panose="02020603050405020304" pitchFamily="18" charset="0"/>
                    <a:ea typeface="Cambria Math" panose="02040503050406030204" pitchFamily="18" charset="0"/>
                    <a:cs typeface="Times New Roman" panose="02020603050405020304" pitchFamily="18" charset="0"/>
                  </a:rPr>
                  <a:t> an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environment</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has</a:t>
                </a:r>
                <a:r>
                  <a:rPr lang="it-IT" i="1" dirty="0">
                    <a:latin typeface="Times New Roman" panose="02020603050405020304" pitchFamily="18" charset="0"/>
                    <a:ea typeface="Cambria Math" panose="02040503050406030204" pitchFamily="18" charset="0"/>
                    <a:cs typeface="Times New Roman" panose="02020603050405020304" pitchFamily="18" charset="0"/>
                  </a:rPr>
                  <a:t> the Markov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Property</a:t>
                </a:r>
                <a:r>
                  <a:rPr lang="it-IT" i="1" dirty="0">
                    <a:latin typeface="Times New Roman" panose="02020603050405020304" pitchFamily="18" charset="0"/>
                    <a:ea typeface="Cambria Math" panose="02040503050406030204" pitchFamily="18" charset="0"/>
                    <a:cs typeface="Times New Roman" panose="02020603050405020304" pitchFamily="18" charset="0"/>
                  </a:rPr>
                  <a:t>, the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above</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equation</a:t>
                </a:r>
                <a:r>
                  <a:rPr lang="it-IT" i="1" dirty="0">
                    <a:latin typeface="Times New Roman" panose="02020603050405020304" pitchFamily="18" charset="0"/>
                    <a:ea typeface="Cambria Math" panose="02040503050406030204" pitchFamily="18" charset="0"/>
                    <a:cs typeface="Times New Roman" panose="02020603050405020304" pitchFamily="18" charset="0"/>
                  </a:rPr>
                  <a:t> can be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relaxed</a:t>
                </a:r>
                <a:r>
                  <a:rPr lang="it-IT" i="1" dirty="0">
                    <a:latin typeface="Times New Roman" panose="02020603050405020304" pitchFamily="18" charset="0"/>
                    <a:ea typeface="Cambria Math" panose="02040503050406030204" pitchFamily="18" charset="0"/>
                    <a:cs typeface="Times New Roman" panose="02020603050405020304" pitchFamily="18" charset="0"/>
                  </a:rPr>
                  <a:t> to the following:</a:t>
                </a:r>
              </a:p>
              <a:p>
                <a:pPr algn="just"/>
                <a:endParaRPr lang="it-IT" i="1" dirty="0">
                  <a:latin typeface="Times New Roman" panose="02020603050405020304" pitchFamily="18" charset="0"/>
                  <a:ea typeface="Cambria Math" panose="020405030504060302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ea typeface="Cambria Math" panose="02040503050406030204" pitchFamily="18" charset="0"/>
                          <a:cs typeface="Times New Roman" panose="02020603050405020304" pitchFamily="18" charset="0"/>
                        </a:rPr>
                        <m:t>𝒑</m:t>
                      </m:r>
                      <m:d>
                        <m:d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it-IT" b="1" i="1" smtClean="0">
                                  <a:latin typeface="Cambria Math" panose="02040503050406030204" pitchFamily="18" charset="0"/>
                                  <a:ea typeface="Cambria Math" panose="02040503050406030204" pitchFamily="18" charset="0"/>
                                  <a:cs typeface="Times New Roman" panose="02020603050405020304" pitchFamily="18" charset="0"/>
                                </a:rPr>
                                <m:t>𝒔</m:t>
                              </m:r>
                            </m:e>
                            <m:sup>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up>
                          </m:sSup>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𝒓</m:t>
                          </m:r>
                        </m:e>
                        <m:e>
                          <m:r>
                            <a:rPr lang="it-IT" b="1" i="1" smtClean="0">
                              <a:latin typeface="Cambria Math" panose="02040503050406030204" pitchFamily="18" charset="0"/>
                              <a:ea typeface="Cambria Math" panose="02040503050406030204" pitchFamily="18" charset="0"/>
                              <a:cs typeface="Times New Roman" panose="02020603050405020304" pitchFamily="18" charset="0"/>
                            </a:rPr>
                            <m:t>𝒔</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𝒂</m:t>
                          </m:r>
                        </m:e>
                      </m:d>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𝑷𝒓</m:t>
                      </m:r>
                      <m:d>
                        <m:dPr>
                          <m:begChr m:val="{"/>
                          <m:endChr m:val="}"/>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0" smtClean="0">
                                  <a:latin typeface="Cambria Math" panose="02040503050406030204" pitchFamily="18" charset="0"/>
                                  <a:ea typeface="Cambria Math" panose="02040503050406030204" pitchFamily="18" charset="0"/>
                                  <a:cs typeface="Times New Roman" panose="02020603050405020304" pitchFamily="18" charset="0"/>
                                </a:rPr>
                                <m:t>𝐒</m:t>
                              </m:r>
                            </m:e>
                            <m:sub>
                              <m:r>
                                <a:rPr lang="it-IT" b="1" i="0" smtClean="0">
                                  <a:latin typeface="Cambria Math" panose="02040503050406030204" pitchFamily="18" charset="0"/>
                                  <a:ea typeface="Cambria Math" panose="02040503050406030204" pitchFamily="18" charset="0"/>
                                  <a:cs typeface="Times New Roman" panose="02020603050405020304" pitchFamily="18" charset="0"/>
                                </a:rPr>
                                <m:t>𝐭</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m:rPr>
                              <m:nor/>
                            </m:rPr>
                            <a:rPr lang="it-IT" b="1" dirty="0">
                              <a:latin typeface="Cambria Math" panose="02040503050406030204" pitchFamily="18" charset="0"/>
                              <a:ea typeface="Cambria Math" panose="02040503050406030204" pitchFamily="18" charset="0"/>
                              <a:cs typeface="Times New Roman" panose="02020603050405020304" pitchFamily="18" charset="0"/>
                            </a:rPr>
                            <m:t>=</m:t>
                          </m:r>
                          <m:r>
                            <m:rPr>
                              <m:nor/>
                            </m:rPr>
                            <a:rPr lang="it-IT" b="1" i="0" dirty="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it-IT" b="1" dirty="0">
                              <a:latin typeface="Cambria Math" panose="02040503050406030204" pitchFamily="18" charset="0"/>
                              <a:ea typeface="Cambria Math" panose="02040503050406030204" pitchFamily="18" charset="0"/>
                              <a:cs typeface="Times New Roman" panose="02020603050405020304" pitchFamily="18" charset="0"/>
                            </a:rPr>
                            <m:t>s</m:t>
                          </m:r>
                          <m:r>
                            <m:rPr>
                              <m:nor/>
                            </m:rPr>
                            <a:rPr lang="it-IT" b="1" i="0" dirty="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it-IT" b="1" dirty="0">
                              <a:latin typeface="Cambria Math" panose="02040503050406030204" pitchFamily="18" charset="0"/>
                              <a:ea typeface="Cambria Math" panose="02040503050406030204" pitchFamily="18" charset="0"/>
                              <a:cs typeface="Times New Roman" panose="02020603050405020304" pitchFamily="18" charset="0"/>
                            </a:rPr>
                            <m:t>, </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r>
                                <a:rPr lang="it-IT" b="1" i="1" smtClean="0">
                                  <a:latin typeface="Cambria Math" panose="02040503050406030204" pitchFamily="18" charset="0"/>
                                  <a:ea typeface="Cambria Math" panose="02040503050406030204" pitchFamily="18" charset="0"/>
                                  <a:cs typeface="Times New Roman" panose="02020603050405020304" pitchFamily="18" charset="0"/>
                                </a:rPr>
                                <m:t>+</m:t>
                              </m:r>
                              <m:r>
                                <a:rPr lang="it-IT" b="1" i="1" smtClean="0">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0" smtClean="0">
                              <a:latin typeface="Cambria Math" panose="02040503050406030204" pitchFamily="18" charset="0"/>
                              <a:ea typeface="Cambria Math" panose="02040503050406030204" pitchFamily="18" charset="0"/>
                              <a:cs typeface="Times New Roman" panose="02020603050405020304" pitchFamily="18" charset="0"/>
                            </a:rPr>
                            <m:t>=</m:t>
                          </m:r>
                          <m:r>
                            <m:rPr>
                              <m:nor/>
                            </m:rPr>
                            <a:rPr lang="it-IT" b="1" i="0" smtClean="0">
                              <a:latin typeface="Cambria Math" panose="02040503050406030204" pitchFamily="18" charset="0"/>
                              <a:ea typeface="Cambria Math" panose="02040503050406030204" pitchFamily="18" charset="0"/>
                              <a:cs typeface="Times New Roman" panose="02020603050405020304" pitchFamily="18" charset="0"/>
                            </a:rPr>
                            <m:t>r</m:t>
                          </m:r>
                          <m:r>
                            <m:rPr>
                              <m:nor/>
                            </m:rPr>
                            <a:rPr lang="it-IT" b="1" i="0"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smtClean="0">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smtClean="0">
                              <a:latin typeface="Cambria Math" panose="02040503050406030204" pitchFamily="18" charset="0"/>
                              <a:ea typeface="Cambria Math" panose="02040503050406030204" pitchFamily="18" charset="0"/>
                              <a:cs typeface="Times New Roman" panose="02020603050405020304" pitchFamily="18" charset="0"/>
                            </a:rPr>
                            <m:t> </m:t>
                          </m:r>
                        </m:e>
                      </m:d>
                    </m:oMath>
                  </m:oMathPara>
                </a14:m>
                <a:endParaRPr lang="it-IT" i="1" dirty="0">
                  <a:latin typeface="Times New Roman" panose="02020603050405020304" pitchFamily="18" charset="0"/>
                  <a:ea typeface="Cambria Math" panose="02040503050406030204" pitchFamily="18" charset="0"/>
                  <a:cs typeface="Times New Roman" panose="02020603050405020304" pitchFamily="18" charset="0"/>
                </a:endParaRPr>
              </a:p>
              <a:p>
                <a:pPr algn="just"/>
                <a:endParaRPr lang="it-IT" i="1" dirty="0">
                  <a:latin typeface="Times New Roman" panose="02020603050405020304" pitchFamily="18" charset="0"/>
                  <a:ea typeface="Cambria Math" panose="02040503050406030204" pitchFamily="18" charset="0"/>
                  <a:cs typeface="Times New Roman" panose="02020603050405020304" pitchFamily="18" charset="0"/>
                </a:endParaRPr>
              </a:p>
              <a:p>
                <a:pPr algn="just"/>
                <a:r>
                  <a:rPr lang="it-IT" i="1" dirty="0" err="1">
                    <a:latin typeface="Times New Roman" panose="02020603050405020304" pitchFamily="18" charset="0"/>
                    <a:ea typeface="Cambria Math" panose="02040503050406030204" pitchFamily="18" charset="0"/>
                    <a:cs typeface="Times New Roman" panose="02020603050405020304" pitchFamily="18" charset="0"/>
                  </a:rPr>
                  <a:t>It</a:t>
                </a:r>
                <a:r>
                  <a:rPr lang="it-IT" i="1" dirty="0">
                    <a:latin typeface="Times New Roman" panose="02020603050405020304" pitchFamily="18" charset="0"/>
                    <a:ea typeface="Cambria Math" panose="02040503050406030204" pitchFamily="18" charset="0"/>
                    <a:cs typeface="Times New Roman" panose="02020603050405020304" pitchFamily="18" charset="0"/>
                  </a:rPr>
                  <a:t> highlights a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dependence</a:t>
                </a:r>
                <a:r>
                  <a:rPr lang="it-IT" i="1" dirty="0">
                    <a:latin typeface="Times New Roman" panose="02020603050405020304" pitchFamily="18" charset="0"/>
                    <a:ea typeface="Cambria Math" panose="02040503050406030204" pitchFamily="18" charset="0"/>
                    <a:cs typeface="Times New Roman" panose="02020603050405020304" pitchFamily="18" charset="0"/>
                  </a:rPr>
                  <a:t> of the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current</a:t>
                </a:r>
                <a:r>
                  <a:rPr lang="it-IT" i="1" dirty="0">
                    <a:latin typeface="Times New Roman" panose="02020603050405020304" pitchFamily="18" charset="0"/>
                    <a:ea typeface="Cambria Math" panose="02040503050406030204" pitchFamily="18" charset="0"/>
                    <a:cs typeface="Times New Roman" panose="02020603050405020304" pitchFamily="18" charset="0"/>
                  </a:rPr>
                  <a:t> state and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reward</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only</a:t>
                </a:r>
                <a:r>
                  <a:rPr lang="it-IT" i="1" dirty="0">
                    <a:latin typeface="Times New Roman" panose="02020603050405020304" pitchFamily="18" charset="0"/>
                    <a:ea typeface="Cambria Math" panose="02040503050406030204" pitchFamily="18" charset="0"/>
                    <a:cs typeface="Times New Roman" panose="02020603050405020304" pitchFamily="18" charset="0"/>
                  </a:rPr>
                  <a:t> on the last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values</a:t>
                </a:r>
                <a:r>
                  <a:rPr lang="it-IT" i="1" dirty="0">
                    <a:latin typeface="Times New Roman" panose="02020603050405020304" pitchFamily="18" charset="0"/>
                    <a:ea typeface="Cambria Math" panose="02040503050406030204" pitchFamily="18" charset="0"/>
                    <a:cs typeface="Times New Roman" panose="02020603050405020304" pitchFamily="18" charset="0"/>
                  </a:rPr>
                  <a:t> of the state </a:t>
                </a:r>
                <a:r>
                  <a:rPr lang="it-IT" i="1">
                    <a:latin typeface="Times New Roman" panose="02020603050405020304" pitchFamily="18" charset="0"/>
                    <a:ea typeface="Cambria Math" panose="02040503050406030204" pitchFamily="18" charset="0"/>
                    <a:cs typeface="Times New Roman" panose="02020603050405020304" pitchFamily="18" charset="0"/>
                  </a:rPr>
                  <a:t>and of the </a:t>
                </a:r>
                <a:r>
                  <a:rPr lang="it-IT" i="1" dirty="0">
                    <a:latin typeface="Times New Roman" panose="02020603050405020304" pitchFamily="18" charset="0"/>
                    <a:ea typeface="Cambria Math" panose="02040503050406030204" pitchFamily="18" charset="0"/>
                    <a:cs typeface="Times New Roman" panose="02020603050405020304" pitchFamily="18" charset="0"/>
                  </a:rPr>
                  <a:t>action.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This</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implies</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that</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it</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is</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possible</a:t>
                </a:r>
                <a:r>
                  <a:rPr lang="it-IT" i="1" dirty="0">
                    <a:latin typeface="Times New Roman" panose="02020603050405020304" pitchFamily="18" charset="0"/>
                    <a:ea typeface="Cambria Math" panose="02040503050406030204" pitchFamily="18" charset="0"/>
                    <a:cs typeface="Times New Roman" panose="02020603050405020304" pitchFamily="18" charset="0"/>
                  </a:rPr>
                  <a:t> to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predict</a:t>
                </a:r>
                <a:r>
                  <a:rPr lang="it-IT" i="1" dirty="0">
                    <a:latin typeface="Times New Roman" panose="02020603050405020304" pitchFamily="18" charset="0"/>
                    <a:ea typeface="Cambria Math" panose="02040503050406030204" pitchFamily="18" charset="0"/>
                    <a:cs typeface="Times New Roman" panose="02020603050405020304" pitchFamily="18" charset="0"/>
                  </a:rPr>
                  <a:t> the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whole</a:t>
                </a:r>
                <a:r>
                  <a:rPr lang="it-IT" i="1" dirty="0">
                    <a:latin typeface="Times New Roman" panose="02020603050405020304" pitchFamily="18" charset="0"/>
                    <a:ea typeface="Cambria Math" panose="02040503050406030204" pitchFamily="18" charset="0"/>
                    <a:cs typeface="Times New Roman" panose="02020603050405020304" pitchFamily="18" charset="0"/>
                  </a:rPr>
                  <a:t>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trajectory</a:t>
                </a:r>
                <a:r>
                  <a:rPr lang="it-IT" i="1" dirty="0">
                    <a:latin typeface="Times New Roman" panose="02020603050405020304" pitchFamily="18" charset="0"/>
                    <a:ea typeface="Cambria Math" panose="02040503050406030204" pitchFamily="18" charset="0"/>
                    <a:cs typeface="Times New Roman" panose="02020603050405020304" pitchFamily="18" charset="0"/>
                  </a:rPr>
                  <a:t>’ by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considering</a:t>
                </a:r>
                <a:r>
                  <a:rPr lang="it-IT" i="1" dirty="0">
                    <a:latin typeface="Times New Roman" panose="02020603050405020304" pitchFamily="18" charset="0"/>
                    <a:ea typeface="Cambria Math" panose="02040503050406030204" pitchFamily="18" charset="0"/>
                    <a:cs typeface="Times New Roman" panose="02020603050405020304" pitchFamily="18" charset="0"/>
                  </a:rPr>
                  <a:t> the one-step </a:t>
                </a:r>
                <a:r>
                  <a:rPr lang="it-IT" i="1" dirty="0" err="1">
                    <a:latin typeface="Times New Roman" panose="02020603050405020304" pitchFamily="18" charset="0"/>
                    <a:ea typeface="Cambria Math" panose="02040503050406030204" pitchFamily="18" charset="0"/>
                    <a:cs typeface="Times New Roman" panose="02020603050405020304" pitchFamily="18" charset="0"/>
                  </a:rPr>
                  <a:t>prediction</a:t>
                </a:r>
                <a:r>
                  <a:rPr lang="it-IT" i="1" dirty="0">
                    <a:latin typeface="Times New Roman" panose="02020603050405020304" pitchFamily="18" charset="0"/>
                    <a:ea typeface="Cambria Math" panose="02040503050406030204" pitchFamily="18" charset="0"/>
                    <a:cs typeface="Times New Roman" panose="02020603050405020304" pitchFamily="18" charset="0"/>
                  </a:rPr>
                  <a:t>.</a:t>
                </a:r>
              </a:p>
              <a:p>
                <a:pPr algn="just"/>
                <a:r>
                  <a:rPr lang="en-US" i="1" dirty="0">
                    <a:latin typeface="Times New Roman" panose="02020603050405020304" pitchFamily="18" charset="0"/>
                    <a:ea typeface="Cambria Math" panose="02040503050406030204" pitchFamily="18" charset="0"/>
                    <a:cs typeface="Times New Roman" panose="02020603050405020304" pitchFamily="18" charset="0"/>
                  </a:rPr>
                  <a:t>A reinforcement learning task that satisfies the Markov property is called a Finite Markov Decision Process, where finite stands for describing that the action and the state spaces are finite.</a:t>
                </a:r>
                <a:endParaRPr lang="it-IT" i="1"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2" name="CasellaDiTesto 1">
                <a:extLst>
                  <a:ext uri="{FF2B5EF4-FFF2-40B4-BE49-F238E27FC236}">
                    <a16:creationId xmlns:a16="http://schemas.microsoft.com/office/drawing/2014/main" id="{5260B01B-E73D-51E4-6E03-3307D97C5B95}"/>
                  </a:ext>
                </a:extLst>
              </p:cNvPr>
              <p:cNvSpPr txBox="1">
                <a:spLocks noRot="1" noChangeAspect="1" noMove="1" noResize="1" noEditPoints="1" noAdjustHandles="1" noChangeArrowheads="1" noChangeShapeType="1" noTextEdit="1"/>
              </p:cNvSpPr>
              <p:nvPr/>
            </p:nvSpPr>
            <p:spPr>
              <a:xfrm>
                <a:off x="293802" y="1720840"/>
                <a:ext cx="11604396" cy="3970318"/>
              </a:xfrm>
              <a:prstGeom prst="rect">
                <a:avLst/>
              </a:prstGeom>
              <a:blipFill>
                <a:blip r:embed="rId2"/>
                <a:stretch>
                  <a:fillRect l="-420" t="-767" r="-420" b="-1380"/>
                </a:stretch>
              </a:blipFill>
            </p:spPr>
            <p:txBody>
              <a:bodyPr/>
              <a:lstStyle/>
              <a:p>
                <a:r>
                  <a:rPr lang="it-IT">
                    <a:noFill/>
                  </a:rPr>
                  <a:t> </a:t>
                </a:r>
              </a:p>
            </p:txBody>
          </p:sp>
        </mc:Fallback>
      </mc:AlternateContent>
    </p:spTree>
    <p:extLst>
      <p:ext uri="{BB962C8B-B14F-4D97-AF65-F5344CB8AC3E}">
        <p14:creationId xmlns:p14="http://schemas.microsoft.com/office/powerpoint/2010/main" val="3772516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3C7D1B-1D58-77B0-8C3A-D45F098B3E23}"/>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magine 8" descr="Immagine che contiene linea, notte, arte&#10;&#10;Il contenuto generato dall'IA potrebbe non essere corretto.">
            <a:extLst>
              <a:ext uri="{FF2B5EF4-FFF2-40B4-BE49-F238E27FC236}">
                <a16:creationId xmlns:a16="http://schemas.microsoft.com/office/drawing/2014/main" id="{2B49C32D-DAAE-8CA6-6364-AC74F43B73B7}"/>
              </a:ext>
            </a:extLst>
          </p:cNvPr>
          <p:cNvPicPr>
            <a:picLocks noChangeAspect="1"/>
          </p:cNvPicPr>
          <p:nvPr/>
        </p:nvPicPr>
        <p:blipFill>
          <a:blip r:embed="rId2">
            <a:alphaModFix/>
            <a:extLst>
              <a:ext uri="{28A0092B-C50C-407E-A947-70E740481C1C}">
                <a14:useLocalDpi xmlns:a14="http://schemas.microsoft.com/office/drawing/2010/main" val="0"/>
              </a:ext>
            </a:extLst>
          </a:blip>
          <a:srcRect t="2156" b="20789"/>
          <a:stretch>
            <a:fillRect/>
          </a:stretch>
        </p:blipFill>
        <p:spPr>
          <a:xfrm>
            <a:off x="20" y="10"/>
            <a:ext cx="12191980" cy="6857985"/>
          </a:xfrm>
          <a:prstGeom prst="rect">
            <a:avLst/>
          </a:prstGeom>
        </p:spPr>
      </p:pic>
      <p:sp>
        <p:nvSpPr>
          <p:cNvPr id="20" name="Rectangle 19">
            <a:extLst>
              <a:ext uri="{FF2B5EF4-FFF2-40B4-BE49-F238E27FC236}">
                <a16:creationId xmlns:a16="http://schemas.microsoft.com/office/drawing/2014/main" id="{38390362-5868-4DF6-BD74-91C72884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35382" y="-1298619"/>
            <a:ext cx="4121238" cy="12191998"/>
          </a:xfrm>
          <a:prstGeom prst="rect">
            <a:avLst/>
          </a:prstGeom>
          <a:gradFill flip="none" rotWithShape="1">
            <a:gsLst>
              <a:gs pos="36000">
                <a:srgbClr val="000000">
                  <a:alpha val="26000"/>
                </a:srgbClr>
              </a:gs>
              <a:gs pos="0">
                <a:srgbClr val="000000">
                  <a:alpha val="0"/>
                </a:srgbClr>
              </a:gs>
              <a:gs pos="61000">
                <a:srgbClr val="0E0D12">
                  <a:alpha val="58000"/>
                </a:srgbClr>
              </a:gs>
              <a:gs pos="88000">
                <a:srgbClr val="000000">
                  <a:alpha val="58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CCDF355-1757-5D3B-7843-9B26B7F7563C}"/>
              </a:ext>
            </a:extLst>
          </p:cNvPr>
          <p:cNvSpPr txBox="1"/>
          <p:nvPr/>
        </p:nvSpPr>
        <p:spPr>
          <a:xfrm>
            <a:off x="914400" y="4142790"/>
            <a:ext cx="6835698" cy="1855646"/>
          </a:xfrm>
          <a:prstGeom prst="rect">
            <a:avLst/>
          </a:prstGeom>
        </p:spPr>
        <p:txBody>
          <a:bodyPr vert="horz" lIns="91440" tIns="45720" rIns="91440" bIns="45720" rtlCol="0" anchor="b">
            <a:normAutofit/>
          </a:bodyPr>
          <a:lstStyle/>
          <a:p>
            <a:pPr>
              <a:spcBef>
                <a:spcPct val="0"/>
              </a:spcBef>
              <a:spcAft>
                <a:spcPts val="600"/>
              </a:spcAft>
            </a:pPr>
            <a:r>
              <a:rPr lang="en-US" sz="5400" b="1" i="1" kern="1200">
                <a:solidFill>
                  <a:srgbClr val="FFFFFF"/>
                </a:solidFill>
                <a:latin typeface="+mj-lt"/>
                <a:ea typeface="+mj-ea"/>
                <a:cs typeface="+mj-cs"/>
              </a:rPr>
              <a:t>Application</a:t>
            </a:r>
          </a:p>
        </p:txBody>
      </p:sp>
      <p:cxnSp>
        <p:nvCxnSpPr>
          <p:cNvPr id="22" name="Straight Connector 21">
            <a:extLst>
              <a:ext uri="{FF2B5EF4-FFF2-40B4-BE49-F238E27FC236}">
                <a16:creationId xmlns:a16="http://schemas.microsoft.com/office/drawing/2014/main" id="{8A5C8BF2-C035-4BFF-8802-A397238344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2570" y="6272784"/>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90550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AB2EFAB1-A9B6-39F0-D1FD-266E3A6931FB}"/>
              </a:ext>
            </a:extLst>
          </p:cNvPr>
          <p:cNvSpPr txBox="1"/>
          <p:nvPr/>
        </p:nvSpPr>
        <p:spPr>
          <a:xfrm>
            <a:off x="646180" y="2671754"/>
            <a:ext cx="11038787" cy="2031325"/>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The </a:t>
            </a:r>
            <a:r>
              <a:rPr lang="it-IT" i="1" dirty="0" err="1">
                <a:latin typeface="Times New Roman" panose="02020603050405020304" pitchFamily="18" charset="0"/>
                <a:cs typeface="Times New Roman" panose="02020603050405020304" pitchFamily="18" charset="0"/>
              </a:rPr>
              <a:t>application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considers</a:t>
            </a:r>
            <a:r>
              <a:rPr lang="it-IT" i="1" dirty="0">
                <a:latin typeface="Times New Roman" panose="02020603050405020304" pitchFamily="18" charset="0"/>
                <a:cs typeface="Times New Roman" panose="02020603050405020304" pitchFamily="18" charset="0"/>
              </a:rPr>
              <a:t> a </a:t>
            </a:r>
            <a:r>
              <a:rPr lang="it-IT" i="1" dirty="0" err="1">
                <a:latin typeface="Times New Roman" panose="02020603050405020304" pitchFamily="18" charset="0"/>
                <a:cs typeface="Times New Roman" panose="02020603050405020304" pitchFamily="18" charset="0"/>
              </a:rPr>
              <a:t>well</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known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problem</a:t>
            </a:r>
            <a:r>
              <a:rPr lang="it-IT" i="1" dirty="0">
                <a:latin typeface="Times New Roman" panose="02020603050405020304" pitchFamily="18" charset="0"/>
                <a:cs typeface="Times New Roman" panose="02020603050405020304" pitchFamily="18" charset="0"/>
              </a:rPr>
              <a:t> in </a:t>
            </a:r>
            <a:r>
              <a:rPr lang="it-IT" i="1" dirty="0" err="1">
                <a:latin typeface="Times New Roman" panose="02020603050405020304" pitchFamily="18" charset="0"/>
                <a:cs typeface="Times New Roman" panose="02020603050405020304" pitchFamily="18" charset="0"/>
              </a:rPr>
              <a:t>robotics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obstacle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avoidance</a:t>
            </a:r>
            <a:r>
              <a:rPr lang="it-IT" i="1" dirty="0">
                <a:latin typeface="Times New Roman" panose="02020603050405020304" pitchFamily="18" charset="0"/>
                <a:cs typeface="Times New Roman" panose="02020603050405020304" pitchFamily="18" charset="0"/>
              </a:rPr>
              <a:t>. Given start and goal position of a mobile robot </a:t>
            </a:r>
            <a:r>
              <a:rPr lang="it-IT" i="1" dirty="0" err="1">
                <a:latin typeface="Times New Roman" panose="02020603050405020304" pitchFamily="18" charset="0"/>
                <a:cs typeface="Times New Roman" panose="02020603050405020304" pitchFamily="18" charset="0"/>
              </a:rPr>
              <a:t>we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want</a:t>
            </a:r>
            <a:r>
              <a:rPr lang="it-IT" i="1" dirty="0">
                <a:latin typeface="Times New Roman" panose="02020603050405020304" pitchFamily="18" charset="0"/>
                <a:cs typeface="Times New Roman" panose="02020603050405020304" pitchFamily="18" charset="0"/>
              </a:rPr>
              <a:t> to design a safe </a:t>
            </a:r>
            <a:r>
              <a:rPr lang="it-IT" i="1" dirty="0" err="1">
                <a:latin typeface="Times New Roman" panose="02020603050405020304" pitchFamily="18" charset="0"/>
                <a:cs typeface="Times New Roman" panose="02020603050405020304" pitchFamily="18" charset="0"/>
              </a:rPr>
              <a:t>path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capable</a:t>
            </a:r>
            <a:r>
              <a:rPr lang="it-IT" i="1" dirty="0">
                <a:latin typeface="Times New Roman" panose="02020603050405020304" pitchFamily="18" charset="0"/>
                <a:cs typeface="Times New Roman" panose="02020603050405020304" pitchFamily="18" charset="0"/>
              </a:rPr>
              <a:t> of </a:t>
            </a:r>
            <a:r>
              <a:rPr lang="it-IT" i="1" dirty="0" err="1">
                <a:latin typeface="Times New Roman" panose="02020603050405020304" pitchFamily="18" charset="0"/>
                <a:cs typeface="Times New Roman" panose="02020603050405020304" pitchFamily="18" charset="0"/>
              </a:rPr>
              <a:t>guiding</a:t>
            </a:r>
            <a:r>
              <a:rPr lang="it-IT" i="1" dirty="0">
                <a:latin typeface="Times New Roman" panose="02020603050405020304" pitchFamily="18" charset="0"/>
                <a:cs typeface="Times New Roman" panose="02020603050405020304" pitchFamily="18" charset="0"/>
              </a:rPr>
              <a:t> the robot </a:t>
            </a:r>
            <a:r>
              <a:rPr lang="it-IT" i="1" dirty="0" err="1">
                <a:latin typeface="Times New Roman" panose="02020603050405020304" pitchFamily="18" charset="0"/>
                <a:cs typeface="Times New Roman" panose="02020603050405020304" pitchFamily="18" charset="0"/>
              </a:rPr>
              <a:t>towards</a:t>
            </a:r>
            <a:r>
              <a:rPr lang="it-IT" i="1" dirty="0">
                <a:latin typeface="Times New Roman" panose="02020603050405020304" pitchFamily="18" charset="0"/>
                <a:cs typeface="Times New Roman" panose="02020603050405020304" pitchFamily="18" charset="0"/>
              </a:rPr>
              <a:t> the goal </a:t>
            </a:r>
            <a:r>
              <a:rPr lang="it-IT" i="1" dirty="0" err="1">
                <a:latin typeface="Times New Roman" panose="02020603050405020304" pitchFamily="18" charset="0"/>
                <a:cs typeface="Times New Roman" panose="02020603050405020304" pitchFamily="18" charset="0"/>
              </a:rPr>
              <a:t>avoiding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static</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obstacles</a:t>
            </a:r>
            <a:r>
              <a:rPr lang="it-IT" i="1" dirty="0">
                <a:latin typeface="Times New Roman" panose="02020603050405020304" pitchFamily="18" charset="0"/>
                <a:cs typeface="Times New Roman" panose="02020603050405020304" pitchFamily="18" charset="0"/>
              </a:rPr>
              <a:t> in the </a:t>
            </a:r>
            <a:r>
              <a:rPr lang="it-IT" i="1" dirty="0" err="1">
                <a:latin typeface="Times New Roman" panose="02020603050405020304" pitchFamily="18" charset="0"/>
                <a:cs typeface="Times New Roman" panose="02020603050405020304" pitchFamily="18" charset="0"/>
              </a:rPr>
              <a:t>environment</a:t>
            </a:r>
            <a:r>
              <a:rPr lang="it-IT" i="1" dirty="0">
                <a:latin typeface="Times New Roman" panose="02020603050405020304" pitchFamily="18" charset="0"/>
                <a:cs typeface="Times New Roman" panose="02020603050405020304" pitchFamily="18" charset="0"/>
              </a:rPr>
              <a:t>. To sort off </a:t>
            </a:r>
            <a:r>
              <a:rPr lang="it-IT" i="1" dirty="0" err="1">
                <a:latin typeface="Times New Roman" panose="02020603050405020304" pitchFamily="18" charset="0"/>
                <a:cs typeface="Times New Roman" panose="02020603050405020304" pitchFamily="18" charset="0"/>
              </a:rPr>
              <a:t>this</a:t>
            </a:r>
            <a:r>
              <a:rPr lang="it-IT" i="1" dirty="0">
                <a:latin typeface="Times New Roman" panose="02020603050405020304" pitchFamily="18" charset="0"/>
                <a:cs typeface="Times New Roman" panose="02020603050405020304" pitchFamily="18" charset="0"/>
              </a:rPr>
              <a:t> task, </a:t>
            </a:r>
            <a:r>
              <a:rPr lang="it-IT" i="1" dirty="0" err="1">
                <a:latin typeface="Times New Roman" panose="02020603050405020304" pitchFamily="18" charset="0"/>
                <a:cs typeface="Times New Roman" panose="02020603050405020304" pitchFamily="18" charset="0"/>
              </a:rPr>
              <a:t>many</a:t>
            </a:r>
            <a:r>
              <a:rPr lang="it-IT" i="1" dirty="0">
                <a:latin typeface="Times New Roman" panose="02020603050405020304" pitchFamily="18" charset="0"/>
                <a:cs typeface="Times New Roman" panose="02020603050405020304" pitchFamily="18" charset="0"/>
              </a:rPr>
              <a:t> techniques </a:t>
            </a:r>
            <a:r>
              <a:rPr lang="it-IT" i="1" dirty="0" err="1">
                <a:latin typeface="Times New Roman" panose="02020603050405020304" pitchFamily="18" charset="0"/>
                <a:cs typeface="Times New Roman" panose="02020603050405020304" pitchFamily="18" charset="0"/>
              </a:rPr>
              <a:t>have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been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developed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during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years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belonging</a:t>
            </a:r>
            <a:r>
              <a:rPr lang="it-IT" i="1" dirty="0">
                <a:latin typeface="Times New Roman" panose="02020603050405020304" pitchFamily="18" charset="0"/>
                <a:cs typeface="Times New Roman" panose="02020603050405020304" pitchFamily="18" charset="0"/>
              </a:rPr>
              <a:t> to the so </a:t>
            </a:r>
            <a:r>
              <a:rPr lang="it-IT" i="1" dirty="0" err="1">
                <a:latin typeface="Times New Roman" panose="02020603050405020304" pitchFamily="18" charset="0"/>
                <a:cs typeface="Times New Roman" panose="02020603050405020304" pitchFamily="18" charset="0"/>
              </a:rPr>
              <a:t>called</a:t>
            </a:r>
            <a:r>
              <a:rPr lang="it-IT" i="1" dirty="0">
                <a:latin typeface="Times New Roman" panose="02020603050405020304" pitchFamily="18" charset="0"/>
                <a:cs typeface="Times New Roman" panose="02020603050405020304" pitchFamily="18" charset="0"/>
              </a:rPr>
              <a:t> Planning </a:t>
            </a:r>
            <a:r>
              <a:rPr lang="it-IT" i="1" dirty="0" err="1">
                <a:latin typeface="Times New Roman" panose="02020603050405020304" pitchFamily="18" charset="0"/>
                <a:cs typeface="Times New Roman" panose="02020603050405020304" pitchFamily="18" charset="0"/>
              </a:rPr>
              <a:t>Problem</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Most</a:t>
            </a:r>
            <a:r>
              <a:rPr lang="it-IT" i="1" dirty="0">
                <a:latin typeface="Times New Roman" panose="02020603050405020304" pitchFamily="18" charset="0"/>
                <a:cs typeface="Times New Roman" panose="02020603050405020304" pitchFamily="18" charset="0"/>
              </a:rPr>
              <a:t> of </a:t>
            </a:r>
            <a:r>
              <a:rPr lang="it-IT" i="1" dirty="0" err="1">
                <a:latin typeface="Times New Roman" panose="02020603050405020304" pitchFamily="18" charset="0"/>
                <a:cs typeface="Times New Roman" panose="02020603050405020304" pitchFamily="18" charset="0"/>
              </a:rPr>
              <a:t>them</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considered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optimal</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since</a:t>
            </a:r>
            <a:r>
              <a:rPr lang="it-IT" i="1" dirty="0">
                <a:latin typeface="Times New Roman" panose="02020603050405020304" pitchFamily="18" charset="0"/>
                <a:cs typeface="Times New Roman" panose="02020603050405020304" pitchFamily="18" charset="0"/>
              </a:rPr>
              <a:t> are </a:t>
            </a:r>
            <a:r>
              <a:rPr lang="it-IT" i="1" dirty="0" err="1">
                <a:latin typeface="Times New Roman" panose="02020603050405020304" pitchFamily="18" charset="0"/>
                <a:cs typeface="Times New Roman" panose="02020603050405020304" pitchFamily="18" charset="0"/>
              </a:rPr>
              <a:t>based</a:t>
            </a:r>
            <a:r>
              <a:rPr lang="it-IT" i="1" dirty="0">
                <a:latin typeface="Times New Roman" panose="02020603050405020304" pitchFamily="18" charset="0"/>
                <a:cs typeface="Times New Roman" panose="02020603050405020304" pitchFamily="18" charset="0"/>
              </a:rPr>
              <a:t> on </a:t>
            </a:r>
            <a:r>
              <a:rPr lang="it-IT" i="1" dirty="0" err="1">
                <a:latin typeface="Times New Roman" panose="02020603050405020304" pitchFamily="18" charset="0"/>
                <a:cs typeface="Times New Roman" panose="02020603050405020304" pitchFamily="18" charset="0"/>
              </a:rPr>
              <a:t>optimal</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algorithms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such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as</a:t>
            </a:r>
            <a:r>
              <a:rPr lang="it-IT" i="1" dirty="0">
                <a:latin typeface="Times New Roman" panose="02020603050405020304" pitchFamily="18" charset="0"/>
                <a:cs typeface="Times New Roman" panose="02020603050405020304" pitchFamily="18" charset="0"/>
              </a:rPr>
              <a:t>: A*, </a:t>
            </a:r>
            <a:r>
              <a:rPr lang="it-IT" i="1" dirty="0" err="1">
                <a:latin typeface="Times New Roman" panose="02020603050405020304" pitchFamily="18" charset="0"/>
                <a:cs typeface="Times New Roman" panose="02020603050405020304" pitchFamily="18" charset="0"/>
              </a:rPr>
              <a:t>Djikstra</a:t>
            </a:r>
            <a:r>
              <a:rPr lang="it-IT" i="1" dirty="0">
                <a:latin typeface="Times New Roman" panose="02020603050405020304" pitchFamily="18" charset="0"/>
                <a:cs typeface="Times New Roman" panose="02020603050405020304" pitchFamily="18" charset="0"/>
              </a:rPr>
              <a:t>. In </a:t>
            </a:r>
            <a:r>
              <a:rPr lang="it-IT" i="1" dirty="0" err="1">
                <a:latin typeface="Times New Roman" panose="02020603050405020304" pitchFamily="18" charset="0"/>
                <a:cs typeface="Times New Roman" panose="02020603050405020304" pitchFamily="18" charset="0"/>
              </a:rPr>
              <a:t>this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application</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problem</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faced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differently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indeed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would</a:t>
            </a:r>
            <a:r>
              <a:rPr lang="it-IT" i="1" dirty="0">
                <a:latin typeface="Times New Roman" panose="02020603050405020304" pitchFamily="18" charset="0"/>
                <a:cs typeface="Times New Roman" panose="02020603050405020304" pitchFamily="18" charset="0"/>
              </a:rPr>
              <a:t> like </a:t>
            </a:r>
            <a:r>
              <a:rPr lang="it-IT" i="1" dirty="0" err="1">
                <a:latin typeface="Times New Roman" panose="02020603050405020304" pitchFamily="18" charset="0"/>
                <a:cs typeface="Times New Roman" panose="02020603050405020304" pitchFamily="18" charset="0"/>
              </a:rPr>
              <a:t>obtaining</a:t>
            </a:r>
            <a:r>
              <a:rPr lang="it-IT" i="1" dirty="0">
                <a:latin typeface="Times New Roman" panose="02020603050405020304" pitchFamily="18" charset="0"/>
                <a:cs typeface="Times New Roman" panose="02020603050405020304" pitchFamily="18" charset="0"/>
              </a:rPr>
              <a:t> a safe </a:t>
            </a:r>
            <a:r>
              <a:rPr lang="it-IT" i="1" dirty="0" err="1">
                <a:latin typeface="Times New Roman" panose="02020603050405020304" pitchFamily="18" charset="0"/>
                <a:cs typeface="Times New Roman" panose="02020603050405020304" pitchFamily="18" charset="0"/>
              </a:rPr>
              <a:t>trajectory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computed</a:t>
            </a:r>
            <a:r>
              <a:rPr lang="it-IT" i="1" dirty="0">
                <a:latin typeface="Times New Roman" panose="02020603050405020304" pitchFamily="18" charset="0"/>
                <a:cs typeface="Times New Roman" panose="02020603050405020304" pitchFamily="18" charset="0"/>
              </a:rPr>
              <a:t> by a </a:t>
            </a:r>
            <a:r>
              <a:rPr lang="it-IT" i="1" dirty="0" err="1">
                <a:latin typeface="Times New Roman" panose="02020603050405020304" pitchFamily="18" charset="0"/>
                <a:cs typeface="Times New Roman" panose="02020603050405020304" pitchFamily="18" charset="0"/>
              </a:rPr>
              <a:t>reinforcement</a:t>
            </a:r>
            <a:r>
              <a:rPr lang="it-IT" i="1" dirty="0">
                <a:latin typeface="Times New Roman" panose="02020603050405020304" pitchFamily="18" charset="0"/>
                <a:cs typeface="Times New Roman" panose="02020603050405020304" pitchFamily="18" charset="0"/>
              </a:rPr>
              <a:t> learning </a:t>
            </a:r>
            <a:r>
              <a:rPr lang="it-IT" i="1" dirty="0" err="1">
                <a:latin typeface="Times New Roman" panose="02020603050405020304" pitchFamily="18" charset="0"/>
                <a:cs typeface="Times New Roman" panose="02020603050405020304" pitchFamily="18" charset="0"/>
              </a:rPr>
              <a:t>algorithm</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main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difference</a:t>
            </a:r>
            <a:r>
              <a:rPr lang="it-IT" i="1" dirty="0">
                <a:latin typeface="Times New Roman" panose="02020603050405020304" pitchFamily="18" charset="0"/>
                <a:cs typeface="Times New Roman" panose="02020603050405020304" pitchFamily="18" charset="0"/>
              </a:rPr>
              <a:t> with </a:t>
            </a:r>
            <a:r>
              <a:rPr lang="it-IT" i="1" dirty="0" err="1">
                <a:latin typeface="Times New Roman" panose="02020603050405020304" pitchFamily="18" charset="0"/>
                <a:cs typeface="Times New Roman" panose="02020603050405020304" pitchFamily="18" charset="0"/>
              </a:rPr>
              <a:t>respect</a:t>
            </a:r>
            <a:r>
              <a:rPr lang="it-IT" i="1" dirty="0">
                <a:latin typeface="Times New Roman" panose="02020603050405020304" pitchFamily="18" charset="0"/>
                <a:cs typeface="Times New Roman" panose="02020603050405020304" pitchFamily="18" charset="0"/>
              </a:rPr>
              <a:t> to the planning </a:t>
            </a:r>
            <a:r>
              <a:rPr lang="it-IT" i="1" dirty="0" err="1">
                <a:latin typeface="Times New Roman" panose="02020603050405020304" pitchFamily="18" charset="0"/>
                <a:cs typeface="Times New Roman" panose="02020603050405020304" pitchFamily="18" charset="0"/>
              </a:rPr>
              <a:t>cases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local</a:t>
            </a:r>
            <a:r>
              <a:rPr lang="it-IT" i="1" dirty="0">
                <a:latin typeface="Times New Roman" panose="02020603050405020304" pitchFamily="18" charset="0"/>
                <a:cs typeface="Times New Roman" panose="02020603050405020304" pitchFamily="18" charset="0"/>
              </a:rPr>
              <a:t> point of </a:t>
            </a:r>
            <a:r>
              <a:rPr lang="it-IT" i="1" dirty="0" err="1">
                <a:latin typeface="Times New Roman" panose="02020603050405020304" pitchFamily="18" charset="0"/>
                <a:cs typeface="Times New Roman" panose="02020603050405020304" pitchFamily="18" charset="0"/>
              </a:rPr>
              <a:t>view</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solution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will</a:t>
            </a:r>
            <a:r>
              <a:rPr lang="it-IT" i="1" dirty="0">
                <a:latin typeface="Times New Roman" panose="02020603050405020304" pitchFamily="18" charset="0"/>
                <a:cs typeface="Times New Roman" panose="02020603050405020304" pitchFamily="18" charset="0"/>
              </a:rPr>
              <a:t> be the </a:t>
            </a:r>
            <a:r>
              <a:rPr lang="it-IT" i="1" dirty="0" err="1">
                <a:latin typeface="Times New Roman" panose="02020603050405020304" pitchFamily="18" charset="0"/>
                <a:cs typeface="Times New Roman" panose="02020603050405020304" pitchFamily="18" charset="0"/>
              </a:rPr>
              <a:t>maximization</a:t>
            </a:r>
            <a:r>
              <a:rPr lang="it-IT" i="1" dirty="0">
                <a:latin typeface="Times New Roman" panose="02020603050405020304" pitchFamily="18" charset="0"/>
                <a:cs typeface="Times New Roman" panose="02020603050405020304" pitchFamily="18" charset="0"/>
              </a:rPr>
              <a:t> of the </a:t>
            </a:r>
            <a:r>
              <a:rPr lang="it-IT" i="1" dirty="0" err="1">
                <a:latin typeface="Times New Roman" panose="02020603050405020304" pitchFamily="18" charset="0"/>
                <a:cs typeface="Times New Roman" panose="02020603050405020304" pitchFamily="18" charset="0"/>
              </a:rPr>
              <a:t>expected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due to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action.</a:t>
            </a:r>
          </a:p>
        </p:txBody>
      </p:sp>
      <p:grpSp>
        <p:nvGrpSpPr>
          <p:cNvPr id="13" name="Gruppo 12">
            <a:extLst>
              <a:ext uri="{FF2B5EF4-FFF2-40B4-BE49-F238E27FC236}">
                <a16:creationId xmlns:a16="http://schemas.microsoft.com/office/drawing/2014/main" id="{4975C48F-5F0B-4EB3-330D-7D2190828EB3}"/>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9753EA3C-2C27-0DB9-B7E8-592A990A4098}"/>
                </a:ext>
              </a:extLst>
            </p:cNvPr>
            <p:cNvSpPr/>
            <p:nvPr/>
          </p:nvSpPr>
          <p:spPr>
            <a:xfrm>
              <a:off x="3421934" y="40903"/>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a gallone 7">
              <a:extLst>
                <a:ext uri="{FF2B5EF4-FFF2-40B4-BE49-F238E27FC236}">
                  <a16:creationId xmlns:a16="http://schemas.microsoft.com/office/drawing/2014/main" id="{F441092F-CD22-0997-6D40-0EB85FF1D6E0}"/>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965CA758-A151-6074-29E0-6AA716E756AA}"/>
                </a:ext>
              </a:extLst>
            </p:cNvPr>
            <p:cNvSpPr/>
            <p:nvPr/>
          </p:nvSpPr>
          <p:spPr>
            <a:xfrm>
              <a:off x="6661610"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Freccia a gallone 9">
              <a:extLst>
                <a:ext uri="{FF2B5EF4-FFF2-40B4-BE49-F238E27FC236}">
                  <a16:creationId xmlns:a16="http://schemas.microsoft.com/office/drawing/2014/main" id="{DC198D12-3E41-C099-DF0C-A62DE8CF8675}"/>
                </a:ext>
              </a:extLst>
            </p:cNvPr>
            <p:cNvSpPr/>
            <p:nvPr/>
          </p:nvSpPr>
          <p:spPr>
            <a:xfrm>
              <a:off x="8281448"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1" name="Freccia a gallone 10">
              <a:extLst>
                <a:ext uri="{FF2B5EF4-FFF2-40B4-BE49-F238E27FC236}">
                  <a16:creationId xmlns:a16="http://schemas.microsoft.com/office/drawing/2014/main" id="{1DF3F4ED-B1BF-9498-D68A-88FE451139BC}"/>
                </a:ext>
              </a:extLst>
            </p:cNvPr>
            <p:cNvSpPr/>
            <p:nvPr/>
          </p:nvSpPr>
          <p:spPr>
            <a:xfrm>
              <a:off x="9901286" y="40906"/>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a gallone 11">
              <a:extLst>
                <a:ext uri="{FF2B5EF4-FFF2-40B4-BE49-F238E27FC236}">
                  <a16:creationId xmlns:a16="http://schemas.microsoft.com/office/drawing/2014/main" id="{51EF8C51-A9E0-50A5-1AFC-91AD8E1CCD0E}"/>
                </a:ext>
              </a:extLst>
            </p:cNvPr>
            <p:cNvSpPr/>
            <p:nvPr/>
          </p:nvSpPr>
          <p:spPr>
            <a:xfrm>
              <a:off x="1802096" y="40902"/>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grpSp>
      <p:cxnSp>
        <p:nvCxnSpPr>
          <p:cNvPr id="15" name="Connettore 2 14">
            <a:extLst>
              <a:ext uri="{FF2B5EF4-FFF2-40B4-BE49-F238E27FC236}">
                <a16:creationId xmlns:a16="http://schemas.microsoft.com/office/drawing/2014/main" id="{8502AB92-160B-B432-A8DD-F36D230B8B9A}"/>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3722325C-77CD-EEAC-FB71-EB94CA0C9327}"/>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77B8F04A-EA8A-BD9B-D0D9-1B27AFD2EA99}"/>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99D9CB5F-4C4C-6129-8B99-341D34EBC088}"/>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956A8D9A-112E-79FC-21DA-227D42F20D53}"/>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0FF71AF5-CA1B-9AC1-705A-D759C51B63F4}"/>
              </a:ext>
            </a:extLst>
          </p:cNvPr>
          <p:cNvSpPr txBox="1"/>
          <p:nvPr/>
        </p:nvSpPr>
        <p:spPr>
          <a:xfrm>
            <a:off x="7926183"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33A3161F-24EE-D56E-DC67-81DC6F4EEED6}"/>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49B298E4-FA5F-6D27-B60C-A84DD9C85D6B}"/>
              </a:ext>
            </a:extLst>
          </p:cNvPr>
          <p:cNvSpPr/>
          <p:nvPr/>
        </p:nvSpPr>
        <p:spPr>
          <a:xfrm>
            <a:off x="735495" y="2361556"/>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3339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2DA9-5F1E-EF0D-5178-D62C63E2A394}"/>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20B60077-10E7-C85E-D52E-0F25A14710A7}"/>
              </a:ext>
            </a:extLst>
          </p:cNvPr>
          <p:cNvSpPr txBox="1"/>
          <p:nvPr/>
        </p:nvSpPr>
        <p:spPr>
          <a:xfrm>
            <a:off x="646180" y="2244371"/>
            <a:ext cx="11038787" cy="1477328"/>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The </a:t>
            </a:r>
            <a:r>
              <a:rPr lang="it-IT" i="1" dirty="0" err="1">
                <a:latin typeface="Times New Roman" panose="02020603050405020304" pitchFamily="18" charset="0"/>
                <a:cs typeface="Times New Roman" panose="02020603050405020304" pitchFamily="18" charset="0"/>
              </a:rPr>
              <a:t>environment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represented</a:t>
            </a:r>
            <a:r>
              <a:rPr lang="it-IT" i="1" dirty="0">
                <a:latin typeface="Times New Roman" panose="02020603050405020304" pitchFamily="18" charset="0"/>
                <a:cs typeface="Times New Roman" panose="02020603050405020304" pitchFamily="18" charset="0"/>
              </a:rPr>
              <a:t> by a </a:t>
            </a:r>
            <a:r>
              <a:rPr lang="it-IT" i="1" dirty="0" err="1">
                <a:latin typeface="Times New Roman" panose="02020603050405020304" pitchFamily="18" charset="0"/>
                <a:cs typeface="Times New Roman" panose="02020603050405020304" pitchFamily="18" charset="0"/>
              </a:rPr>
              <a:t>Grid</a:t>
            </a:r>
            <a:r>
              <a:rPr lang="it-IT" i="1" dirty="0">
                <a:latin typeface="Times New Roman" panose="02020603050405020304" pitchFamily="18" charset="0"/>
                <a:cs typeface="Times New Roman" panose="02020603050405020304" pitchFamily="18" charset="0"/>
              </a:rPr>
              <a:t> World Environment. </a:t>
            </a:r>
            <a:r>
              <a:rPr lang="it-IT" i="1" dirty="0" err="1">
                <a:latin typeface="Times New Roman" panose="02020603050405020304" pitchFamily="18" charset="0"/>
                <a:cs typeface="Times New Roman" panose="02020603050405020304" pitchFamily="18" charset="0"/>
              </a:rPr>
              <a:t>Starting</a:t>
            </a:r>
            <a:r>
              <a:rPr lang="it-IT" i="1" dirty="0">
                <a:latin typeface="Times New Roman" panose="02020603050405020304" pitchFamily="18" charset="0"/>
                <a:cs typeface="Times New Roman" panose="02020603050405020304" pitchFamily="18" charset="0"/>
              </a:rPr>
              <a:t> from a </a:t>
            </a:r>
            <a:r>
              <a:rPr lang="it-IT" i="1" dirty="0" err="1">
                <a:latin typeface="Times New Roman" panose="02020603050405020304" pitchFamily="18" charset="0"/>
                <a:cs typeface="Times New Roman" panose="02020603050405020304" pitchFamily="18" charset="0"/>
              </a:rPr>
              <a:t>predefined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grid</a:t>
            </a:r>
            <a:r>
              <a:rPr lang="it-IT" i="1" dirty="0">
                <a:latin typeface="Times New Roman" panose="02020603050405020304" pitchFamily="18" charset="0"/>
                <a:cs typeface="Times New Roman" panose="02020603050405020304" pitchFamily="18" charset="0"/>
              </a:rPr>
              <a:t> world </a:t>
            </a:r>
            <a:r>
              <a:rPr lang="it-IT" i="1" dirty="0" err="1">
                <a:latin typeface="Times New Roman" panose="02020603050405020304" pitchFamily="18" charset="0"/>
                <a:cs typeface="Times New Roman" panose="02020603050405020304" pitchFamily="18" charset="0"/>
              </a:rPr>
              <a:t>matlab</a:t>
            </a:r>
            <a:r>
              <a:rPr lang="it-IT" i="1" dirty="0">
                <a:latin typeface="Times New Roman" panose="02020603050405020304" pitchFamily="18" charset="0"/>
                <a:cs typeface="Times New Roman" panose="02020603050405020304" pitchFamily="18" charset="0"/>
              </a:rPr>
              <a:t> model,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possible</a:t>
            </a:r>
            <a:r>
              <a:rPr lang="it-IT" i="1" dirty="0">
                <a:latin typeface="Times New Roman" panose="02020603050405020304" pitchFamily="18" charset="0"/>
                <a:cs typeface="Times New Roman" panose="02020603050405020304" pitchFamily="18" charset="0"/>
              </a:rPr>
              <a:t> to create a custom </a:t>
            </a:r>
            <a:r>
              <a:rPr lang="it-IT" i="1" dirty="0" err="1">
                <a:latin typeface="Times New Roman" panose="02020603050405020304" pitchFamily="18" charset="0"/>
                <a:cs typeface="Times New Roman" panose="02020603050405020304" pitchFamily="18" charset="0"/>
              </a:rPr>
              <a:t>environment</a:t>
            </a:r>
            <a:r>
              <a:rPr lang="it-IT" i="1" dirty="0">
                <a:latin typeface="Times New Roman" panose="02020603050405020304" pitchFamily="18" charset="0"/>
                <a:cs typeface="Times New Roman" panose="02020603050405020304" pitchFamily="18" charset="0"/>
              </a:rPr>
              <a:t> by </a:t>
            </a:r>
            <a:r>
              <a:rPr lang="it-IT" i="1" dirty="0" err="1">
                <a:latin typeface="Times New Roman" panose="02020603050405020304" pitchFamily="18" charset="0"/>
                <a:cs typeface="Times New Roman" panose="02020603050405020304" pitchFamily="18" charset="0"/>
              </a:rPr>
              <a:t>defining</a:t>
            </a:r>
            <a:r>
              <a:rPr lang="it-IT" i="1" dirty="0">
                <a:latin typeface="Times New Roman" panose="02020603050405020304" pitchFamily="18" charset="0"/>
                <a:cs typeface="Times New Roman" panose="02020603050405020304" pitchFamily="18" charset="0"/>
              </a:rPr>
              <a:t> custom </a:t>
            </a:r>
            <a:r>
              <a:rPr lang="it-IT" b="1" i="1" dirty="0">
                <a:latin typeface="Times New Roman" panose="02020603050405020304" pitchFamily="18" charset="0"/>
                <a:cs typeface="Times New Roman" panose="02020603050405020304" pitchFamily="18" charset="0"/>
              </a:rPr>
              <a:t>step</a:t>
            </a:r>
            <a:r>
              <a:rPr lang="it-IT" i="1" dirty="0">
                <a:latin typeface="Times New Roman" panose="02020603050405020304" pitchFamily="18" charset="0"/>
                <a:cs typeface="Times New Roman" panose="02020603050405020304" pitchFamily="18" charset="0"/>
              </a:rPr>
              <a:t> and </a:t>
            </a:r>
            <a:r>
              <a:rPr lang="it-IT" b="1" i="1" dirty="0">
                <a:latin typeface="Times New Roman" panose="02020603050405020304" pitchFamily="18" charset="0"/>
                <a:cs typeface="Times New Roman" panose="02020603050405020304" pitchFamily="18" charset="0"/>
              </a:rPr>
              <a:t>reset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functions</a:t>
            </a:r>
            <a:r>
              <a:rPr lang="it-IT" i="1" dirty="0">
                <a:latin typeface="Times New Roman" panose="02020603050405020304" pitchFamily="18" charset="0"/>
                <a:cs typeface="Times New Roman" panose="02020603050405020304" pitchFamily="18" charset="0"/>
              </a:rPr>
              <a:t>. Step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used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step of an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to decide the action to be </a:t>
            </a:r>
            <a:r>
              <a:rPr lang="it-IT" i="1" dirty="0" err="1">
                <a:latin typeface="Times New Roman" panose="02020603050405020304" pitchFamily="18" charset="0"/>
                <a:cs typeface="Times New Roman" panose="02020603050405020304" pitchFamily="18" charset="0"/>
              </a:rPr>
              <a:t>performed</a:t>
            </a:r>
            <a:r>
              <a:rPr lang="it-IT" i="1" dirty="0">
                <a:latin typeface="Times New Roman" panose="02020603050405020304" pitchFamily="18" charset="0"/>
                <a:cs typeface="Times New Roman" panose="02020603050405020304" pitchFamily="18" charset="0"/>
              </a:rPr>
              <a:t> and to </a:t>
            </a:r>
            <a:r>
              <a:rPr lang="it-IT" i="1" dirty="0" err="1">
                <a:latin typeface="Times New Roman" panose="02020603050405020304" pitchFamily="18" charset="0"/>
                <a:cs typeface="Times New Roman" panose="02020603050405020304" pitchFamily="18" charset="0"/>
              </a:rPr>
              <a:t>obtain</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corresponding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The reset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establishes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initial</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condition</a:t>
            </a:r>
            <a:r>
              <a:rPr lang="it-IT" i="1" dirty="0">
                <a:latin typeface="Times New Roman" panose="02020603050405020304" pitchFamily="18" charset="0"/>
                <a:cs typeface="Times New Roman" panose="02020603050405020304" pitchFamily="18" charset="0"/>
              </a:rPr>
              <a:t> for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run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every</a:t>
            </a:r>
            <a:r>
              <a:rPr lang="it-IT" i="1" dirty="0">
                <a:latin typeface="Times New Roman" panose="02020603050405020304" pitchFamily="18" charset="0"/>
                <a:cs typeface="Times New Roman" panose="02020603050405020304" pitchFamily="18" charset="0"/>
              </a:rPr>
              <a:t> time an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ends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environment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 </a:t>
            </a:r>
            <a:r>
              <a:rPr lang="it-IT" b="1" i="1" dirty="0">
                <a:latin typeface="Times New Roman" panose="02020603050405020304" pitchFamily="18" charset="0"/>
                <a:cs typeface="Times New Roman" panose="02020603050405020304" pitchFamily="18" charset="0"/>
              </a:rPr>
              <a:t>25x25 </a:t>
            </a:r>
            <a:r>
              <a:rPr lang="it-IT" i="1" dirty="0" err="1">
                <a:latin typeface="Times New Roman" panose="02020603050405020304" pitchFamily="18" charset="0"/>
                <a:cs typeface="Times New Roman" panose="02020603050405020304" pitchFamily="18" charset="0"/>
              </a:rPr>
              <a:t>cells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represented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as</a:t>
            </a:r>
            <a:r>
              <a:rPr lang="it-IT" i="1" dirty="0">
                <a:latin typeface="Times New Roman" panose="02020603050405020304" pitchFamily="18" charset="0"/>
                <a:cs typeface="Times New Roman" panose="02020603050405020304" pitchFamily="18" charset="0"/>
              </a:rPr>
              <a:t> follows:</a:t>
            </a:r>
          </a:p>
        </p:txBody>
      </p:sp>
      <p:grpSp>
        <p:nvGrpSpPr>
          <p:cNvPr id="13" name="Gruppo 12">
            <a:extLst>
              <a:ext uri="{FF2B5EF4-FFF2-40B4-BE49-F238E27FC236}">
                <a16:creationId xmlns:a16="http://schemas.microsoft.com/office/drawing/2014/main" id="{953622ED-BF8F-813D-41EF-FA0615AF7FCB}"/>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01B6DC54-8055-3EBA-8AEA-F41D1C2D233F}"/>
                </a:ext>
              </a:extLst>
            </p:cNvPr>
            <p:cNvSpPr/>
            <p:nvPr/>
          </p:nvSpPr>
          <p:spPr>
            <a:xfrm>
              <a:off x="3421934" y="40903"/>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8" name="Freccia a gallone 7">
              <a:extLst>
                <a:ext uri="{FF2B5EF4-FFF2-40B4-BE49-F238E27FC236}">
                  <a16:creationId xmlns:a16="http://schemas.microsoft.com/office/drawing/2014/main" id="{30920A55-B73C-4C47-9FF6-20BEC431527D}"/>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CD35FF06-180D-C1FD-EB72-FA6F8CE357B3}"/>
                </a:ext>
              </a:extLst>
            </p:cNvPr>
            <p:cNvSpPr/>
            <p:nvPr/>
          </p:nvSpPr>
          <p:spPr>
            <a:xfrm>
              <a:off x="6661610"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Freccia a gallone 9">
              <a:extLst>
                <a:ext uri="{FF2B5EF4-FFF2-40B4-BE49-F238E27FC236}">
                  <a16:creationId xmlns:a16="http://schemas.microsoft.com/office/drawing/2014/main" id="{9C49828D-47E8-A7DA-5124-EA94E5AC9188}"/>
                </a:ext>
              </a:extLst>
            </p:cNvPr>
            <p:cNvSpPr/>
            <p:nvPr/>
          </p:nvSpPr>
          <p:spPr>
            <a:xfrm>
              <a:off x="8281448"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1" name="Freccia a gallone 10">
              <a:extLst>
                <a:ext uri="{FF2B5EF4-FFF2-40B4-BE49-F238E27FC236}">
                  <a16:creationId xmlns:a16="http://schemas.microsoft.com/office/drawing/2014/main" id="{CAC80184-425C-9D83-531E-626514B02CA0}"/>
                </a:ext>
              </a:extLst>
            </p:cNvPr>
            <p:cNvSpPr/>
            <p:nvPr/>
          </p:nvSpPr>
          <p:spPr>
            <a:xfrm>
              <a:off x="9901286" y="40906"/>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a gallone 11">
              <a:extLst>
                <a:ext uri="{FF2B5EF4-FFF2-40B4-BE49-F238E27FC236}">
                  <a16:creationId xmlns:a16="http://schemas.microsoft.com/office/drawing/2014/main" id="{698CE1EB-3FA9-BF6D-384E-8F1ED70686F4}"/>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E763868E-495B-0ACD-6E64-6E27133BE82F}"/>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7986B477-A6B9-C94D-1CC1-1C8B5CB10433}"/>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EE2115A7-9D2A-8636-2307-F64C788B8172}"/>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CC667D96-BD97-FFD3-4FFE-BD201861E2F4}"/>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86C1C3E2-E11C-F302-8A7C-57614653AD70}"/>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8763E581-2AA9-6EB4-06D9-9470F877D418}"/>
              </a:ext>
            </a:extLst>
          </p:cNvPr>
          <p:cNvSpPr txBox="1"/>
          <p:nvPr/>
        </p:nvSpPr>
        <p:spPr>
          <a:xfrm>
            <a:off x="7926183"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4F831100-9106-58F3-EE4D-FBAADB7EF2C1}"/>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A2FE6B99-9C40-9AEE-521B-7AD692FAC2C2}"/>
              </a:ext>
            </a:extLst>
          </p:cNvPr>
          <p:cNvSpPr/>
          <p:nvPr/>
        </p:nvSpPr>
        <p:spPr>
          <a:xfrm>
            <a:off x="735495" y="1934173"/>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Immagine 3" descr="Immagine che contiene quadrato, schermata, Rettangolo, linea&#10;&#10;Il contenuto generato dall'IA potrebbe non essere corretto.">
            <a:extLst>
              <a:ext uri="{FF2B5EF4-FFF2-40B4-BE49-F238E27FC236}">
                <a16:creationId xmlns:a16="http://schemas.microsoft.com/office/drawing/2014/main" id="{E870ED9F-519F-9DA7-3087-E3C23AF30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280" y="3555586"/>
            <a:ext cx="2804598" cy="2787559"/>
          </a:xfrm>
          <a:prstGeom prst="rect">
            <a:avLst/>
          </a:prstGeom>
        </p:spPr>
      </p:pic>
      <p:sp>
        <p:nvSpPr>
          <p:cNvPr id="6" name="CasellaDiTesto 5">
            <a:extLst>
              <a:ext uri="{FF2B5EF4-FFF2-40B4-BE49-F238E27FC236}">
                <a16:creationId xmlns:a16="http://schemas.microsoft.com/office/drawing/2014/main" id="{51B28740-DF77-E518-61CF-7A937BCE0118}"/>
              </a:ext>
            </a:extLst>
          </p:cNvPr>
          <p:cNvSpPr txBox="1"/>
          <p:nvPr/>
        </p:nvSpPr>
        <p:spPr>
          <a:xfrm>
            <a:off x="6762774" y="4214191"/>
            <a:ext cx="4420296" cy="1200329"/>
          </a:xfrm>
          <a:prstGeom prst="rect">
            <a:avLst/>
          </a:prstGeom>
          <a:noFill/>
        </p:spPr>
        <p:txBody>
          <a:bodyPr wrap="square" rtlCol="0">
            <a:spAutoFit/>
          </a:bodyPr>
          <a:lstStyle/>
          <a:p>
            <a:pPr marL="285750" indent="-285750" algn="just">
              <a:buFont typeface="Arial" panose="020B0604020202020204" pitchFamily="34" charset="0"/>
              <a:buChar char="•"/>
            </a:pPr>
            <a:r>
              <a:rPr lang="it-IT" i="1" dirty="0">
                <a:latin typeface="Times New Roman" panose="02020603050405020304" pitchFamily="18" charset="0"/>
                <a:cs typeface="Times New Roman" panose="02020603050405020304" pitchFamily="18" charset="0"/>
              </a:rPr>
              <a:t>The start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located</a:t>
            </a:r>
            <a:r>
              <a:rPr lang="it-IT" i="1" dirty="0">
                <a:latin typeface="Times New Roman" panose="02020603050405020304" pitchFamily="18" charset="0"/>
                <a:cs typeface="Times New Roman" panose="02020603050405020304" pitchFamily="18" charset="0"/>
              </a:rPr>
              <a:t> in position </a:t>
            </a:r>
            <a:r>
              <a:rPr lang="it-IT" b="1" i="1" dirty="0">
                <a:latin typeface="Times New Roman" panose="02020603050405020304" pitchFamily="18" charset="0"/>
                <a:cs typeface="Times New Roman" panose="02020603050405020304" pitchFamily="18" charset="0"/>
              </a:rPr>
              <a:t>(1,1)</a:t>
            </a:r>
            <a:r>
              <a:rPr lang="it-IT" i="1"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it-IT" i="1" dirty="0">
                <a:latin typeface="Times New Roman" panose="02020603050405020304" pitchFamily="18" charset="0"/>
                <a:cs typeface="Times New Roman" panose="02020603050405020304" pitchFamily="18" charset="0"/>
              </a:rPr>
              <a:t>The goal in </a:t>
            </a:r>
            <a:r>
              <a:rPr lang="it-IT" i="1" dirty="0" err="1">
                <a:latin typeface="Times New Roman" panose="02020603050405020304" pitchFamily="18" charset="0"/>
                <a:cs typeface="Times New Roman" panose="02020603050405020304" pitchFamily="18" charset="0"/>
              </a:rPr>
              <a:t>this</a:t>
            </a:r>
            <a:r>
              <a:rPr lang="it-IT" i="1" dirty="0">
                <a:latin typeface="Times New Roman" panose="02020603050405020304" pitchFamily="18" charset="0"/>
                <a:cs typeface="Times New Roman" panose="02020603050405020304" pitchFamily="18" charset="0"/>
              </a:rPr>
              <a:t> easy </a:t>
            </a:r>
            <a:r>
              <a:rPr lang="it-IT" i="1" dirty="0" err="1">
                <a:latin typeface="Times New Roman" panose="02020603050405020304" pitchFamily="18" charset="0"/>
                <a:cs typeface="Times New Roman" panose="02020603050405020304" pitchFamily="18" charset="0"/>
              </a:rPr>
              <a:t>configuration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in </a:t>
            </a:r>
            <a:r>
              <a:rPr lang="it-IT" b="1" i="1" dirty="0">
                <a:latin typeface="Times New Roman" panose="02020603050405020304" pitchFamily="18" charset="0"/>
                <a:cs typeface="Times New Roman" panose="02020603050405020304" pitchFamily="18" charset="0"/>
              </a:rPr>
              <a:t>(1,25)</a:t>
            </a:r>
            <a:r>
              <a:rPr lang="it-IT" i="1"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it-IT" i="1" dirty="0">
                <a:latin typeface="Times New Roman" panose="02020603050405020304" pitchFamily="18" charset="0"/>
                <a:cs typeface="Times New Roman" panose="02020603050405020304" pitchFamily="18" charset="0"/>
              </a:rPr>
              <a:t>Black </a:t>
            </a:r>
            <a:r>
              <a:rPr lang="it-IT" i="1" dirty="0" err="1">
                <a:latin typeface="Times New Roman" panose="02020603050405020304" pitchFamily="18" charset="0"/>
                <a:cs typeface="Times New Roman" panose="02020603050405020304" pitchFamily="18" charset="0"/>
              </a:rPr>
              <a:t>cells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represent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occupied</a:t>
            </a:r>
            <a:r>
              <a:rPr lang="it-IT" i="1" dirty="0">
                <a:latin typeface="Times New Roman" panose="02020603050405020304" pitchFamily="18" charset="0"/>
                <a:cs typeface="Times New Roman" panose="02020603050405020304" pitchFamily="18" charset="0"/>
              </a:rPr>
              <a:t> positions.</a:t>
            </a:r>
          </a:p>
        </p:txBody>
      </p:sp>
    </p:spTree>
    <p:extLst>
      <p:ext uri="{BB962C8B-B14F-4D97-AF65-F5344CB8AC3E}">
        <p14:creationId xmlns:p14="http://schemas.microsoft.com/office/powerpoint/2010/main" val="3475698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EA5A2-C739-3D33-DEA6-2FB05378AA5E}"/>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C1E02FD1-106B-22B5-41FD-79E76DC1EF61}"/>
              </a:ext>
            </a:extLst>
          </p:cNvPr>
          <p:cNvSpPr txBox="1"/>
          <p:nvPr/>
        </p:nvSpPr>
        <p:spPr>
          <a:xfrm>
            <a:off x="646181" y="2015774"/>
            <a:ext cx="8910156" cy="5078313"/>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Inside the step and reset </a:t>
            </a:r>
            <a:r>
              <a:rPr lang="it-IT" i="1" dirty="0" err="1">
                <a:latin typeface="Times New Roman" panose="02020603050405020304" pitchFamily="18" charset="0"/>
                <a:cs typeface="Times New Roman" panose="02020603050405020304" pitchFamily="18" charset="0"/>
              </a:rPr>
              <a:t>functions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possible</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manage</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evolution</a:t>
            </a:r>
            <a:r>
              <a:rPr lang="it-IT" i="1" dirty="0">
                <a:latin typeface="Times New Roman" panose="02020603050405020304" pitchFamily="18" charset="0"/>
                <a:cs typeface="Times New Roman" panose="02020603050405020304" pitchFamily="18" charset="0"/>
              </a:rPr>
              <a:t> of the agent:</a:t>
            </a:r>
          </a:p>
          <a:p>
            <a:pPr marL="285750" indent="-285750" algn="just">
              <a:buFont typeface="Arial" panose="020B0604020202020204" pitchFamily="34" charset="0"/>
              <a:buChar char="•"/>
            </a:pPr>
            <a:r>
              <a:rPr lang="it-IT" i="1" dirty="0">
                <a:latin typeface="Times New Roman" panose="02020603050405020304" pitchFamily="18" charset="0"/>
                <a:cs typeface="Times New Roman" panose="02020603050405020304" pitchFamily="18" charset="0"/>
              </a:rPr>
              <a:t> </a:t>
            </a:r>
            <a:r>
              <a:rPr lang="it-IT" b="1" i="1" dirty="0">
                <a:latin typeface="Times New Roman" panose="02020603050405020304" pitchFamily="18" charset="0"/>
                <a:cs typeface="Times New Roman" panose="02020603050405020304" pitchFamily="18" charset="0"/>
              </a:rPr>
              <a:t>Reset </a:t>
            </a:r>
            <a:r>
              <a:rPr lang="it-IT" b="1" i="1" dirty="0" err="1">
                <a:latin typeface="Times New Roman" panose="02020603050405020304" pitchFamily="18" charset="0"/>
                <a:cs typeface="Times New Roman" panose="02020603050405020304" pitchFamily="18" charset="0"/>
              </a:rPr>
              <a:t>Function</a:t>
            </a:r>
            <a:r>
              <a:rPr lang="it-IT" b="1" i="1"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it-IT" b="1" i="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b="1" i="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Step </a:t>
            </a:r>
            <a:r>
              <a:rPr lang="it-IT" b="1" i="1" dirty="0" err="1">
                <a:latin typeface="Times New Roman" panose="02020603050405020304" pitchFamily="18" charset="0"/>
                <a:cs typeface="Times New Roman" panose="02020603050405020304" pitchFamily="18" charset="0"/>
              </a:rPr>
              <a:t>Function</a:t>
            </a:r>
            <a:r>
              <a:rPr lang="it-IT" b="1" i="1" dirty="0">
                <a:latin typeface="Times New Roman" panose="02020603050405020304" pitchFamily="18" charset="0"/>
                <a:cs typeface="Times New Roman" panose="02020603050405020304" pitchFamily="18" charset="0"/>
              </a:rPr>
              <a:t>:</a:t>
            </a:r>
          </a:p>
          <a:p>
            <a:pPr algn="just"/>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core of the </a:t>
            </a:r>
            <a:r>
              <a:rPr lang="it-IT" i="1" dirty="0" err="1">
                <a:latin typeface="Times New Roman" panose="02020603050405020304" pitchFamily="18" charset="0"/>
                <a:cs typeface="Times New Roman" panose="02020603050405020304" pitchFamily="18" charset="0"/>
              </a:rPr>
              <a:t>evolution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during</a:t>
            </a:r>
            <a:r>
              <a:rPr lang="it-IT" i="1" dirty="0">
                <a:latin typeface="Times New Roman" panose="02020603050405020304" pitchFamily="18" charset="0"/>
                <a:cs typeface="Times New Roman" panose="02020603050405020304" pitchFamily="18" charset="0"/>
              </a:rPr>
              <a:t> an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The agent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allowed</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choose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between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four</a:t>
            </a:r>
            <a:r>
              <a:rPr lang="it-IT" i="1" dirty="0">
                <a:latin typeface="Times New Roman" panose="02020603050405020304" pitchFamily="18" charset="0"/>
                <a:cs typeface="Times New Roman" panose="02020603050405020304" pitchFamily="18" charset="0"/>
              </a:rPr>
              <a:t> actions </a:t>
            </a:r>
            <a:r>
              <a:rPr lang="it-IT" i="1" dirty="0" err="1">
                <a:latin typeface="Times New Roman" panose="02020603050405020304" pitchFamily="18" charset="0"/>
                <a:cs typeface="Times New Roman" panose="02020603050405020304" pitchFamily="18" charset="0"/>
              </a:rPr>
              <a:t>which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represent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movements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along</a:t>
            </a:r>
            <a:r>
              <a:rPr lang="it-IT" i="1" dirty="0">
                <a:latin typeface="Times New Roman" panose="02020603050405020304" pitchFamily="18" charset="0"/>
                <a:cs typeface="Times New Roman" panose="02020603050405020304" pitchFamily="18" charset="0"/>
              </a:rPr>
              <a:t> the cardinal </a:t>
            </a:r>
            <a:r>
              <a:rPr lang="it-IT" i="1" dirty="0" err="1">
                <a:latin typeface="Times New Roman" panose="02020603050405020304" pitchFamily="18" charset="0"/>
                <a:cs typeface="Times New Roman" panose="02020603050405020304" pitchFamily="18" charset="0"/>
              </a:rPr>
              <a:t>directions</a:t>
            </a:r>
            <a:r>
              <a:rPr lang="it-IT"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north</a:t>
            </a:r>
            <a:r>
              <a:rPr lang="it-IT" i="1" dirty="0" err="1">
                <a:latin typeface="Times New Roman" panose="02020603050405020304" pitchFamily="18" charset="0"/>
                <a:cs typeface="Times New Roman" panose="02020603050405020304" pitchFamily="18" charset="0"/>
              </a:rPr>
              <a:t>,</a:t>
            </a:r>
            <a:r>
              <a:rPr lang="it-IT" b="1" i="1" dirty="0" err="1">
                <a:latin typeface="Times New Roman" panose="02020603050405020304" pitchFamily="18" charset="0"/>
                <a:cs typeface="Times New Roman" panose="02020603050405020304" pitchFamily="18" charset="0"/>
              </a:rPr>
              <a:t>south</a:t>
            </a:r>
            <a:r>
              <a:rPr lang="it-IT" i="1" dirty="0" err="1">
                <a:latin typeface="Times New Roman" panose="02020603050405020304" pitchFamily="18" charset="0"/>
                <a:cs typeface="Times New Roman" panose="02020603050405020304" pitchFamily="18" charset="0"/>
              </a:rPr>
              <a:t>,</a:t>
            </a:r>
            <a:r>
              <a:rPr lang="it-IT" b="1" i="1" dirty="0" err="1">
                <a:latin typeface="Times New Roman" panose="02020603050405020304" pitchFamily="18" charset="0"/>
                <a:cs typeface="Times New Roman" panose="02020603050405020304" pitchFamily="18" charset="0"/>
              </a:rPr>
              <a:t>east</a:t>
            </a:r>
            <a:r>
              <a:rPr lang="it-IT" i="1" dirty="0" err="1">
                <a:latin typeface="Times New Roman" panose="02020603050405020304" pitchFamily="18" charset="0"/>
                <a:cs typeface="Times New Roman" panose="02020603050405020304" pitchFamily="18" charset="0"/>
              </a:rPr>
              <a:t>,</a:t>
            </a:r>
            <a:r>
              <a:rPr lang="it-IT" b="1" i="1" dirty="0" err="1">
                <a:latin typeface="Times New Roman" panose="02020603050405020304" pitchFamily="18" charset="0"/>
                <a:cs typeface="Times New Roman" panose="02020603050405020304" pitchFamily="18" charset="0"/>
              </a:rPr>
              <a:t>west</a:t>
            </a:r>
            <a:r>
              <a:rPr lang="it-IT" b="1" i="1" dirty="0">
                <a:latin typeface="Times New Roman" panose="02020603050405020304" pitchFamily="18" charset="0"/>
                <a:cs typeface="Times New Roman" panose="02020603050405020304" pitchFamily="18" charset="0"/>
              </a:rPr>
              <a:t>.</a:t>
            </a:r>
          </a:p>
          <a:p>
            <a:pPr algn="just"/>
            <a:r>
              <a:rPr lang="it-IT" i="1" dirty="0">
                <a:latin typeface="Times New Roman" panose="02020603050405020304" pitchFamily="18" charset="0"/>
                <a:cs typeface="Times New Roman" panose="02020603050405020304" pitchFamily="18" charset="0"/>
              </a:rPr>
              <a:t>The </a:t>
            </a:r>
            <a:r>
              <a:rPr lang="it-IT" i="1" dirty="0" err="1">
                <a:latin typeface="Times New Roman" panose="02020603050405020304" pitchFamily="18" charset="0"/>
                <a:cs typeface="Times New Roman" panose="02020603050405020304" pitchFamily="18" charset="0"/>
              </a:rPr>
              <a:t>rewards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associated</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move</a:t>
            </a:r>
            <a:r>
              <a:rPr lang="it-IT" i="1" dirty="0">
                <a:latin typeface="Times New Roman" panose="02020603050405020304" pitchFamily="18" charset="0"/>
                <a:cs typeface="Times New Roman" panose="02020603050405020304" pitchFamily="18" charset="0"/>
              </a:rPr>
              <a:t> are the following:</a:t>
            </a:r>
          </a:p>
          <a:p>
            <a:pPr marL="285750" indent="-285750" algn="just">
              <a:buFont typeface="Wingdings" panose="05000000000000000000" pitchFamily="2" charset="2"/>
              <a:buChar char="v"/>
            </a:pPr>
            <a:r>
              <a:rPr lang="it-IT" b="1" i="1" dirty="0">
                <a:latin typeface="Times New Roman" panose="02020603050405020304" pitchFamily="18" charset="0"/>
                <a:cs typeface="Times New Roman" panose="02020603050405020304" pitchFamily="18" charset="0"/>
              </a:rPr>
              <a:t>-100 </a:t>
            </a:r>
            <a:r>
              <a:rPr lang="it-IT" i="1" dirty="0" err="1">
                <a:latin typeface="Times New Roman" panose="02020603050405020304" pitchFamily="18" charset="0"/>
                <a:cs typeface="Times New Roman" panose="02020603050405020304" pitchFamily="18" charset="0"/>
              </a:rPr>
              <a:t>if</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move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causes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collision</a:t>
            </a:r>
            <a:r>
              <a:rPr lang="it-IT" i="1" dirty="0">
                <a:latin typeface="Times New Roman" panose="02020603050405020304" pitchFamily="18" charset="0"/>
                <a:cs typeface="Times New Roman" panose="02020603050405020304" pitchFamily="18" charset="0"/>
              </a:rPr>
              <a:t> with an </a:t>
            </a:r>
            <a:r>
              <a:rPr lang="it-IT" i="1" dirty="0" err="1">
                <a:latin typeface="Times New Roman" panose="02020603050405020304" pitchFamily="18" charset="0"/>
                <a:cs typeface="Times New Roman" panose="02020603050405020304" pitchFamily="18" charset="0"/>
              </a:rPr>
              <a:t>obstacle</a:t>
            </a:r>
            <a:r>
              <a:rPr lang="it-IT" i="1" dirty="0">
                <a:latin typeface="Times New Roman" panose="02020603050405020304" pitchFamily="18" charset="0"/>
                <a:cs typeface="Times New Roman" panose="02020603050405020304" pitchFamily="18" charset="0"/>
              </a:rPr>
              <a:t> or drives the robot </a:t>
            </a:r>
            <a:r>
              <a:rPr lang="it-IT" i="1" dirty="0" err="1">
                <a:latin typeface="Times New Roman" panose="02020603050405020304" pitchFamily="18" charset="0"/>
                <a:cs typeface="Times New Roman" panose="02020603050405020304" pitchFamily="18" charset="0"/>
              </a:rPr>
              <a:t>outside</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grid</a:t>
            </a:r>
            <a:r>
              <a:rPr lang="it-IT" i="1" dirty="0">
                <a:latin typeface="Times New Roman" panose="02020603050405020304" pitchFamily="18" charset="0"/>
                <a:cs typeface="Times New Roman" panose="02020603050405020304" pitchFamily="18" charset="0"/>
              </a:rPr>
              <a:t>. In </a:t>
            </a:r>
            <a:r>
              <a:rPr lang="it-IT" i="1" dirty="0" err="1">
                <a:latin typeface="Times New Roman" panose="02020603050405020304" pitchFamily="18" charset="0"/>
                <a:cs typeface="Times New Roman" panose="02020603050405020304" pitchFamily="18" charset="0"/>
              </a:rPr>
              <a:t>this</a:t>
            </a:r>
            <a:r>
              <a:rPr lang="it-IT" i="1" dirty="0">
                <a:latin typeface="Times New Roman" panose="02020603050405020304" pitchFamily="18" charset="0"/>
                <a:cs typeface="Times New Roman" panose="02020603050405020304" pitchFamily="18" charset="0"/>
              </a:rPr>
              <a:t> case the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ends</a:t>
            </a:r>
            <a:r>
              <a:rPr lang="it-IT" i="1"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v"/>
            </a:pPr>
            <a:r>
              <a:rPr lang="it-IT" b="1" i="1" dirty="0">
                <a:latin typeface="Times New Roman" panose="02020603050405020304" pitchFamily="18" charset="0"/>
                <a:cs typeface="Times New Roman" panose="02020603050405020304" pitchFamily="18" charset="0"/>
              </a:rPr>
              <a:t>+20000 </a:t>
            </a:r>
            <a:r>
              <a:rPr lang="it-IT" i="1" dirty="0" err="1">
                <a:latin typeface="Times New Roman" panose="02020603050405020304" pitchFamily="18" charset="0"/>
                <a:cs typeface="Times New Roman" panose="02020603050405020304" pitchFamily="18" charset="0"/>
              </a:rPr>
              <a:t>if</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move</a:t>
            </a:r>
            <a:r>
              <a:rPr lang="it-IT" i="1" dirty="0">
                <a:latin typeface="Times New Roman" panose="02020603050405020304" pitchFamily="18" charset="0"/>
                <a:cs typeface="Times New Roman" panose="02020603050405020304" pitchFamily="18" charset="0"/>
              </a:rPr>
              <a:t> drives the robot on the goal position. The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ends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since</a:t>
            </a:r>
            <a:r>
              <a:rPr lang="it-IT" i="1" dirty="0">
                <a:latin typeface="Times New Roman" panose="02020603050405020304" pitchFamily="18" charset="0"/>
                <a:cs typeface="Times New Roman" panose="02020603050405020304" pitchFamily="18" charset="0"/>
              </a:rPr>
              <a:t> the goal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reached</a:t>
            </a:r>
            <a:r>
              <a:rPr lang="it-IT" i="1"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v"/>
            </a:pPr>
            <a:r>
              <a:rPr lang="it-IT" b="1" i="1" dirty="0">
                <a:latin typeface="Times New Roman" panose="02020603050405020304" pitchFamily="18" charset="0"/>
                <a:cs typeface="Times New Roman" panose="02020603050405020304" pitchFamily="18" charset="0"/>
              </a:rPr>
              <a:t>+2 </a:t>
            </a:r>
            <a:r>
              <a:rPr lang="it-IT" i="1" dirty="0" err="1">
                <a:latin typeface="Times New Roman" panose="02020603050405020304" pitchFamily="18" charset="0"/>
                <a:cs typeface="Times New Roman" panose="02020603050405020304" pitchFamily="18" charset="0"/>
              </a:rPr>
              <a:t>if</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move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reduces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Euclidean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distance</a:t>
            </a:r>
            <a:r>
              <a:rPr lang="it-IT" i="1" dirty="0">
                <a:latin typeface="Times New Roman" panose="02020603050405020304" pitchFamily="18" charset="0"/>
                <a:cs typeface="Times New Roman" panose="02020603050405020304" pitchFamily="18" charset="0"/>
              </a:rPr>
              <a:t> to the goal with </a:t>
            </a:r>
            <a:r>
              <a:rPr lang="it-IT" i="1" dirty="0" err="1">
                <a:latin typeface="Times New Roman" panose="02020603050405020304" pitchFamily="18" charset="0"/>
                <a:cs typeface="Times New Roman" panose="02020603050405020304" pitchFamily="18" charset="0"/>
              </a:rPr>
              <a:t>respect</a:t>
            </a:r>
            <a:r>
              <a:rPr lang="it-IT" i="1" dirty="0">
                <a:latin typeface="Times New Roman" panose="02020603050405020304" pitchFamily="18" charset="0"/>
                <a:cs typeface="Times New Roman" panose="02020603050405020304" pitchFamily="18" charset="0"/>
              </a:rPr>
              <a:t> to the </a:t>
            </a:r>
            <a:r>
              <a:rPr lang="it-IT" i="1" dirty="0" err="1">
                <a:latin typeface="Times New Roman" panose="02020603050405020304" pitchFamily="18" charset="0"/>
                <a:cs typeface="Times New Roman" panose="02020603050405020304" pitchFamily="18" charset="0"/>
              </a:rPr>
              <a:t>current</a:t>
            </a:r>
            <a:r>
              <a:rPr lang="it-IT" i="1" dirty="0">
                <a:latin typeface="Times New Roman" panose="02020603050405020304" pitchFamily="18" charset="0"/>
                <a:cs typeface="Times New Roman" panose="02020603050405020304" pitchFamily="18" charset="0"/>
              </a:rPr>
              <a:t> position.</a:t>
            </a:r>
          </a:p>
          <a:p>
            <a:pPr marL="285750" indent="-285750" algn="just">
              <a:buFont typeface="Wingdings" panose="05000000000000000000" pitchFamily="2" charset="2"/>
              <a:buChar char="v"/>
            </a:pPr>
            <a:r>
              <a:rPr lang="it-IT" b="1" i="1" dirty="0">
                <a:latin typeface="Times New Roman" panose="02020603050405020304" pitchFamily="18" charset="0"/>
                <a:cs typeface="Times New Roman" panose="02020603050405020304" pitchFamily="18" charset="0"/>
              </a:rPr>
              <a:t>-0.01 </a:t>
            </a:r>
            <a:r>
              <a:rPr lang="it-IT" i="1" dirty="0" err="1">
                <a:latin typeface="Times New Roman" panose="02020603050405020304" pitchFamily="18" charset="0"/>
                <a:cs typeface="Times New Roman" panose="02020603050405020304" pitchFamily="18" charset="0"/>
              </a:rPr>
              <a:t>if</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move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increases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Euclidean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distance</a:t>
            </a:r>
            <a:r>
              <a:rPr lang="it-IT" i="1" dirty="0">
                <a:latin typeface="Times New Roman" panose="02020603050405020304" pitchFamily="18" charset="0"/>
                <a:cs typeface="Times New Roman" panose="02020603050405020304" pitchFamily="18" charset="0"/>
              </a:rPr>
              <a:t> to the goal with </a:t>
            </a:r>
            <a:r>
              <a:rPr lang="it-IT" i="1" dirty="0" err="1">
                <a:latin typeface="Times New Roman" panose="02020603050405020304" pitchFamily="18" charset="0"/>
                <a:cs typeface="Times New Roman" panose="02020603050405020304" pitchFamily="18" charset="0"/>
              </a:rPr>
              <a:t>respect</a:t>
            </a:r>
            <a:r>
              <a:rPr lang="it-IT" i="1" dirty="0">
                <a:latin typeface="Times New Roman" panose="02020603050405020304" pitchFamily="18" charset="0"/>
                <a:cs typeface="Times New Roman" panose="02020603050405020304" pitchFamily="18" charset="0"/>
              </a:rPr>
              <a:t> to the </a:t>
            </a:r>
            <a:r>
              <a:rPr lang="it-IT" i="1" dirty="0" err="1">
                <a:latin typeface="Times New Roman" panose="02020603050405020304" pitchFamily="18" charset="0"/>
                <a:cs typeface="Times New Roman" panose="02020603050405020304" pitchFamily="18" charset="0"/>
              </a:rPr>
              <a:t>current</a:t>
            </a:r>
            <a:r>
              <a:rPr lang="it-IT" i="1" dirty="0">
                <a:latin typeface="Times New Roman" panose="02020603050405020304" pitchFamily="18" charset="0"/>
                <a:cs typeface="Times New Roman" panose="02020603050405020304" pitchFamily="18" charset="0"/>
              </a:rPr>
              <a:t> position.</a:t>
            </a:r>
          </a:p>
          <a:p>
            <a:pPr marL="285750" indent="-285750" algn="just">
              <a:buFont typeface="Wingdings" panose="05000000000000000000" pitchFamily="2" charset="2"/>
              <a:buChar char="v"/>
            </a:pPr>
            <a:r>
              <a:rPr lang="it-IT" b="1" i="1" dirty="0">
                <a:latin typeface="Times New Roman" panose="02020603050405020304" pitchFamily="18" charset="0"/>
                <a:cs typeface="Times New Roman" panose="02020603050405020304" pitchFamily="18" charset="0"/>
              </a:rPr>
              <a:t>-100 </a:t>
            </a:r>
            <a:r>
              <a:rPr lang="it-IT" i="1" dirty="0" err="1">
                <a:latin typeface="Times New Roman" panose="02020603050405020304" pitchFamily="18" charset="0"/>
                <a:cs typeface="Times New Roman" panose="02020603050405020304" pitchFamily="18" charset="0"/>
              </a:rPr>
              <a:t>if</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move</a:t>
            </a:r>
            <a:r>
              <a:rPr lang="it-IT" i="1" dirty="0">
                <a:latin typeface="Times New Roman" panose="02020603050405020304" pitchFamily="18" charset="0"/>
                <a:cs typeface="Times New Roman" panose="02020603050405020304" pitchFamily="18" charset="0"/>
              </a:rPr>
              <a:t> drives the robot to a </a:t>
            </a:r>
            <a:r>
              <a:rPr lang="it-IT" i="1" dirty="0" err="1">
                <a:latin typeface="Times New Roman" panose="02020603050405020304" pitchFamily="18" charset="0"/>
                <a:cs typeface="Times New Roman" panose="02020603050405020304" pitchFamily="18" charset="0"/>
              </a:rPr>
              <a:t>cell</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already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visited</a:t>
            </a:r>
            <a:r>
              <a:rPr lang="it-IT" i="1"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v"/>
            </a:pPr>
            <a:endParaRPr lang="it-IT" b="1" i="1" dirty="0">
              <a:latin typeface="Times New Roman" panose="02020603050405020304" pitchFamily="18" charset="0"/>
              <a:cs typeface="Times New Roman" panose="02020603050405020304" pitchFamily="18" charset="0"/>
            </a:endParaRPr>
          </a:p>
        </p:txBody>
      </p:sp>
      <p:grpSp>
        <p:nvGrpSpPr>
          <p:cNvPr id="13" name="Gruppo 12">
            <a:extLst>
              <a:ext uri="{FF2B5EF4-FFF2-40B4-BE49-F238E27FC236}">
                <a16:creationId xmlns:a16="http://schemas.microsoft.com/office/drawing/2014/main" id="{34B26D7D-52AB-0DA5-0D4F-02A148228A41}"/>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5DB7511A-E9A7-EF1F-FC55-2BA1EF6B2512}"/>
                </a:ext>
              </a:extLst>
            </p:cNvPr>
            <p:cNvSpPr/>
            <p:nvPr/>
          </p:nvSpPr>
          <p:spPr>
            <a:xfrm>
              <a:off x="3421934" y="40903"/>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8" name="Freccia a gallone 7">
              <a:extLst>
                <a:ext uri="{FF2B5EF4-FFF2-40B4-BE49-F238E27FC236}">
                  <a16:creationId xmlns:a16="http://schemas.microsoft.com/office/drawing/2014/main" id="{B51F137A-D621-D4EB-88CE-016E9EBF5E77}"/>
                </a:ext>
              </a:extLst>
            </p:cNvPr>
            <p:cNvSpPr/>
            <p:nvPr/>
          </p:nvSpPr>
          <p:spPr>
            <a:xfrm>
              <a:off x="5041772" y="40904"/>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9" name="Freccia a gallone 8">
              <a:extLst>
                <a:ext uri="{FF2B5EF4-FFF2-40B4-BE49-F238E27FC236}">
                  <a16:creationId xmlns:a16="http://schemas.microsoft.com/office/drawing/2014/main" id="{514B27E8-B0F7-E366-DDD9-1D3DF68B278C}"/>
                </a:ext>
              </a:extLst>
            </p:cNvPr>
            <p:cNvSpPr/>
            <p:nvPr/>
          </p:nvSpPr>
          <p:spPr>
            <a:xfrm>
              <a:off x="6661610"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0" name="Freccia a gallone 9">
              <a:extLst>
                <a:ext uri="{FF2B5EF4-FFF2-40B4-BE49-F238E27FC236}">
                  <a16:creationId xmlns:a16="http://schemas.microsoft.com/office/drawing/2014/main" id="{553D9E0A-6F22-AC1E-208E-05AE1DBAC66E}"/>
                </a:ext>
              </a:extLst>
            </p:cNvPr>
            <p:cNvSpPr/>
            <p:nvPr/>
          </p:nvSpPr>
          <p:spPr>
            <a:xfrm>
              <a:off x="8281448"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1" name="Freccia a gallone 10">
              <a:extLst>
                <a:ext uri="{FF2B5EF4-FFF2-40B4-BE49-F238E27FC236}">
                  <a16:creationId xmlns:a16="http://schemas.microsoft.com/office/drawing/2014/main" id="{DBDE4A7F-B49D-E5FA-4466-937B2AED9035}"/>
                </a:ext>
              </a:extLst>
            </p:cNvPr>
            <p:cNvSpPr/>
            <p:nvPr/>
          </p:nvSpPr>
          <p:spPr>
            <a:xfrm>
              <a:off x="9901286" y="40906"/>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a gallone 11">
              <a:extLst>
                <a:ext uri="{FF2B5EF4-FFF2-40B4-BE49-F238E27FC236}">
                  <a16:creationId xmlns:a16="http://schemas.microsoft.com/office/drawing/2014/main" id="{E06B93F3-DF46-CD77-70F8-092E648DDC40}"/>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9F163A08-08AF-3098-7303-AE22A60B73E4}"/>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914AE39A-E054-F75B-5EE5-D2ADD628CEA8}"/>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31CE4FD2-FC11-F489-2664-1195BD93C5AC}"/>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A067E5D5-750B-524F-9EEF-1898235C4A44}"/>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F0E114EB-826E-46CB-189E-562B0365C3E2}"/>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78D501DA-274F-59B4-35E0-281C2CCFE563}"/>
              </a:ext>
            </a:extLst>
          </p:cNvPr>
          <p:cNvSpPr txBox="1"/>
          <p:nvPr/>
        </p:nvSpPr>
        <p:spPr>
          <a:xfrm>
            <a:off x="7926183"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D109546E-7F97-A3C5-969F-F54FB680A64E}"/>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4AA2F841-5C8C-83A4-E43B-69E56D664E03}"/>
              </a:ext>
            </a:extLst>
          </p:cNvPr>
          <p:cNvSpPr/>
          <p:nvPr/>
        </p:nvSpPr>
        <p:spPr>
          <a:xfrm>
            <a:off x="735495" y="1795027"/>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7" name="Immagine 6" descr="Immagine che contiene diagramma, schermata, linea&#10;&#10;Il contenuto generato dall'IA potrebbe non essere corretto.">
            <a:extLst>
              <a:ext uri="{FF2B5EF4-FFF2-40B4-BE49-F238E27FC236}">
                <a16:creationId xmlns:a16="http://schemas.microsoft.com/office/drawing/2014/main" id="{31576143-DEBE-1C61-EB6C-0EE39B516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2822" y="3299143"/>
            <a:ext cx="1615109" cy="1624742"/>
          </a:xfrm>
          <a:prstGeom prst="rect">
            <a:avLst/>
          </a:prstGeom>
        </p:spPr>
      </p:pic>
      <p:sp>
        <p:nvSpPr>
          <p:cNvPr id="14" name="CasellaDiTesto 13">
            <a:extLst>
              <a:ext uri="{FF2B5EF4-FFF2-40B4-BE49-F238E27FC236}">
                <a16:creationId xmlns:a16="http://schemas.microsoft.com/office/drawing/2014/main" id="{190A9952-8964-CF6C-9681-7E62FC72346E}"/>
              </a:ext>
            </a:extLst>
          </p:cNvPr>
          <p:cNvSpPr txBox="1"/>
          <p:nvPr/>
        </p:nvSpPr>
        <p:spPr>
          <a:xfrm>
            <a:off x="646181" y="2557096"/>
            <a:ext cx="11102985" cy="923330"/>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The </a:t>
            </a:r>
            <a:r>
              <a:rPr lang="it-IT" i="1" dirty="0" err="1">
                <a:latin typeface="Times New Roman" panose="02020603050405020304" pitchFamily="18" charset="0"/>
                <a:cs typeface="Times New Roman" panose="02020603050405020304" pitchFamily="18" charset="0"/>
              </a:rPr>
              <a:t>initial</a:t>
            </a:r>
            <a:r>
              <a:rPr lang="it-IT" i="1" dirty="0">
                <a:latin typeface="Times New Roman" panose="02020603050405020304" pitchFamily="18" charset="0"/>
                <a:cs typeface="Times New Roman" panose="02020603050405020304" pitchFamily="18" charset="0"/>
              </a:rPr>
              <a:t> state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always</a:t>
            </a:r>
            <a:r>
              <a:rPr lang="it-IT" i="1" dirty="0">
                <a:latin typeface="Times New Roman" panose="02020603050405020304" pitchFamily="18" charset="0"/>
                <a:cs typeface="Times New Roman" panose="02020603050405020304" pitchFamily="18" charset="0"/>
              </a:rPr>
              <a:t> set to </a:t>
            </a:r>
            <a:r>
              <a:rPr lang="it-IT" b="1" i="1" dirty="0">
                <a:latin typeface="Times New Roman" panose="02020603050405020304" pitchFamily="18" charset="0"/>
                <a:cs typeface="Times New Roman" panose="02020603050405020304" pitchFamily="18" charset="0"/>
              </a:rPr>
              <a:t>(1,1)</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Moreover</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contains</a:t>
            </a:r>
            <a:r>
              <a:rPr lang="it-IT" i="1" dirty="0">
                <a:latin typeface="Times New Roman" panose="02020603050405020304" pitchFamily="18" charset="0"/>
                <a:cs typeface="Times New Roman" panose="02020603050405020304" pitchFamily="18" charset="0"/>
              </a:rPr>
              <a:t> information </a:t>
            </a:r>
            <a:r>
              <a:rPr lang="it-IT" i="1" dirty="0" err="1">
                <a:latin typeface="Times New Roman" panose="02020603050405020304" pitchFamily="18" charset="0"/>
                <a:cs typeface="Times New Roman" panose="02020603050405020304" pitchFamily="18" charset="0"/>
              </a:rPr>
              <a:t>regarding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which</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previous</a:t>
            </a:r>
            <a:r>
              <a:rPr lang="it-IT" i="1" dirty="0">
                <a:latin typeface="Times New Roman" panose="02020603050405020304" pitchFamily="18" charset="0"/>
                <a:cs typeface="Times New Roman" panose="02020603050405020304" pitchFamily="18" charset="0"/>
              </a:rPr>
              <a:t> state and a list </a:t>
            </a:r>
          </a:p>
          <a:p>
            <a:pPr algn="just"/>
            <a:r>
              <a:rPr lang="it-IT" i="1" dirty="0">
                <a:latin typeface="Times New Roman" panose="02020603050405020304" pitchFamily="18" charset="0"/>
                <a:cs typeface="Times New Roman" panose="02020603050405020304" pitchFamily="18" charset="0"/>
              </a:rPr>
              <a:t>of the </a:t>
            </a:r>
            <a:r>
              <a:rPr lang="it-IT" i="1" dirty="0" err="1">
                <a:latin typeface="Times New Roman" panose="02020603050405020304" pitchFamily="18" charset="0"/>
                <a:cs typeface="Times New Roman" panose="02020603050405020304" pitchFamily="18" charset="0"/>
              </a:rPr>
              <a:t>already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visited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cells</a:t>
            </a:r>
            <a:r>
              <a:rPr lang="it-IT" i="1" dirty="0">
                <a:latin typeface="Times New Roman" panose="02020603050405020304" pitchFamily="18" charset="0"/>
                <a:cs typeface="Times New Roman" panose="02020603050405020304" pitchFamily="18" charset="0"/>
              </a:rPr>
              <a:t>.</a:t>
            </a:r>
          </a:p>
          <a:p>
            <a:endParaRPr lang="it-IT" dirty="0"/>
          </a:p>
        </p:txBody>
      </p:sp>
    </p:spTree>
    <p:extLst>
      <p:ext uri="{BB962C8B-B14F-4D97-AF65-F5344CB8AC3E}">
        <p14:creationId xmlns:p14="http://schemas.microsoft.com/office/powerpoint/2010/main" val="1422026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E70EB-2B96-2DF5-9A5F-6C40D01543D5}"/>
            </a:ext>
          </a:extLst>
        </p:cNvPr>
        <p:cNvGrpSpPr/>
        <p:nvPr/>
      </p:nvGrpSpPr>
      <p:grpSpPr>
        <a:xfrm>
          <a:off x="0" y="0"/>
          <a:ext cx="0" cy="0"/>
          <a:chOff x="0" y="0"/>
          <a:chExt cx="0" cy="0"/>
        </a:xfrm>
      </p:grpSpPr>
      <p:grpSp>
        <p:nvGrpSpPr>
          <p:cNvPr id="13" name="Gruppo 12">
            <a:extLst>
              <a:ext uri="{FF2B5EF4-FFF2-40B4-BE49-F238E27FC236}">
                <a16:creationId xmlns:a16="http://schemas.microsoft.com/office/drawing/2014/main" id="{68F45802-CA4E-3A7D-9623-928E2F82B617}"/>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687BCB2F-DD56-F0B6-9D53-558B9BCA464C}"/>
                </a:ext>
              </a:extLst>
            </p:cNvPr>
            <p:cNvSpPr/>
            <p:nvPr/>
          </p:nvSpPr>
          <p:spPr>
            <a:xfrm>
              <a:off x="3421934" y="40903"/>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a gallone 7">
              <a:extLst>
                <a:ext uri="{FF2B5EF4-FFF2-40B4-BE49-F238E27FC236}">
                  <a16:creationId xmlns:a16="http://schemas.microsoft.com/office/drawing/2014/main" id="{15067D5E-2E3F-66F1-ACAD-D692C2F8B554}"/>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D00098F2-2C1C-60C2-BCD6-25108C5867A5}"/>
                </a:ext>
              </a:extLst>
            </p:cNvPr>
            <p:cNvSpPr/>
            <p:nvPr/>
          </p:nvSpPr>
          <p:spPr>
            <a:xfrm>
              <a:off x="6661610" y="40905"/>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0" name="Freccia a gallone 9">
              <a:extLst>
                <a:ext uri="{FF2B5EF4-FFF2-40B4-BE49-F238E27FC236}">
                  <a16:creationId xmlns:a16="http://schemas.microsoft.com/office/drawing/2014/main" id="{12AE73DA-DAF1-CD37-48C5-FAC3E105A2B1}"/>
                </a:ext>
              </a:extLst>
            </p:cNvPr>
            <p:cNvSpPr/>
            <p:nvPr/>
          </p:nvSpPr>
          <p:spPr>
            <a:xfrm>
              <a:off x="8281448"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1" name="Freccia a gallone 10">
              <a:extLst>
                <a:ext uri="{FF2B5EF4-FFF2-40B4-BE49-F238E27FC236}">
                  <a16:creationId xmlns:a16="http://schemas.microsoft.com/office/drawing/2014/main" id="{82167F34-A03C-D456-5102-B296A7BAD9C3}"/>
                </a:ext>
              </a:extLst>
            </p:cNvPr>
            <p:cNvSpPr/>
            <p:nvPr/>
          </p:nvSpPr>
          <p:spPr>
            <a:xfrm>
              <a:off x="9901286" y="40906"/>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a gallone 11">
              <a:extLst>
                <a:ext uri="{FF2B5EF4-FFF2-40B4-BE49-F238E27FC236}">
                  <a16:creationId xmlns:a16="http://schemas.microsoft.com/office/drawing/2014/main" id="{9081F981-4338-0581-0350-864AEFD3C24F}"/>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C4CCDDFD-CFC2-96E9-4782-4332C8EEF123}"/>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9BFEACED-433B-A692-FB00-1983C31DE13F}"/>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6C0549BC-6DF4-4F12-A740-863C815B1487}"/>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32292BD5-2A74-8EE0-AD27-79EAB79C73A6}"/>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9A390C31-2B6B-05AE-C43F-B6F678395528}"/>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E449DB8A-6FFC-FA8B-3ADB-6C6430FDFDBF}"/>
              </a:ext>
            </a:extLst>
          </p:cNvPr>
          <p:cNvSpPr txBox="1"/>
          <p:nvPr/>
        </p:nvSpPr>
        <p:spPr>
          <a:xfrm>
            <a:off x="7926183"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C71F58E1-D592-AD89-65A5-89B02E4660EB}"/>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E0256C93-DB8D-00E1-F8E0-D929C4904918}"/>
              </a:ext>
            </a:extLst>
          </p:cNvPr>
          <p:cNvSpPr/>
          <p:nvPr/>
        </p:nvSpPr>
        <p:spPr>
          <a:xfrm>
            <a:off x="735495" y="1795033"/>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2CA837D0-ACBE-853B-1B42-79822EE2BE72}"/>
                  </a:ext>
                </a:extLst>
              </p:cNvPr>
              <p:cNvSpPr txBox="1"/>
              <p:nvPr/>
            </p:nvSpPr>
            <p:spPr>
              <a:xfrm>
                <a:off x="631585" y="2035659"/>
                <a:ext cx="10177670" cy="923330"/>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The agent to </a:t>
                </a:r>
                <a:r>
                  <a:rPr lang="it-IT" i="1" dirty="0" err="1">
                    <a:latin typeface="Times New Roman" panose="02020603050405020304" pitchFamily="18" charset="0"/>
                    <a:cs typeface="Times New Roman" panose="02020603050405020304" pitchFamily="18" charset="0"/>
                  </a:rPr>
                  <a:t>implement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 Q-Learning Agent. </a:t>
                </a:r>
                <a:r>
                  <a:rPr lang="it-IT" i="1" dirty="0" err="1">
                    <a:latin typeface="Times New Roman" panose="02020603050405020304" pitchFamily="18" charset="0"/>
                    <a:cs typeface="Times New Roman" panose="02020603050405020304" pitchFamily="18" charset="0"/>
                  </a:rPr>
                  <a:t>Consider</a:t>
                </a:r>
                <a:r>
                  <a:rPr lang="it-IT" i="1" dirty="0">
                    <a:latin typeface="Times New Roman" panose="02020603050405020304" pitchFamily="18" charset="0"/>
                    <a:cs typeface="Times New Roman" panose="02020603050405020304" pitchFamily="18" charset="0"/>
                  </a:rPr>
                  <a:t> an action </a:t>
                </a:r>
                <a:r>
                  <a:rPr lang="it-IT" i="1" dirty="0" err="1">
                    <a:latin typeface="Times New Roman" panose="02020603050405020304" pitchFamily="18" charset="0"/>
                    <a:cs typeface="Times New Roman" panose="02020603050405020304" pitchFamily="18" charset="0"/>
                  </a:rPr>
                  <a:t>performed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at</a:t>
                </a:r>
                <a:r>
                  <a:rPr lang="it-IT" i="1" dirty="0">
                    <a:latin typeface="Times New Roman" panose="02020603050405020304" pitchFamily="18" charset="0"/>
                    <a:cs typeface="Times New Roman" panose="02020603050405020304" pitchFamily="18" charset="0"/>
                  </a:rPr>
                  <a:t> time </a:t>
                </a:r>
                <a:r>
                  <a:rPr lang="it-IT" b="1" i="1" dirty="0">
                    <a:latin typeface="Times New Roman" panose="02020603050405020304" pitchFamily="18" charset="0"/>
                    <a:cs typeface="Times New Roman" panose="02020603050405020304" pitchFamily="18" charset="0"/>
                  </a:rPr>
                  <a:t>t</a:t>
                </a:r>
                <a:r>
                  <a:rPr lang="it-IT" i="1" dirty="0">
                    <a:latin typeface="Times New Roman" panose="02020603050405020304" pitchFamily="18" charset="0"/>
                    <a:cs typeface="Times New Roman" panose="02020603050405020304" pitchFamily="18" charset="0"/>
                  </a:rPr>
                  <a:t> and the </a:t>
                </a:r>
                <a:r>
                  <a:rPr lang="it-IT" i="1" dirty="0" err="1">
                    <a:latin typeface="Times New Roman" panose="02020603050405020304" pitchFamily="18" charset="0"/>
                    <a:cs typeface="Times New Roman" panose="02020603050405020304" pitchFamily="18" charset="0"/>
                  </a:rPr>
                  <a:t>resultant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it-IT" i="1" dirty="0">
                    <a:latin typeface="Times New Roman" panose="02020603050405020304" pitchFamily="18" charset="0"/>
                    <a:cs typeface="Times New Roman" panose="02020603050405020304" pitchFamily="18" charset="0"/>
                  </a:rPr>
                  <a:t> and </a:t>
                </a:r>
                <a:r>
                  <a:rPr lang="it-IT" i="1" dirty="0" err="1">
                    <a:latin typeface="Times New Roman" panose="02020603050405020304" pitchFamily="18" charset="0"/>
                    <a:cs typeface="Times New Roman" panose="02020603050405020304" pitchFamily="18" charset="0"/>
                  </a:rPr>
                  <a:t>next</a:t>
                </a:r>
                <a:r>
                  <a:rPr lang="it-IT" i="1" dirty="0">
                    <a:latin typeface="Times New Roman" panose="02020603050405020304" pitchFamily="18" charset="0"/>
                    <a:cs typeface="Times New Roman" panose="02020603050405020304" pitchFamily="18" charset="0"/>
                  </a:rPr>
                  <a:t> state </a:t>
                </a:r>
                <a14:m>
                  <m:oMath xmlns:m="http://schemas.openxmlformats.org/officeDocument/2006/math">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it-IT"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Its</a:t>
                </a:r>
                <a:r>
                  <a:rPr lang="it-IT" i="1" dirty="0">
                    <a:latin typeface="Times New Roman" panose="02020603050405020304" pitchFamily="18" charset="0"/>
                    <a:cs typeface="Times New Roman" panose="02020603050405020304" pitchFamily="18" charset="0"/>
                  </a:rPr>
                  <a:t> one-step update rule of the action-</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the following:</a:t>
                </a:r>
              </a:p>
              <a:p>
                <a:pPr algn="just"/>
                <a:endParaRPr lang="it-IT" i="1" dirty="0">
                  <a:latin typeface="Times New Roman" panose="02020603050405020304" pitchFamily="18" charset="0"/>
                  <a:cs typeface="Times New Roman" panose="02020603050405020304" pitchFamily="18" charset="0"/>
                </a:endParaRPr>
              </a:p>
            </p:txBody>
          </p:sp>
        </mc:Choice>
        <mc:Fallback xmlns="">
          <p:sp>
            <p:nvSpPr>
              <p:cNvPr id="6" name="CasellaDiTesto 5">
                <a:extLst>
                  <a:ext uri="{FF2B5EF4-FFF2-40B4-BE49-F238E27FC236}">
                    <a16:creationId xmlns:a16="http://schemas.microsoft.com/office/drawing/2014/main" id="{2CA837D0-ACBE-853B-1B42-79822EE2BE72}"/>
                  </a:ext>
                </a:extLst>
              </p:cNvPr>
              <p:cNvSpPr txBox="1">
                <a:spLocks noRot="1" noChangeAspect="1" noMove="1" noResize="1" noEditPoints="1" noAdjustHandles="1" noChangeArrowheads="1" noChangeShapeType="1" noTextEdit="1"/>
              </p:cNvSpPr>
              <p:nvPr/>
            </p:nvSpPr>
            <p:spPr>
              <a:xfrm>
                <a:off x="631585" y="2035659"/>
                <a:ext cx="10177670" cy="923330"/>
              </a:xfrm>
              <a:prstGeom prst="rect">
                <a:avLst/>
              </a:prstGeom>
              <a:blipFill>
                <a:blip r:embed="rId2"/>
                <a:stretch>
                  <a:fillRect l="-539" t="-3974" r="-47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260AA0FF-1C7B-F520-EDEE-FCE16A84D1FD}"/>
                  </a:ext>
                </a:extLst>
              </p:cNvPr>
              <p:cNvSpPr txBox="1"/>
              <p:nvPr/>
            </p:nvSpPr>
            <p:spPr>
              <a:xfrm>
                <a:off x="1868013" y="2802779"/>
                <a:ext cx="8031903" cy="3693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𝒒</m:t>
                      </m:r>
                      <m:d>
                        <m:d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sub>
                          </m:sSub>
                        </m:e>
                      </m:d>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𝒒</m:t>
                      </m:r>
                      <m:d>
                        <m:d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sub>
                          </m:sSub>
                        </m:e>
                      </m:d>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𝜶</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𝑹</m:t>
                          </m:r>
                        </m:e>
                        <m: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𝜸</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𝒎𝒂𝒙</m:t>
                          </m:r>
                        </m:e>
                        <m: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𝒂</m:t>
                          </m:r>
                        </m:sub>
                      </m:sSub>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𝒒</m:t>
                      </m:r>
                      <m:d>
                        <m:d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𝒂</m:t>
                          </m:r>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e>
                      </m:d>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𝒒</m:t>
                      </m:r>
                      <m:d>
                        <m:d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𝑺</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sub>
                          </m:s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𝑨</m:t>
                              </m:r>
                            </m:e>
                            <m:sub>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𝒕</m:t>
                              </m:r>
                            </m:sub>
                          </m:sSub>
                        </m:e>
                      </m:d>
                      <m:r>
                        <a:rPr lang="it-IT" b="1"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it-IT" i="1" dirty="0">
                  <a:latin typeface="Times New Roman" panose="02020603050405020304" pitchFamily="18" charset="0"/>
                  <a:cs typeface="Times New Roman" panose="02020603050405020304" pitchFamily="18" charset="0"/>
                </a:endParaRPr>
              </a:p>
            </p:txBody>
          </p:sp>
        </mc:Choice>
        <mc:Fallback xmlns="">
          <p:sp>
            <p:nvSpPr>
              <p:cNvPr id="14" name="CasellaDiTesto 13">
                <a:extLst>
                  <a:ext uri="{FF2B5EF4-FFF2-40B4-BE49-F238E27FC236}">
                    <a16:creationId xmlns:a16="http://schemas.microsoft.com/office/drawing/2014/main" id="{260AA0FF-1C7B-F520-EDEE-FCE16A84D1FD}"/>
                  </a:ext>
                </a:extLst>
              </p:cNvPr>
              <p:cNvSpPr txBox="1">
                <a:spLocks noRot="1" noChangeAspect="1" noMove="1" noResize="1" noEditPoints="1" noAdjustHandles="1" noChangeArrowheads="1" noChangeShapeType="1" noTextEdit="1"/>
              </p:cNvSpPr>
              <p:nvPr/>
            </p:nvSpPr>
            <p:spPr>
              <a:xfrm>
                <a:off x="1868013" y="2802779"/>
                <a:ext cx="8031903" cy="369332"/>
              </a:xfrm>
              <a:prstGeom prst="rect">
                <a:avLst/>
              </a:prstGeom>
              <a:blipFill>
                <a:blip r:embed="rId3"/>
                <a:stretch>
                  <a:fillRect b="-18333"/>
                </a:stretch>
              </a:blipFill>
            </p:spPr>
            <p:txBody>
              <a:bodyPr/>
              <a:lstStyle/>
              <a:p>
                <a:r>
                  <a:rPr lang="it-IT">
                    <a:noFill/>
                  </a:rPr>
                  <a:t> </a:t>
                </a:r>
              </a:p>
            </p:txBody>
          </p:sp>
        </mc:Fallback>
      </mc:AlternateContent>
      <p:grpSp>
        <p:nvGrpSpPr>
          <p:cNvPr id="20" name="Gruppo 19">
            <a:extLst>
              <a:ext uri="{FF2B5EF4-FFF2-40B4-BE49-F238E27FC236}">
                <a16:creationId xmlns:a16="http://schemas.microsoft.com/office/drawing/2014/main" id="{D40D0C8D-D403-9099-2D5B-EE218D59EF74}"/>
              </a:ext>
            </a:extLst>
          </p:cNvPr>
          <p:cNvGrpSpPr/>
          <p:nvPr/>
        </p:nvGrpSpPr>
        <p:grpSpPr>
          <a:xfrm>
            <a:off x="735494" y="3722711"/>
            <a:ext cx="10296940" cy="2884318"/>
            <a:chOff x="839404" y="3403476"/>
            <a:chExt cx="10296940" cy="2884318"/>
          </a:xfrm>
        </p:grpSpPr>
        <p:sp>
          <p:nvSpPr>
            <p:cNvPr id="2" name="CasellaDiTesto 1">
              <a:extLst>
                <a:ext uri="{FF2B5EF4-FFF2-40B4-BE49-F238E27FC236}">
                  <a16:creationId xmlns:a16="http://schemas.microsoft.com/office/drawing/2014/main" id="{0F6A791F-EBB7-8C46-19F2-15DEE4BB7BD1}"/>
                </a:ext>
              </a:extLst>
            </p:cNvPr>
            <p:cNvSpPr txBox="1"/>
            <p:nvPr/>
          </p:nvSpPr>
          <p:spPr>
            <a:xfrm>
              <a:off x="839404" y="3403476"/>
              <a:ext cx="10296940" cy="646331"/>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Thanks to the </a:t>
              </a:r>
              <a:r>
                <a:rPr lang="it-IT" i="1" dirty="0" err="1">
                  <a:latin typeface="Times New Roman" panose="02020603050405020304" pitchFamily="18" charset="0"/>
                  <a:cs typeface="Times New Roman" panose="02020603050405020304" pitchFamily="18" charset="0"/>
                </a:rPr>
                <a:t>above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equation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possible</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define</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episode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evolution</a:t>
              </a:r>
              <a:r>
                <a:rPr lang="it-IT" i="1" dirty="0">
                  <a:latin typeface="Times New Roman" panose="02020603050405020304" pitchFamily="18" charset="0"/>
                  <a:cs typeface="Times New Roman" panose="02020603050405020304" pitchFamily="18" charset="0"/>
                </a:rPr>
                <a:t>:</a:t>
              </a:r>
            </a:p>
            <a:p>
              <a:pPr algn="just"/>
              <a:endParaRPr lang="it-IT" i="1" dirty="0">
                <a:latin typeface="Times New Roman" panose="02020603050405020304" pitchFamily="18" charset="0"/>
                <a:cs typeface="Times New Roman" panose="02020603050405020304" pitchFamily="18" charset="0"/>
              </a:endParaRPr>
            </a:p>
          </p:txBody>
        </p:sp>
        <p:pic>
          <p:nvPicPr>
            <p:cNvPr id="19" name="Immagine 18" descr="Immagine che contiene testo, Carattere, ricevuta, schermata&#10;&#10;Il contenuto generato dall'IA potrebbe non essere corretto.">
              <a:extLst>
                <a:ext uri="{FF2B5EF4-FFF2-40B4-BE49-F238E27FC236}">
                  <a16:creationId xmlns:a16="http://schemas.microsoft.com/office/drawing/2014/main" id="{9EFB6BEF-0445-4796-C73D-61219D5F53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3736" y="3939231"/>
              <a:ext cx="6954357" cy="2348563"/>
            </a:xfrm>
            <a:prstGeom prst="rect">
              <a:avLst/>
            </a:prstGeom>
            <a:ln>
              <a:solidFill>
                <a:schemeClr val="accent1">
                  <a:lumMod val="50000"/>
                </a:schemeClr>
              </a:solidFill>
            </a:ln>
            <a:effectLst>
              <a:outerShdw blurRad="63500" sx="102000" sy="102000" algn="ctr" rotWithShape="0">
                <a:prstClr val="black">
                  <a:alpha val="40000"/>
                </a:prstClr>
              </a:outerShdw>
            </a:effectLst>
          </p:spPr>
        </p:pic>
      </p:gr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087F5860-11AE-9FE4-F421-05030130C34F}"/>
                  </a:ext>
                </a:extLst>
              </p:cNvPr>
              <p:cNvSpPr txBox="1"/>
              <p:nvPr/>
            </p:nvSpPr>
            <p:spPr>
              <a:xfrm>
                <a:off x="735495" y="3262745"/>
                <a:ext cx="10391803" cy="369332"/>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With </a:t>
                </a:r>
                <a14:m>
                  <m:oMath xmlns:m="http://schemas.openxmlformats.org/officeDocument/2006/math">
                    <m:r>
                      <a:rPr lang="it-IT"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𝜶</m:t>
                    </m:r>
                  </m:oMath>
                </a14:m>
                <a:r>
                  <a:rPr lang="it-IT"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small positive fraction called the </a:t>
                </a:r>
                <a:r>
                  <a:rPr lang="en-US" b="1" dirty="0">
                    <a:latin typeface="Times New Roman" panose="02020603050405020304" pitchFamily="18" charset="0"/>
                    <a:cs typeface="Times New Roman" panose="02020603050405020304" pitchFamily="18" charset="0"/>
                  </a:rPr>
                  <a:t>step-size parameter</a:t>
                </a:r>
                <a:r>
                  <a:rPr lang="en-US" dirty="0">
                    <a:latin typeface="Times New Roman" panose="02020603050405020304" pitchFamily="18" charset="0"/>
                    <a:cs typeface="Times New Roman" panose="02020603050405020304" pitchFamily="18" charset="0"/>
                  </a:rPr>
                  <a:t>, which influences the rate of learning.</a:t>
                </a:r>
                <a:endParaRPr lang="it-IT" i="1" dirty="0">
                  <a:latin typeface="Times New Roman" panose="02020603050405020304" pitchFamily="18" charset="0"/>
                  <a:cs typeface="Times New Roman" panose="02020603050405020304" pitchFamily="18" charset="0"/>
                </a:endParaRPr>
              </a:p>
            </p:txBody>
          </p:sp>
        </mc:Choice>
        <mc:Fallback xmlns="">
          <p:sp>
            <p:nvSpPr>
              <p:cNvPr id="21" name="CasellaDiTesto 20">
                <a:extLst>
                  <a:ext uri="{FF2B5EF4-FFF2-40B4-BE49-F238E27FC236}">
                    <a16:creationId xmlns:a16="http://schemas.microsoft.com/office/drawing/2014/main" id="{087F5860-11AE-9FE4-F421-05030130C34F}"/>
                  </a:ext>
                </a:extLst>
              </p:cNvPr>
              <p:cNvSpPr txBox="1">
                <a:spLocks noRot="1" noChangeAspect="1" noMove="1" noResize="1" noEditPoints="1" noAdjustHandles="1" noChangeArrowheads="1" noChangeShapeType="1" noTextEdit="1"/>
              </p:cNvSpPr>
              <p:nvPr/>
            </p:nvSpPr>
            <p:spPr>
              <a:xfrm>
                <a:off x="735495" y="3262745"/>
                <a:ext cx="10391803" cy="369332"/>
              </a:xfrm>
              <a:prstGeom prst="rect">
                <a:avLst/>
              </a:prstGeom>
              <a:blipFill>
                <a:blip r:embed="rId5"/>
                <a:stretch>
                  <a:fillRect l="-528" t="-8197" b="-24590"/>
                </a:stretch>
              </a:blipFill>
            </p:spPr>
            <p:txBody>
              <a:bodyPr/>
              <a:lstStyle/>
              <a:p>
                <a:r>
                  <a:rPr lang="it-IT">
                    <a:noFill/>
                  </a:rPr>
                  <a:t> </a:t>
                </a:r>
              </a:p>
            </p:txBody>
          </p:sp>
        </mc:Fallback>
      </mc:AlternateContent>
    </p:spTree>
    <p:extLst>
      <p:ext uri="{BB962C8B-B14F-4D97-AF65-F5344CB8AC3E}">
        <p14:creationId xmlns:p14="http://schemas.microsoft.com/office/powerpoint/2010/main" val="86709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7FC5-43FD-A679-8AFE-889C7D439B06}"/>
            </a:ext>
          </a:extLst>
        </p:cNvPr>
        <p:cNvGrpSpPr/>
        <p:nvPr/>
      </p:nvGrpSpPr>
      <p:grpSpPr>
        <a:xfrm>
          <a:off x="0" y="0"/>
          <a:ext cx="0" cy="0"/>
          <a:chOff x="0" y="0"/>
          <a:chExt cx="0" cy="0"/>
        </a:xfrm>
      </p:grpSpPr>
      <p:pic>
        <p:nvPicPr>
          <p:cNvPr id="3" name="Immagine 2" descr="Immagine che contiene testo, Carattere, ricevuta, schermata&#10;&#10;Il contenuto generato dall'IA potrebbe non essere corretto.">
            <a:extLst>
              <a:ext uri="{FF2B5EF4-FFF2-40B4-BE49-F238E27FC236}">
                <a16:creationId xmlns:a16="http://schemas.microsoft.com/office/drawing/2014/main" id="{125E1F55-5E35-289D-7DFB-D1AC0BBA3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270" y="2075313"/>
            <a:ext cx="5539887" cy="1870881"/>
          </a:xfrm>
          <a:prstGeom prst="rect">
            <a:avLst/>
          </a:prstGeom>
          <a:ln>
            <a:solidFill>
              <a:schemeClr val="accent1">
                <a:lumMod val="50000"/>
              </a:schemeClr>
            </a:solidFill>
          </a:ln>
          <a:effectLst>
            <a:outerShdw blurRad="63500" sx="102000" sy="102000" algn="ctr" rotWithShape="0">
              <a:prstClr val="black">
                <a:alpha val="40000"/>
              </a:prstClr>
            </a:outerShdw>
          </a:effectLst>
        </p:spPr>
      </p:pic>
      <p:grpSp>
        <p:nvGrpSpPr>
          <p:cNvPr id="13" name="Gruppo 12">
            <a:extLst>
              <a:ext uri="{FF2B5EF4-FFF2-40B4-BE49-F238E27FC236}">
                <a16:creationId xmlns:a16="http://schemas.microsoft.com/office/drawing/2014/main" id="{B405CBCA-94EE-A0CC-DD35-8249BC229539}"/>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35E3A295-745F-4517-57F7-EBE6855D3F28}"/>
                </a:ext>
              </a:extLst>
            </p:cNvPr>
            <p:cNvSpPr/>
            <p:nvPr/>
          </p:nvSpPr>
          <p:spPr>
            <a:xfrm>
              <a:off x="3421934" y="40903"/>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a gallone 7">
              <a:extLst>
                <a:ext uri="{FF2B5EF4-FFF2-40B4-BE49-F238E27FC236}">
                  <a16:creationId xmlns:a16="http://schemas.microsoft.com/office/drawing/2014/main" id="{D5686A3B-63D8-8607-44AE-5745FD3DA708}"/>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09279278-D0E6-E8C2-A249-A945EF6F54B5}"/>
                </a:ext>
              </a:extLst>
            </p:cNvPr>
            <p:cNvSpPr/>
            <p:nvPr/>
          </p:nvSpPr>
          <p:spPr>
            <a:xfrm>
              <a:off x="6661610" y="40905"/>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0" name="Freccia a gallone 9">
              <a:extLst>
                <a:ext uri="{FF2B5EF4-FFF2-40B4-BE49-F238E27FC236}">
                  <a16:creationId xmlns:a16="http://schemas.microsoft.com/office/drawing/2014/main" id="{437E8E97-A6FA-42A6-734A-6528C2FA7018}"/>
                </a:ext>
              </a:extLst>
            </p:cNvPr>
            <p:cNvSpPr/>
            <p:nvPr/>
          </p:nvSpPr>
          <p:spPr>
            <a:xfrm>
              <a:off x="8281448" y="40905"/>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1" name="Freccia a gallone 10">
              <a:extLst>
                <a:ext uri="{FF2B5EF4-FFF2-40B4-BE49-F238E27FC236}">
                  <a16:creationId xmlns:a16="http://schemas.microsoft.com/office/drawing/2014/main" id="{221D73EF-6839-6E5A-6ADB-EA0B479808DF}"/>
                </a:ext>
              </a:extLst>
            </p:cNvPr>
            <p:cNvSpPr/>
            <p:nvPr/>
          </p:nvSpPr>
          <p:spPr>
            <a:xfrm>
              <a:off x="9901286" y="40906"/>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a gallone 11">
              <a:extLst>
                <a:ext uri="{FF2B5EF4-FFF2-40B4-BE49-F238E27FC236}">
                  <a16:creationId xmlns:a16="http://schemas.microsoft.com/office/drawing/2014/main" id="{1EA2668B-538C-4D26-4273-BCE124D74F57}"/>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055EFB61-51A1-9F9C-872A-E731FF07EDB5}"/>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29D4A849-4986-6052-C7CA-444F11AD2487}"/>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9A487964-BF1F-A2B7-8D09-9B5E7554EB13}"/>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BE0D64AA-4FC9-44E6-A94D-CC4714154EF7}"/>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EFC4B287-0D34-8477-2347-C6B746B5F760}"/>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66B4E95B-CC2F-4EDF-4EE8-644D1A7ACCCB}"/>
              </a:ext>
            </a:extLst>
          </p:cNvPr>
          <p:cNvSpPr txBox="1"/>
          <p:nvPr/>
        </p:nvSpPr>
        <p:spPr>
          <a:xfrm>
            <a:off x="7926183"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0DB447B1-BF35-7195-3269-3616C2A4E50D}"/>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grpSp>
        <p:nvGrpSpPr>
          <p:cNvPr id="22" name="Gruppo 21">
            <a:extLst>
              <a:ext uri="{FF2B5EF4-FFF2-40B4-BE49-F238E27FC236}">
                <a16:creationId xmlns:a16="http://schemas.microsoft.com/office/drawing/2014/main" id="{DC914A4D-533B-E912-0F37-2D97CA572F19}"/>
              </a:ext>
            </a:extLst>
          </p:cNvPr>
          <p:cNvGrpSpPr/>
          <p:nvPr/>
        </p:nvGrpSpPr>
        <p:grpSpPr>
          <a:xfrm>
            <a:off x="6330784" y="1880579"/>
            <a:ext cx="5517062" cy="1754326"/>
            <a:chOff x="6624971" y="1934177"/>
            <a:chExt cx="5517062" cy="1754326"/>
          </a:xfrm>
        </p:grpSpPr>
        <p:sp>
          <p:nvSpPr>
            <p:cNvPr id="18" name="Rettangolo 17">
              <a:extLst>
                <a:ext uri="{FF2B5EF4-FFF2-40B4-BE49-F238E27FC236}">
                  <a16:creationId xmlns:a16="http://schemas.microsoft.com/office/drawing/2014/main" id="{7E82DAD6-E99E-D9CB-BD32-0B15B2EA0207}"/>
                </a:ext>
              </a:extLst>
            </p:cNvPr>
            <p:cNvSpPr/>
            <p:nvPr/>
          </p:nvSpPr>
          <p:spPr>
            <a:xfrm>
              <a:off x="6624971" y="1934177"/>
              <a:ext cx="5517062" cy="1690238"/>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7" name="Gruppo 6">
              <a:extLst>
                <a:ext uri="{FF2B5EF4-FFF2-40B4-BE49-F238E27FC236}">
                  <a16:creationId xmlns:a16="http://schemas.microsoft.com/office/drawing/2014/main" id="{20BCFD53-2513-1883-BCC0-B70B9AEC2E04}"/>
                </a:ext>
              </a:extLst>
            </p:cNvPr>
            <p:cNvGrpSpPr/>
            <p:nvPr/>
          </p:nvGrpSpPr>
          <p:grpSpPr>
            <a:xfrm>
              <a:off x="6624971" y="1934177"/>
              <a:ext cx="4831534" cy="1754326"/>
              <a:chOff x="735495" y="2041717"/>
              <a:chExt cx="8387516" cy="1754326"/>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EB0996C8-BF40-CB05-3C77-FE846FF4F0F9}"/>
                      </a:ext>
                    </a:extLst>
                  </p:cNvPr>
                  <p:cNvSpPr txBox="1"/>
                  <p:nvPr/>
                </p:nvSpPr>
                <p:spPr>
                  <a:xfrm>
                    <a:off x="735495" y="2041717"/>
                    <a:ext cx="8387516" cy="1754326"/>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In the </a:t>
                    </a:r>
                    <a:r>
                      <a:rPr lang="it-IT" i="1" dirty="0" err="1">
                        <a:latin typeface="Times New Roman" panose="02020603050405020304" pitchFamily="18" charset="0"/>
                        <a:cs typeface="Times New Roman" panose="02020603050405020304" pitchFamily="18" charset="0"/>
                      </a:rPr>
                      <a:t>evolution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here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reported</a:t>
                    </a:r>
                    <a:r>
                      <a:rPr lang="it-IT" i="1" dirty="0">
                        <a:latin typeface="Times New Roman" panose="02020603050405020304" pitchFamily="18" charset="0"/>
                        <a:cs typeface="Times New Roman" panose="02020603050405020304" pitchFamily="18" charset="0"/>
                      </a:rPr>
                      <a:t> the action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chosen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according</a:t>
                    </a:r>
                    <a:r>
                      <a:rPr lang="it-IT" i="1" dirty="0">
                        <a:latin typeface="Times New Roman" panose="02020603050405020304" pitchFamily="18" charset="0"/>
                        <a:cs typeface="Times New Roman" panose="02020603050405020304" pitchFamily="18" charset="0"/>
                      </a:rPr>
                      <a:t> to an </a:t>
                    </a:r>
                    <a:r>
                      <a:rPr lang="el-GR" i="1" dirty="0">
                        <a:latin typeface="Times New Roman" panose="02020603050405020304" pitchFamily="18" charset="0"/>
                        <a:cs typeface="Times New Roman" panose="02020603050405020304" pitchFamily="18" charset="0"/>
                      </a:rPr>
                      <a:t>ϵ</a:t>
                    </a:r>
                    <a:r>
                      <a:rPr lang="it-IT" i="1" dirty="0">
                        <a:latin typeface="Times New Roman" panose="02020603050405020304" pitchFamily="18" charset="0"/>
                        <a:cs typeface="Times New Roman" panose="02020603050405020304" pitchFamily="18" charset="0"/>
                      </a:rPr>
                      <a:t>-</a:t>
                    </a:r>
                    <a:r>
                      <a:rPr lang="it-IT" i="1" dirty="0" err="1">
                        <a:latin typeface="Times New Roman" panose="02020603050405020304" pitchFamily="18" charset="0"/>
                        <a:cs typeface="Times New Roman" panose="02020603050405020304" pitchFamily="18" charset="0"/>
                      </a:rPr>
                      <a:t>greedy</a:t>
                    </a:r>
                    <a:r>
                      <a:rPr lang="it-IT" i="1" dirty="0">
                        <a:latin typeface="Times New Roman" panose="02020603050405020304" pitchFamily="18" charset="0"/>
                        <a:cs typeface="Times New Roman" panose="02020603050405020304" pitchFamily="18" charset="0"/>
                      </a:rPr>
                      <a:t> policy. </a:t>
                    </a:r>
                    <a:r>
                      <a:rPr lang="it-IT" i="1" dirty="0" err="1">
                        <a:latin typeface="Times New Roman" panose="02020603050405020304" pitchFamily="18" charset="0"/>
                        <a:cs typeface="Times New Roman" panose="02020603050405020304" pitchFamily="18" charset="0"/>
                      </a:rPr>
                      <a:t>This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means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call of the step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in the general state </a:t>
                    </a:r>
                    <a:r>
                      <a:rPr lang="it-IT" b="1" i="1" dirty="0">
                        <a:latin typeface="Times New Roman" panose="02020603050405020304" pitchFamily="18" charset="0"/>
                        <a:cs typeface="Times New Roman" panose="02020603050405020304" pitchFamily="18" charset="0"/>
                      </a:rPr>
                      <a:t>S</a:t>
                    </a:r>
                    <a:r>
                      <a:rPr lang="it-IT" i="1" dirty="0">
                        <a:latin typeface="Times New Roman" panose="02020603050405020304" pitchFamily="18" charset="0"/>
                        <a:cs typeface="Times New Roman" panose="02020603050405020304" pitchFamily="18" charset="0"/>
                      </a:rPr>
                      <a:t> the agent </a:t>
                    </a:r>
                    <a:r>
                      <a:rPr lang="it-IT" i="1" dirty="0" err="1">
                        <a:latin typeface="Times New Roman" panose="02020603050405020304" pitchFamily="18" charset="0"/>
                        <a:cs typeface="Times New Roman" panose="02020603050405020304" pitchFamily="18" charset="0"/>
                      </a:rPr>
                      <a:t>selects</a:t>
                    </a:r>
                    <a:r>
                      <a:rPr lang="it-IT" i="1" dirty="0">
                        <a:latin typeface="Times New Roman" panose="02020603050405020304" pitchFamily="18" charset="0"/>
                        <a:cs typeface="Times New Roman" panose="02020603050405020304" pitchFamily="18" charset="0"/>
                      </a:rPr>
                      <a:t> the action with the </a:t>
                    </a:r>
                    <a:r>
                      <a:rPr lang="it-IT" i="1" dirty="0" err="1">
                        <a:latin typeface="Times New Roman" panose="02020603050405020304" pitchFamily="18" charset="0"/>
                        <a:cs typeface="Times New Roman" panose="02020603050405020304" pitchFamily="18" charset="0"/>
                      </a:rPr>
                      <a:t>highest</a:t>
                    </a:r>
                    <a:r>
                      <a:rPr lang="it-IT" i="1" dirty="0">
                        <a:latin typeface="Times New Roman" panose="02020603050405020304" pitchFamily="18" charset="0"/>
                        <a:cs typeface="Times New Roman" panose="02020603050405020304" pitchFamily="18" charset="0"/>
                      </a:rPr>
                      <a:t> </a:t>
                    </a:r>
                    <a14:m>
                      <m:oMath xmlns:m="http://schemas.openxmlformats.org/officeDocument/2006/math">
                        <m:r>
                          <a:rPr lang="it-IT" b="1" i="1">
                            <a:latin typeface="Cambria Math" panose="02040503050406030204" pitchFamily="18" charset="0"/>
                            <a:ea typeface="Cambria Math" panose="02040503050406030204" pitchFamily="18" charset="0"/>
                            <a:cs typeface="Times New Roman" panose="02020603050405020304" pitchFamily="18" charset="0"/>
                          </a:rPr>
                          <m:t>𝒒</m:t>
                        </m:r>
                        <m:r>
                          <a:rPr lang="it-IT" b="1">
                            <a:latin typeface="Cambria Math" panose="02040503050406030204" pitchFamily="18" charset="0"/>
                            <a:ea typeface="Cambria Math" panose="02040503050406030204" pitchFamily="18" charset="0"/>
                            <a:cs typeface="Times New Roman" panose="02020603050405020304" pitchFamily="18" charset="0"/>
                          </a:rPr>
                          <m:t>(</m:t>
                        </m:r>
                        <m:r>
                          <a:rPr lang="it-IT" b="1">
                            <a:latin typeface="Cambria Math" panose="02040503050406030204" pitchFamily="18" charset="0"/>
                            <a:ea typeface="Cambria Math" panose="02040503050406030204" pitchFamily="18" charset="0"/>
                            <a:cs typeface="Times New Roman" panose="02020603050405020304" pitchFamily="18" charset="0"/>
                          </a:rPr>
                          <m:t>𝐬</m:t>
                        </m:r>
                        <m:r>
                          <a:rPr lang="it-IT" b="1">
                            <a:latin typeface="Cambria Math" panose="02040503050406030204" pitchFamily="18" charset="0"/>
                            <a:ea typeface="Cambria Math" panose="02040503050406030204" pitchFamily="18" charset="0"/>
                            <a:cs typeface="Times New Roman" panose="02020603050405020304" pitchFamily="18" charset="0"/>
                          </a:rPr>
                          <m:t>,</m:t>
                        </m:r>
                        <m:r>
                          <a:rPr lang="it-IT" b="1">
                            <a:latin typeface="Cambria Math" panose="02040503050406030204" pitchFamily="18" charset="0"/>
                            <a:ea typeface="Cambria Math" panose="02040503050406030204" pitchFamily="18" charset="0"/>
                            <a:cs typeface="Times New Roman" panose="02020603050405020304" pitchFamily="18" charset="0"/>
                          </a:rPr>
                          <m:t>𝐚</m:t>
                        </m:r>
                        <m:r>
                          <a:rPr lang="it-IT" b="1">
                            <a:latin typeface="Cambria Math" panose="02040503050406030204" pitchFamily="18" charset="0"/>
                            <a:ea typeface="Cambria Math" panose="02040503050406030204" pitchFamily="18" charset="0"/>
                            <a:cs typeface="Times New Roman" panose="02020603050405020304" pitchFamily="18" charset="0"/>
                          </a:rPr>
                          <m:t>)</m:t>
                        </m:r>
                      </m:oMath>
                    </a14:m>
                    <a:r>
                      <a:rPr lang="it-IT" i="1" dirty="0">
                        <a:latin typeface="Times New Roman" panose="02020603050405020304" pitchFamily="18" charset="0"/>
                        <a:cs typeface="Times New Roman" panose="02020603050405020304" pitchFamily="18" charset="0"/>
                      </a:rPr>
                      <a:t> with </a:t>
                    </a:r>
                    <a:r>
                      <a:rPr lang="it-IT" i="1" dirty="0" err="1">
                        <a:latin typeface="Times New Roman" panose="02020603050405020304" pitchFamily="18" charset="0"/>
                        <a:cs typeface="Times New Roman" panose="02020603050405020304" pitchFamily="18" charset="0"/>
                      </a:rPr>
                      <a:t>probability</a:t>
                    </a:r>
                    <a:r>
                      <a:rPr lang="it-IT" i="1" dirty="0">
                        <a:latin typeface="Times New Roman" panose="02020603050405020304" pitchFamily="18" charset="0"/>
                        <a:cs typeface="Times New Roman" panose="02020603050405020304" pitchFamily="18" charset="0"/>
                      </a:rPr>
                      <a:t>:</a:t>
                    </a:r>
                  </a:p>
                  <a:p>
                    <a:pPr algn="just"/>
                    <a:endParaRPr lang="it-IT" i="1" dirty="0">
                      <a:latin typeface="Times New Roman" panose="02020603050405020304" pitchFamily="18" charset="0"/>
                      <a:cs typeface="Times New Roman" panose="02020603050405020304" pitchFamily="18" charset="0"/>
                    </a:endParaRPr>
                  </a:p>
                </p:txBody>
              </p:sp>
            </mc:Choice>
            <mc:Fallback xmlns="">
              <p:sp>
                <p:nvSpPr>
                  <p:cNvPr id="6" name="CasellaDiTesto 5">
                    <a:extLst>
                      <a:ext uri="{FF2B5EF4-FFF2-40B4-BE49-F238E27FC236}">
                        <a16:creationId xmlns:a16="http://schemas.microsoft.com/office/drawing/2014/main" id="{EB0996C8-BF40-CB05-3C77-FE846FF4F0F9}"/>
                      </a:ext>
                    </a:extLst>
                  </p:cNvPr>
                  <p:cNvSpPr txBox="1">
                    <a:spLocks noRot="1" noChangeAspect="1" noMove="1" noResize="1" noEditPoints="1" noAdjustHandles="1" noChangeArrowheads="1" noChangeShapeType="1" noTextEdit="1"/>
                  </p:cNvSpPr>
                  <p:nvPr/>
                </p:nvSpPr>
                <p:spPr>
                  <a:xfrm>
                    <a:off x="735495" y="2041717"/>
                    <a:ext cx="8387516" cy="1754326"/>
                  </a:xfrm>
                  <a:prstGeom prst="rect">
                    <a:avLst/>
                  </a:prstGeom>
                  <a:blipFill>
                    <a:blip r:embed="rId3"/>
                    <a:stretch>
                      <a:fillRect l="-1136" t="-1736" r="-113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6E918E03-2A70-B842-9D7A-45F777971FD9}"/>
                      </a:ext>
                    </a:extLst>
                  </p:cNvPr>
                  <p:cNvSpPr txBox="1"/>
                  <p:nvPr/>
                </p:nvSpPr>
                <p:spPr>
                  <a:xfrm>
                    <a:off x="6105138" y="3171892"/>
                    <a:ext cx="5947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𝟏</m:t>
                          </m:r>
                          <m:r>
                            <a:rPr lang="it-IT" b="1" i="1" smtClean="0">
                              <a:latin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𝜺</m:t>
                          </m:r>
                        </m:oMath>
                      </m:oMathPara>
                    </a14:m>
                    <a:endParaRPr lang="it-IT" b="1" dirty="0"/>
                  </a:p>
                </p:txBody>
              </p:sp>
            </mc:Choice>
            <mc:Fallback xmlns="">
              <p:sp>
                <p:nvSpPr>
                  <p:cNvPr id="4" name="CasellaDiTesto 3">
                    <a:extLst>
                      <a:ext uri="{FF2B5EF4-FFF2-40B4-BE49-F238E27FC236}">
                        <a16:creationId xmlns:a16="http://schemas.microsoft.com/office/drawing/2014/main" id="{6E918E03-2A70-B842-9D7A-45F777971FD9}"/>
                      </a:ext>
                    </a:extLst>
                  </p:cNvPr>
                  <p:cNvSpPr txBox="1">
                    <a:spLocks noRot="1" noChangeAspect="1" noMove="1" noResize="1" noEditPoints="1" noAdjustHandles="1" noChangeArrowheads="1" noChangeShapeType="1" noTextEdit="1"/>
                  </p:cNvSpPr>
                  <p:nvPr/>
                </p:nvSpPr>
                <p:spPr>
                  <a:xfrm>
                    <a:off x="6105138" y="3171892"/>
                    <a:ext cx="594715" cy="276999"/>
                  </a:xfrm>
                  <a:prstGeom prst="rect">
                    <a:avLst/>
                  </a:prstGeom>
                  <a:blipFill>
                    <a:blip r:embed="rId4"/>
                    <a:stretch>
                      <a:fillRect l="-25000" r="-73214" b="-11111"/>
                    </a:stretch>
                  </a:blipFill>
                </p:spPr>
                <p:txBody>
                  <a:bodyPr/>
                  <a:lstStyle/>
                  <a:p>
                    <a:r>
                      <a:rPr lang="it-IT">
                        <a:noFill/>
                      </a:rPr>
                      <a:t> </a:t>
                    </a:r>
                  </a:p>
                </p:txBody>
              </p:sp>
            </mc:Fallback>
          </mc:AlternateContent>
        </p:grpSp>
      </p:grpSp>
      <p:grpSp>
        <p:nvGrpSpPr>
          <p:cNvPr id="42" name="Gruppo 41">
            <a:extLst>
              <a:ext uri="{FF2B5EF4-FFF2-40B4-BE49-F238E27FC236}">
                <a16:creationId xmlns:a16="http://schemas.microsoft.com/office/drawing/2014/main" id="{D48A58D0-4229-CA60-619D-2E147C0BACE2}"/>
              </a:ext>
            </a:extLst>
          </p:cNvPr>
          <p:cNvGrpSpPr/>
          <p:nvPr/>
        </p:nvGrpSpPr>
        <p:grpSpPr>
          <a:xfrm>
            <a:off x="870046" y="2859674"/>
            <a:ext cx="4524288" cy="289579"/>
            <a:chOff x="1056361" y="4493542"/>
            <a:chExt cx="4524288" cy="289579"/>
          </a:xfrm>
        </p:grpSpPr>
        <p:cxnSp>
          <p:nvCxnSpPr>
            <p:cNvPr id="28" name="Connettore diritto 27">
              <a:extLst>
                <a:ext uri="{FF2B5EF4-FFF2-40B4-BE49-F238E27FC236}">
                  <a16:creationId xmlns:a16="http://schemas.microsoft.com/office/drawing/2014/main" id="{5EF245CB-95BA-B839-8ED3-E1164F0DB077}"/>
                </a:ext>
              </a:extLst>
            </p:cNvPr>
            <p:cNvCxnSpPr>
              <a:cxnSpLocks/>
            </p:cNvCxnSpPr>
            <p:nvPr/>
          </p:nvCxnSpPr>
          <p:spPr>
            <a:xfrm flipV="1">
              <a:off x="1070576" y="4511451"/>
              <a:ext cx="0" cy="271670"/>
            </a:xfrm>
            <a:prstGeom prst="line">
              <a:avLst/>
            </a:prstGeom>
            <a:ln w="28575">
              <a:solidFill>
                <a:srgbClr val="052D63"/>
              </a:solidFill>
            </a:ln>
          </p:spPr>
          <p:style>
            <a:lnRef idx="1">
              <a:schemeClr val="accent1"/>
            </a:lnRef>
            <a:fillRef idx="0">
              <a:schemeClr val="accent1"/>
            </a:fillRef>
            <a:effectRef idx="0">
              <a:schemeClr val="accent1"/>
            </a:effectRef>
            <a:fontRef idx="minor">
              <a:schemeClr val="tx1"/>
            </a:fontRef>
          </p:style>
        </p:cxnSp>
        <p:cxnSp>
          <p:nvCxnSpPr>
            <p:cNvPr id="38" name="Connettore diritto 37">
              <a:extLst>
                <a:ext uri="{FF2B5EF4-FFF2-40B4-BE49-F238E27FC236}">
                  <a16:creationId xmlns:a16="http://schemas.microsoft.com/office/drawing/2014/main" id="{705F9556-1055-AE42-B843-C5633BBAF978}"/>
                </a:ext>
              </a:extLst>
            </p:cNvPr>
            <p:cNvCxnSpPr>
              <a:cxnSpLocks/>
            </p:cNvCxnSpPr>
            <p:nvPr/>
          </p:nvCxnSpPr>
          <p:spPr>
            <a:xfrm>
              <a:off x="1056361" y="4507756"/>
              <a:ext cx="4510073" cy="0"/>
            </a:xfrm>
            <a:prstGeom prst="line">
              <a:avLst/>
            </a:prstGeom>
            <a:ln w="28575">
              <a:solidFill>
                <a:srgbClr val="052D63"/>
              </a:solidFill>
            </a:ln>
          </p:spPr>
          <p:style>
            <a:lnRef idx="1">
              <a:schemeClr val="accent1"/>
            </a:lnRef>
            <a:fillRef idx="0">
              <a:schemeClr val="accent1"/>
            </a:fillRef>
            <a:effectRef idx="0">
              <a:schemeClr val="accent1"/>
            </a:effectRef>
            <a:fontRef idx="minor">
              <a:schemeClr val="tx1"/>
            </a:fontRef>
          </p:style>
        </p:cxnSp>
        <p:cxnSp>
          <p:nvCxnSpPr>
            <p:cNvPr id="40" name="Connettore diritto 39">
              <a:extLst>
                <a:ext uri="{FF2B5EF4-FFF2-40B4-BE49-F238E27FC236}">
                  <a16:creationId xmlns:a16="http://schemas.microsoft.com/office/drawing/2014/main" id="{D37F2802-7C4C-E547-D524-90D75DC4CEE8}"/>
                </a:ext>
              </a:extLst>
            </p:cNvPr>
            <p:cNvCxnSpPr>
              <a:cxnSpLocks/>
            </p:cNvCxnSpPr>
            <p:nvPr/>
          </p:nvCxnSpPr>
          <p:spPr>
            <a:xfrm flipV="1">
              <a:off x="5567051" y="4493542"/>
              <a:ext cx="0" cy="271670"/>
            </a:xfrm>
            <a:prstGeom prst="line">
              <a:avLst/>
            </a:prstGeom>
            <a:ln w="28575">
              <a:solidFill>
                <a:srgbClr val="052D63"/>
              </a:solidFill>
            </a:ln>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1C2DE2DC-B8DC-3F47-F994-916608188BC0}"/>
                </a:ext>
              </a:extLst>
            </p:cNvPr>
            <p:cNvCxnSpPr>
              <a:cxnSpLocks/>
            </p:cNvCxnSpPr>
            <p:nvPr/>
          </p:nvCxnSpPr>
          <p:spPr>
            <a:xfrm>
              <a:off x="1070576" y="4768087"/>
              <a:ext cx="4510073" cy="0"/>
            </a:xfrm>
            <a:prstGeom prst="line">
              <a:avLst/>
            </a:prstGeom>
            <a:ln w="28575">
              <a:solidFill>
                <a:srgbClr val="052D63"/>
              </a:solidFill>
            </a:ln>
          </p:spPr>
          <p:style>
            <a:lnRef idx="1">
              <a:schemeClr val="accent1"/>
            </a:lnRef>
            <a:fillRef idx="0">
              <a:schemeClr val="accent1"/>
            </a:fillRef>
            <a:effectRef idx="0">
              <a:schemeClr val="accent1"/>
            </a:effectRef>
            <a:fontRef idx="minor">
              <a:schemeClr val="tx1"/>
            </a:fontRef>
          </p:style>
        </p:cxnSp>
      </p:grpSp>
      <p:cxnSp>
        <p:nvCxnSpPr>
          <p:cNvPr id="44" name="Connettore diritto 43">
            <a:extLst>
              <a:ext uri="{FF2B5EF4-FFF2-40B4-BE49-F238E27FC236}">
                <a16:creationId xmlns:a16="http://schemas.microsoft.com/office/drawing/2014/main" id="{52C8CFA0-6FDF-85EA-DDDA-67F48AC5493C}"/>
              </a:ext>
            </a:extLst>
          </p:cNvPr>
          <p:cNvCxnSpPr>
            <a:cxnSpLocks/>
          </p:cNvCxnSpPr>
          <p:nvPr/>
        </p:nvCxnSpPr>
        <p:spPr>
          <a:xfrm>
            <a:off x="5394334" y="3116310"/>
            <a:ext cx="936450" cy="454507"/>
          </a:xfrm>
          <a:prstGeom prst="line">
            <a:avLst/>
          </a:prstGeom>
          <a:ln w="28575">
            <a:solidFill>
              <a:srgbClr val="052D63"/>
            </a:solidFill>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AFB8EFF7-3E1B-7953-362B-42E576C9046F}"/>
              </a:ext>
            </a:extLst>
          </p:cNvPr>
          <p:cNvCxnSpPr/>
          <p:nvPr/>
        </p:nvCxnSpPr>
        <p:spPr>
          <a:xfrm flipV="1">
            <a:off x="5394334" y="1880579"/>
            <a:ext cx="936450" cy="979095"/>
          </a:xfrm>
          <a:prstGeom prst="line">
            <a:avLst/>
          </a:prstGeom>
          <a:ln w="28575">
            <a:solidFill>
              <a:srgbClr val="052D63"/>
            </a:solidFill>
          </a:ln>
        </p:spPr>
        <p:style>
          <a:lnRef idx="1">
            <a:schemeClr val="accent1"/>
          </a:lnRef>
          <a:fillRef idx="0">
            <a:schemeClr val="accent1"/>
          </a:fillRef>
          <a:effectRef idx="0">
            <a:schemeClr val="accent1"/>
          </a:effectRef>
          <a:fontRef idx="minor">
            <a:schemeClr val="tx1"/>
          </a:fontRef>
        </p:style>
      </p:cxnSp>
      <p:sp>
        <p:nvSpPr>
          <p:cNvPr id="49" name="CasellaDiTesto 48">
            <a:extLst>
              <a:ext uri="{FF2B5EF4-FFF2-40B4-BE49-F238E27FC236}">
                <a16:creationId xmlns:a16="http://schemas.microsoft.com/office/drawing/2014/main" id="{98BF5ACA-AE6A-9401-AFC6-7C672E78EC78}"/>
              </a:ext>
            </a:extLst>
          </p:cNvPr>
          <p:cNvSpPr txBox="1"/>
          <p:nvPr/>
        </p:nvSpPr>
        <p:spPr>
          <a:xfrm>
            <a:off x="268589" y="3969348"/>
            <a:ext cx="11187939" cy="1569660"/>
          </a:xfrm>
          <a:prstGeom prst="rect">
            <a:avLst/>
          </a:prstGeom>
          <a:noFill/>
        </p:spPr>
        <p:txBody>
          <a:bodyPr wrap="square" rtlCol="0">
            <a:spAutoFit/>
          </a:bodyPr>
          <a:lstStyle/>
          <a:p>
            <a:r>
              <a:rPr lang="it-IT" sz="1600" i="1" dirty="0">
                <a:latin typeface="Times New Roman" panose="02020603050405020304" pitchFamily="18" charset="0"/>
                <a:cs typeface="Times New Roman" panose="02020603050405020304" pitchFamily="18" charset="0"/>
              </a:rPr>
              <a:t>The </a:t>
            </a:r>
            <a:r>
              <a:rPr lang="el-GR" sz="1600" i="1" dirty="0">
                <a:latin typeface="Times New Roman" panose="02020603050405020304" pitchFamily="18" charset="0"/>
                <a:cs typeface="Times New Roman" panose="02020603050405020304" pitchFamily="18" charset="0"/>
              </a:rPr>
              <a:t>ϵ</a:t>
            </a:r>
            <a:r>
              <a:rPr lang="it-IT" sz="1600" i="1" dirty="0">
                <a:latin typeface="Times New Roman" panose="02020603050405020304" pitchFamily="18" charset="0"/>
                <a:cs typeface="Times New Roman" panose="02020603050405020304" pitchFamily="18" charset="0"/>
              </a:rPr>
              <a:t>-</a:t>
            </a:r>
            <a:r>
              <a:rPr lang="it-IT" sz="1600" i="1" dirty="0" err="1">
                <a:latin typeface="Times New Roman" panose="02020603050405020304" pitchFamily="18" charset="0"/>
                <a:cs typeface="Times New Roman" panose="02020603050405020304" pitchFamily="18" charset="0"/>
              </a:rPr>
              <a:t>greedy</a:t>
            </a:r>
            <a:r>
              <a:rPr lang="it-IT" sz="1600" i="1" dirty="0">
                <a:latin typeface="Times New Roman" panose="02020603050405020304" pitchFamily="18" charset="0"/>
                <a:cs typeface="Times New Roman" panose="02020603050405020304" pitchFamily="18" charset="0"/>
              </a:rPr>
              <a:t> policy </a:t>
            </a:r>
            <a:r>
              <a:rPr lang="it-IT" sz="1600" i="1" dirty="0" err="1">
                <a:latin typeface="Times New Roman" panose="02020603050405020304" pitchFamily="18" charset="0"/>
                <a:cs typeface="Times New Roman" panose="02020603050405020304" pitchFamily="18" charset="0"/>
              </a:rPr>
              <a:t>is</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useful</a:t>
            </a:r>
            <a:r>
              <a:rPr lang="it-IT" sz="1600" i="1" dirty="0">
                <a:latin typeface="Times New Roman" panose="02020603050405020304" pitchFamily="18" charset="0"/>
                <a:cs typeface="Times New Roman" panose="02020603050405020304" pitchFamily="18" charset="0"/>
              </a:rPr>
              <a:t> to balance the exploitation and </a:t>
            </a:r>
            <a:r>
              <a:rPr lang="it-IT" sz="1600" i="1" dirty="0" err="1">
                <a:latin typeface="Times New Roman" panose="02020603050405020304" pitchFamily="18" charset="0"/>
                <a:cs typeface="Times New Roman" panose="02020603050405020304" pitchFamily="18" charset="0"/>
              </a:rPr>
              <a:t>exploration</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behavior</a:t>
            </a:r>
            <a:r>
              <a:rPr lang="it-IT" sz="1600" i="1" dirty="0">
                <a:latin typeface="Times New Roman" panose="02020603050405020304" pitchFamily="18" charset="0"/>
                <a:cs typeface="Times New Roman" panose="02020603050405020304" pitchFamily="18" charset="0"/>
              </a:rPr>
              <a:t>. With an high </a:t>
            </a:r>
            <a:r>
              <a:rPr lang="it-IT" sz="1600" i="1" dirty="0" err="1">
                <a:latin typeface="Times New Roman" panose="02020603050405020304" pitchFamily="18" charset="0"/>
                <a:cs typeface="Times New Roman" panose="02020603050405020304" pitchFamily="18" charset="0"/>
              </a:rPr>
              <a:t>value</a:t>
            </a:r>
            <a:r>
              <a:rPr lang="it-IT" sz="1600" i="1" dirty="0">
                <a:latin typeface="Times New Roman" panose="02020603050405020304" pitchFamily="18" charset="0"/>
                <a:cs typeface="Times New Roman" panose="02020603050405020304" pitchFamily="18" charset="0"/>
              </a:rPr>
              <a:t> of </a:t>
            </a:r>
            <a:r>
              <a:rPr lang="el-GR" sz="1600" i="1" dirty="0">
                <a:latin typeface="Times New Roman" panose="02020603050405020304" pitchFamily="18" charset="0"/>
                <a:cs typeface="Times New Roman" panose="02020603050405020304" pitchFamily="18" charset="0"/>
              </a:rPr>
              <a:t>ϵ</a:t>
            </a:r>
            <a:r>
              <a:rPr lang="it-IT" sz="1600" i="1" dirty="0">
                <a:latin typeface="Times New Roman" panose="02020603050405020304" pitchFamily="18" charset="0"/>
                <a:cs typeface="Times New Roman" panose="02020603050405020304" pitchFamily="18" charset="0"/>
              </a:rPr>
              <a:t> the agent </a:t>
            </a:r>
            <a:r>
              <a:rPr lang="it-IT" sz="1600" i="1" dirty="0" err="1">
                <a:latin typeface="Times New Roman" panose="02020603050405020304" pitchFamily="18" charset="0"/>
                <a:cs typeface="Times New Roman" panose="02020603050405020304" pitchFamily="18" charset="0"/>
              </a:rPr>
              <a:t>chooses</a:t>
            </a:r>
            <a:r>
              <a:rPr lang="it-IT" sz="1600" i="1" dirty="0">
                <a:latin typeface="Times New Roman" panose="02020603050405020304" pitchFamily="18" charset="0"/>
                <a:cs typeface="Times New Roman" panose="02020603050405020304" pitchFamily="18" charset="0"/>
              </a:rPr>
              <a:t> a random action with more </a:t>
            </a:r>
            <a:r>
              <a:rPr lang="it-IT" sz="1600" i="1" dirty="0" err="1">
                <a:latin typeface="Times New Roman" panose="02020603050405020304" pitchFamily="18" charset="0"/>
                <a:cs typeface="Times New Roman" panose="02020603050405020304" pitchFamily="18" charset="0"/>
              </a:rPr>
              <a:t>probability</a:t>
            </a:r>
            <a:r>
              <a:rPr lang="it-IT" sz="1600" i="1" dirty="0">
                <a:latin typeface="Times New Roman" panose="02020603050405020304" pitchFamily="18" charset="0"/>
                <a:cs typeface="Times New Roman" panose="02020603050405020304" pitchFamily="18" charset="0"/>
              </a:rPr>
              <a:t> giving more </a:t>
            </a:r>
            <a:r>
              <a:rPr lang="it-IT" sz="1600" i="1" dirty="0" err="1">
                <a:latin typeface="Times New Roman" panose="02020603050405020304" pitchFamily="18" charset="0"/>
                <a:cs typeface="Times New Roman" panose="02020603050405020304" pitchFamily="18" charset="0"/>
              </a:rPr>
              <a:t>importance</a:t>
            </a:r>
            <a:r>
              <a:rPr lang="it-IT" sz="1600" i="1" dirty="0">
                <a:latin typeface="Times New Roman" panose="02020603050405020304" pitchFamily="18" charset="0"/>
                <a:cs typeface="Times New Roman" panose="02020603050405020304" pitchFamily="18" charset="0"/>
              </a:rPr>
              <a:t> to the </a:t>
            </a:r>
            <a:r>
              <a:rPr lang="it-IT" sz="1600" i="1" dirty="0" err="1">
                <a:latin typeface="Times New Roman" panose="02020603050405020304" pitchFamily="18" charset="0"/>
                <a:cs typeface="Times New Roman" panose="02020603050405020304" pitchFamily="18" charset="0"/>
              </a:rPr>
              <a:t>exploration</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As</a:t>
            </a:r>
            <a:r>
              <a:rPr lang="it-IT" sz="1600" i="1" dirty="0">
                <a:latin typeface="Times New Roman" panose="02020603050405020304" pitchFamily="18" charset="0"/>
                <a:cs typeface="Times New Roman" panose="02020603050405020304" pitchFamily="18" charset="0"/>
              </a:rPr>
              <a:t> a </a:t>
            </a:r>
            <a:r>
              <a:rPr lang="it-IT" sz="1600" i="1" dirty="0" err="1">
                <a:latin typeface="Times New Roman" panose="02020603050405020304" pitchFamily="18" charset="0"/>
                <a:cs typeface="Times New Roman" panose="02020603050405020304" pitchFamily="18" charset="0"/>
              </a:rPr>
              <a:t>consequence</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it</a:t>
            </a:r>
            <a:r>
              <a:rPr lang="it-IT" sz="1600" i="1" dirty="0">
                <a:latin typeface="Times New Roman" panose="02020603050405020304" pitchFamily="18" charset="0"/>
                <a:cs typeface="Times New Roman" panose="02020603050405020304" pitchFamily="18" charset="0"/>
              </a:rPr>
              <a:t> can </a:t>
            </a:r>
            <a:r>
              <a:rPr lang="it-IT" sz="1600" i="1" dirty="0" err="1">
                <a:latin typeface="Times New Roman" panose="02020603050405020304" pitchFamily="18" charset="0"/>
                <a:cs typeface="Times New Roman" panose="02020603050405020304" pitchFamily="18" charset="0"/>
              </a:rPr>
              <a:t>find</a:t>
            </a:r>
            <a:r>
              <a:rPr lang="it-IT" sz="1600" i="1" dirty="0">
                <a:latin typeface="Times New Roman" panose="02020603050405020304" pitchFamily="18" charset="0"/>
                <a:cs typeface="Times New Roman" panose="02020603050405020304" pitchFamily="18" charset="0"/>
              </a:rPr>
              <a:t> out new action-</a:t>
            </a:r>
            <a:r>
              <a:rPr lang="it-IT" sz="1600" i="1" dirty="0" err="1">
                <a:latin typeface="Times New Roman" panose="02020603050405020304" pitchFamily="18" charset="0"/>
                <a:cs typeface="Times New Roman" panose="02020603050405020304" pitchFamily="18" charset="0"/>
              </a:rPr>
              <a:t>values</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which</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has</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not</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considered</a:t>
            </a:r>
            <a:r>
              <a:rPr lang="it-IT" sz="1600" i="1" dirty="0">
                <a:latin typeface="Times New Roman" panose="02020603050405020304" pitchFamily="18" charset="0"/>
                <a:cs typeface="Times New Roman" panose="02020603050405020304" pitchFamily="18" charset="0"/>
              </a:rPr>
              <a:t> so far. On the </a:t>
            </a:r>
            <a:r>
              <a:rPr lang="it-IT" sz="1600" i="1" dirty="0" err="1">
                <a:latin typeface="Times New Roman" panose="02020603050405020304" pitchFamily="18" charset="0"/>
                <a:cs typeface="Times New Roman" panose="02020603050405020304" pitchFamily="18" charset="0"/>
              </a:rPr>
              <a:t>contrary</a:t>
            </a:r>
            <a:r>
              <a:rPr lang="it-IT" sz="1600" i="1" dirty="0">
                <a:latin typeface="Times New Roman" panose="02020603050405020304" pitchFamily="18" charset="0"/>
                <a:cs typeface="Times New Roman" panose="02020603050405020304" pitchFamily="18" charset="0"/>
              </a:rPr>
              <a:t>, exploitation </a:t>
            </a:r>
            <a:r>
              <a:rPr lang="it-IT" sz="1600" i="1" dirty="0" err="1">
                <a:latin typeface="Times New Roman" panose="02020603050405020304" pitchFamily="18" charset="0"/>
                <a:cs typeface="Times New Roman" panose="02020603050405020304" pitchFamily="18" charset="0"/>
              </a:rPr>
              <a:t>guarantees</a:t>
            </a:r>
            <a:r>
              <a:rPr lang="it-IT" sz="1600" i="1" dirty="0">
                <a:latin typeface="Times New Roman" panose="02020603050405020304" pitchFamily="18" charset="0"/>
                <a:cs typeface="Times New Roman" panose="02020603050405020304" pitchFamily="18" charset="0"/>
              </a:rPr>
              <a:t> an action </a:t>
            </a:r>
            <a:r>
              <a:rPr lang="it-IT" sz="1600" i="1" dirty="0" err="1">
                <a:latin typeface="Times New Roman" panose="02020603050405020304" pitchFamily="18" charset="0"/>
                <a:cs typeface="Times New Roman" panose="02020603050405020304" pitchFamily="18" charset="0"/>
              </a:rPr>
              <a:t>choice</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based</a:t>
            </a:r>
            <a:r>
              <a:rPr lang="it-IT" sz="1600" i="1" dirty="0">
                <a:latin typeface="Times New Roman" panose="02020603050405020304" pitchFamily="18" charset="0"/>
                <a:cs typeface="Times New Roman" panose="02020603050405020304" pitchFamily="18" charset="0"/>
              </a:rPr>
              <a:t> on the action-</a:t>
            </a:r>
            <a:r>
              <a:rPr lang="it-IT" sz="1600" i="1" dirty="0" err="1">
                <a:latin typeface="Times New Roman" panose="02020603050405020304" pitchFamily="18" charset="0"/>
                <a:cs typeface="Times New Roman" panose="02020603050405020304" pitchFamily="18" charset="0"/>
              </a:rPr>
              <a:t>values</a:t>
            </a:r>
            <a:r>
              <a:rPr lang="it-IT" sz="1600" i="1" dirty="0">
                <a:latin typeface="Times New Roman" panose="02020603050405020304" pitchFamily="18" charset="0"/>
                <a:cs typeface="Times New Roman" panose="02020603050405020304" pitchFamily="18" charset="0"/>
              </a:rPr>
              <a:t> in the </a:t>
            </a:r>
            <a:r>
              <a:rPr lang="it-IT" sz="1600" i="1" dirty="0" err="1">
                <a:latin typeface="Times New Roman" panose="02020603050405020304" pitchFamily="18" charset="0"/>
                <a:cs typeface="Times New Roman" panose="02020603050405020304" pitchFamily="18" charset="0"/>
              </a:rPr>
              <a:t>table</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This</a:t>
            </a:r>
            <a:r>
              <a:rPr lang="it-IT" sz="1600" i="1" dirty="0">
                <a:latin typeface="Times New Roman" panose="02020603050405020304" pitchFamily="18" charset="0"/>
                <a:cs typeface="Times New Roman" panose="02020603050405020304" pitchFamily="18" charset="0"/>
              </a:rPr>
              <a:t> one </a:t>
            </a:r>
            <a:r>
              <a:rPr lang="it-IT" sz="1600" i="1" dirty="0" err="1">
                <a:latin typeface="Times New Roman" panose="02020603050405020304" pitchFamily="18" charset="0"/>
                <a:cs typeface="Times New Roman" panose="02020603050405020304" pitchFamily="18" charset="0"/>
              </a:rPr>
              <a:t>has</a:t>
            </a:r>
            <a:r>
              <a:rPr lang="it-IT" sz="1600" i="1" dirty="0">
                <a:latin typeface="Times New Roman" panose="02020603050405020304" pitchFamily="18" charset="0"/>
                <a:cs typeface="Times New Roman" panose="02020603050405020304" pitchFamily="18" charset="0"/>
              </a:rPr>
              <a:t> a </a:t>
            </a:r>
            <a:r>
              <a:rPr lang="it-IT" sz="1600" i="1" dirty="0" err="1">
                <a:latin typeface="Times New Roman" panose="02020603050405020304" pitchFamily="18" charset="0"/>
                <a:cs typeface="Times New Roman" panose="02020603050405020304" pitchFamily="18" charset="0"/>
              </a:rPr>
              <a:t>number</a:t>
            </a:r>
            <a:r>
              <a:rPr lang="it-IT" sz="1600" i="1" dirty="0">
                <a:latin typeface="Times New Roman" panose="02020603050405020304" pitchFamily="18" charset="0"/>
                <a:cs typeface="Times New Roman" panose="02020603050405020304" pitchFamily="18" charset="0"/>
              </a:rPr>
              <a:t> of </a:t>
            </a:r>
            <a:r>
              <a:rPr lang="it-IT" sz="1600" i="1" dirty="0" err="1">
                <a:latin typeface="Times New Roman" panose="02020603050405020304" pitchFamily="18" charset="0"/>
                <a:cs typeface="Times New Roman" panose="02020603050405020304" pitchFamily="18" charset="0"/>
              </a:rPr>
              <a:t>rows</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equal</a:t>
            </a:r>
            <a:r>
              <a:rPr lang="it-IT" sz="1600" i="1" dirty="0">
                <a:latin typeface="Times New Roman" panose="02020603050405020304" pitchFamily="18" charset="0"/>
                <a:cs typeface="Times New Roman" panose="02020603050405020304" pitchFamily="18" charset="0"/>
              </a:rPr>
              <a:t> to the </a:t>
            </a:r>
            <a:r>
              <a:rPr lang="it-IT" sz="1600" i="1" dirty="0" err="1">
                <a:latin typeface="Times New Roman" panose="02020603050405020304" pitchFamily="18" charset="0"/>
                <a:cs typeface="Times New Roman" panose="02020603050405020304" pitchFamily="18" charset="0"/>
              </a:rPr>
              <a:t>number</a:t>
            </a:r>
            <a:r>
              <a:rPr lang="it-IT" sz="1600" i="1" dirty="0">
                <a:latin typeface="Times New Roman" panose="02020603050405020304" pitchFamily="18" charset="0"/>
                <a:cs typeface="Times New Roman" panose="02020603050405020304" pitchFamily="18" charset="0"/>
              </a:rPr>
              <a:t> of </a:t>
            </a:r>
            <a:r>
              <a:rPr lang="it-IT" sz="1600" i="1" dirty="0" err="1">
                <a:latin typeface="Times New Roman" panose="02020603050405020304" pitchFamily="18" charset="0"/>
                <a:cs typeface="Times New Roman" panose="02020603050405020304" pitchFamily="18" charset="0"/>
              </a:rPr>
              <a:t>possible</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states</a:t>
            </a:r>
            <a:r>
              <a:rPr lang="it-IT" sz="1600" i="1" dirty="0">
                <a:latin typeface="Times New Roman" panose="02020603050405020304" pitchFamily="18" charset="0"/>
                <a:cs typeface="Times New Roman" panose="02020603050405020304" pitchFamily="18" charset="0"/>
              </a:rPr>
              <a:t> and a </a:t>
            </a:r>
            <a:r>
              <a:rPr lang="it-IT" sz="1600" i="1" dirty="0" err="1">
                <a:latin typeface="Times New Roman" panose="02020603050405020304" pitchFamily="18" charset="0"/>
                <a:cs typeface="Times New Roman" panose="02020603050405020304" pitchFamily="18" charset="0"/>
              </a:rPr>
              <a:t>number</a:t>
            </a:r>
            <a:r>
              <a:rPr lang="it-IT" sz="1600" i="1" dirty="0">
                <a:latin typeface="Times New Roman" panose="02020603050405020304" pitchFamily="18" charset="0"/>
                <a:cs typeface="Times New Roman" panose="02020603050405020304" pitchFamily="18" charset="0"/>
              </a:rPr>
              <a:t> of </a:t>
            </a:r>
            <a:r>
              <a:rPr lang="it-IT" sz="1600" i="1" dirty="0" err="1">
                <a:latin typeface="Times New Roman" panose="02020603050405020304" pitchFamily="18" charset="0"/>
                <a:cs typeface="Times New Roman" panose="02020603050405020304" pitchFamily="18" charset="0"/>
              </a:rPr>
              <a:t>columns</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equal</a:t>
            </a:r>
            <a:r>
              <a:rPr lang="it-IT" sz="1600" i="1" dirty="0">
                <a:latin typeface="Times New Roman" panose="02020603050405020304" pitchFamily="18" charset="0"/>
                <a:cs typeface="Times New Roman" panose="02020603050405020304" pitchFamily="18" charset="0"/>
              </a:rPr>
              <a:t> to the actions </a:t>
            </a:r>
            <a:r>
              <a:rPr lang="it-IT" sz="1600" i="1" dirty="0" err="1">
                <a:latin typeface="Times New Roman" panose="02020603050405020304" pitchFamily="18" charset="0"/>
                <a:cs typeface="Times New Roman" panose="02020603050405020304" pitchFamily="18" charset="0"/>
              </a:rPr>
              <a:t>available</a:t>
            </a:r>
            <a:r>
              <a:rPr lang="it-IT" sz="1600" i="1" dirty="0">
                <a:latin typeface="Times New Roman" panose="02020603050405020304" pitchFamily="18" charset="0"/>
                <a:cs typeface="Times New Roman" panose="02020603050405020304" pitchFamily="18" charset="0"/>
              </a:rPr>
              <a:t>. To create </a:t>
            </a:r>
            <a:r>
              <a:rPr lang="it-IT" sz="1600" i="1" dirty="0" err="1">
                <a:latin typeface="Times New Roman" panose="02020603050405020304" pitchFamily="18" charset="0"/>
                <a:cs typeface="Times New Roman" panose="02020603050405020304" pitchFamily="18" charset="0"/>
              </a:rPr>
              <a:t>it</a:t>
            </a:r>
            <a:r>
              <a:rPr lang="it-IT" sz="1600" i="1" dirty="0">
                <a:latin typeface="Times New Roman" panose="02020603050405020304" pitchFamily="18" charset="0"/>
                <a:cs typeface="Times New Roman" panose="02020603050405020304" pitchFamily="18" charset="0"/>
              </a:rPr>
              <a:t> in Matlab, first </a:t>
            </a:r>
            <a:r>
              <a:rPr lang="it-IT" sz="1600" i="1" dirty="0" err="1">
                <a:latin typeface="Times New Roman" panose="02020603050405020304" pitchFamily="18" charset="0"/>
                <a:cs typeface="Times New Roman" panose="02020603050405020304" pitchFamily="18" charset="0"/>
              </a:rPr>
              <a:t>define</a:t>
            </a:r>
            <a:r>
              <a:rPr lang="it-IT" sz="1600" i="1" dirty="0">
                <a:latin typeface="Times New Roman" panose="02020603050405020304" pitchFamily="18" charset="0"/>
                <a:cs typeface="Times New Roman" panose="02020603050405020304" pitchFamily="18" charset="0"/>
              </a:rPr>
              <a:t> the q-</a:t>
            </a:r>
            <a:r>
              <a:rPr lang="it-IT" sz="1600" i="1" dirty="0" err="1">
                <a:latin typeface="Times New Roman" panose="02020603050405020304" pitchFamily="18" charset="0"/>
                <a:cs typeface="Times New Roman" panose="02020603050405020304" pitchFamily="18" charset="0"/>
              </a:rPr>
              <a:t>value</a:t>
            </a:r>
            <a:r>
              <a:rPr lang="it-IT" sz="1600" i="1" dirty="0">
                <a:latin typeface="Times New Roman" panose="02020603050405020304" pitchFamily="18" charset="0"/>
                <a:cs typeface="Times New Roman" panose="02020603050405020304" pitchFamily="18" charset="0"/>
              </a:rPr>
              <a:t> and action-</a:t>
            </a:r>
            <a:r>
              <a:rPr lang="it-IT" sz="1600" i="1" dirty="0" err="1">
                <a:latin typeface="Times New Roman" panose="02020603050405020304" pitchFamily="18" charset="0"/>
                <a:cs typeface="Times New Roman" panose="02020603050405020304" pitchFamily="18" charset="0"/>
              </a:rPr>
              <a:t>value</a:t>
            </a:r>
            <a:r>
              <a:rPr lang="it-IT" sz="1600" i="1" dirty="0">
                <a:latin typeface="Times New Roman" panose="02020603050405020304" pitchFamily="18" charset="0"/>
                <a:cs typeface="Times New Roman" panose="02020603050405020304" pitchFamily="18" charset="0"/>
              </a:rPr>
              <a:t> </a:t>
            </a:r>
            <a:r>
              <a:rPr lang="it-IT" sz="1600" i="1" dirty="0" err="1">
                <a:latin typeface="Times New Roman" panose="02020603050405020304" pitchFamily="18" charset="0"/>
                <a:cs typeface="Times New Roman" panose="02020603050405020304" pitchFamily="18" charset="0"/>
              </a:rPr>
              <a:t>functions</a:t>
            </a:r>
            <a:r>
              <a:rPr lang="it-IT" sz="1600" i="1" dirty="0">
                <a:latin typeface="Times New Roman" panose="02020603050405020304" pitchFamily="18" charset="0"/>
                <a:cs typeface="Times New Roman" panose="02020603050405020304" pitchFamily="18" charset="0"/>
              </a:rPr>
              <a:t>:</a:t>
            </a:r>
          </a:p>
          <a:p>
            <a:r>
              <a:rPr lang="it-IT" sz="1600" i="1" dirty="0">
                <a:latin typeface="Times New Roman" panose="02020603050405020304" pitchFamily="18" charset="0"/>
                <a:cs typeface="Times New Roman" panose="02020603050405020304" pitchFamily="18" charset="0"/>
              </a:rPr>
              <a:t>  </a:t>
            </a:r>
          </a:p>
        </p:txBody>
      </p:sp>
      <p:pic>
        <p:nvPicPr>
          <p:cNvPr id="51" name="Immagine 50">
            <a:extLst>
              <a:ext uri="{FF2B5EF4-FFF2-40B4-BE49-F238E27FC236}">
                <a16:creationId xmlns:a16="http://schemas.microsoft.com/office/drawing/2014/main" id="{E0AAE07E-F50D-A142-945D-7A2649F2FF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55280" y="5309149"/>
            <a:ext cx="2865368" cy="152413"/>
          </a:xfrm>
          <a:prstGeom prst="rect">
            <a:avLst/>
          </a:prstGeom>
        </p:spPr>
      </p:pic>
      <p:pic>
        <p:nvPicPr>
          <p:cNvPr id="53" name="Immagine 52">
            <a:extLst>
              <a:ext uri="{FF2B5EF4-FFF2-40B4-BE49-F238E27FC236}">
                <a16:creationId xmlns:a16="http://schemas.microsoft.com/office/drawing/2014/main" id="{458A817E-5F41-5629-9493-276482F980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36842" y="5494002"/>
            <a:ext cx="4237087" cy="137172"/>
          </a:xfrm>
          <a:prstGeom prst="rect">
            <a:avLst/>
          </a:prstGeom>
        </p:spPr>
      </p:pic>
      <p:sp>
        <p:nvSpPr>
          <p:cNvPr id="54" name="CasellaDiTesto 53">
            <a:extLst>
              <a:ext uri="{FF2B5EF4-FFF2-40B4-BE49-F238E27FC236}">
                <a16:creationId xmlns:a16="http://schemas.microsoft.com/office/drawing/2014/main" id="{50C1EC29-9830-CE1B-308D-FAF83F459FC9}"/>
              </a:ext>
            </a:extLst>
          </p:cNvPr>
          <p:cNvSpPr txBox="1"/>
          <p:nvPr/>
        </p:nvSpPr>
        <p:spPr>
          <a:xfrm>
            <a:off x="268589" y="5631174"/>
            <a:ext cx="5698730" cy="338554"/>
          </a:xfrm>
          <a:prstGeom prst="rect">
            <a:avLst/>
          </a:prstGeom>
          <a:noFill/>
        </p:spPr>
        <p:txBody>
          <a:bodyPr wrap="square" rtlCol="0">
            <a:spAutoFit/>
          </a:bodyPr>
          <a:lstStyle/>
          <a:p>
            <a:r>
              <a:rPr lang="it-IT" sz="1600" i="1" dirty="0">
                <a:latin typeface="Times New Roman" panose="02020603050405020304" pitchFamily="18" charset="0"/>
                <a:cs typeface="Times New Roman" panose="02020603050405020304" pitchFamily="18" charset="0"/>
              </a:rPr>
              <a:t>And </a:t>
            </a:r>
            <a:r>
              <a:rPr lang="it-IT" sz="1600" i="1" dirty="0" err="1">
                <a:latin typeface="Times New Roman" panose="02020603050405020304" pitchFamily="18" charset="0"/>
                <a:cs typeface="Times New Roman" panose="02020603050405020304" pitchFamily="18" charset="0"/>
              </a:rPr>
              <a:t>finally</a:t>
            </a:r>
            <a:r>
              <a:rPr lang="it-IT" sz="1600" i="1" dirty="0">
                <a:latin typeface="Times New Roman" panose="02020603050405020304" pitchFamily="18" charset="0"/>
                <a:cs typeface="Times New Roman" panose="02020603050405020304" pitchFamily="18" charset="0"/>
              </a:rPr>
              <a:t> create the agent:</a:t>
            </a:r>
          </a:p>
        </p:txBody>
      </p:sp>
      <p:pic>
        <p:nvPicPr>
          <p:cNvPr id="56" name="Immagine 55">
            <a:extLst>
              <a:ext uri="{FF2B5EF4-FFF2-40B4-BE49-F238E27FC236}">
                <a16:creationId xmlns:a16="http://schemas.microsoft.com/office/drawing/2014/main" id="{1C0396FA-0AA2-2971-08F2-A4533F06AF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36842" y="5978066"/>
            <a:ext cx="2080440" cy="167655"/>
          </a:xfrm>
          <a:prstGeom prst="rect">
            <a:avLst/>
          </a:prstGeom>
        </p:spPr>
      </p:pic>
    </p:spTree>
    <p:extLst>
      <p:ext uri="{BB962C8B-B14F-4D97-AF65-F5344CB8AC3E}">
        <p14:creationId xmlns:p14="http://schemas.microsoft.com/office/powerpoint/2010/main" val="1476460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8ABF-B066-8B89-12A0-8635BD3E3703}"/>
            </a:ext>
          </a:extLst>
        </p:cNvPr>
        <p:cNvGrpSpPr/>
        <p:nvPr/>
      </p:nvGrpSpPr>
      <p:grpSpPr>
        <a:xfrm>
          <a:off x="0" y="0"/>
          <a:ext cx="0" cy="0"/>
          <a:chOff x="0" y="0"/>
          <a:chExt cx="0" cy="0"/>
        </a:xfrm>
      </p:grpSpPr>
      <p:grpSp>
        <p:nvGrpSpPr>
          <p:cNvPr id="13" name="Gruppo 12">
            <a:extLst>
              <a:ext uri="{FF2B5EF4-FFF2-40B4-BE49-F238E27FC236}">
                <a16:creationId xmlns:a16="http://schemas.microsoft.com/office/drawing/2014/main" id="{35B46AF4-D1C3-FB20-08C3-405A14166370}"/>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94EDF433-BE76-0ECC-A27D-5D2E978F0430}"/>
                </a:ext>
              </a:extLst>
            </p:cNvPr>
            <p:cNvSpPr/>
            <p:nvPr/>
          </p:nvSpPr>
          <p:spPr>
            <a:xfrm>
              <a:off x="3421934" y="40903"/>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a gallone 7">
              <a:extLst>
                <a:ext uri="{FF2B5EF4-FFF2-40B4-BE49-F238E27FC236}">
                  <a16:creationId xmlns:a16="http://schemas.microsoft.com/office/drawing/2014/main" id="{F92085F9-24D9-783B-A140-786D066D29CB}"/>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258011F1-6E25-F800-2345-A3FB0F72C9EA}"/>
                </a:ext>
              </a:extLst>
            </p:cNvPr>
            <p:cNvSpPr/>
            <p:nvPr/>
          </p:nvSpPr>
          <p:spPr>
            <a:xfrm>
              <a:off x="6661610" y="40905"/>
              <a:ext cx="2168165" cy="1282045"/>
            </a:xfrm>
            <a:prstGeom prst="chevron">
              <a:avLst/>
            </a:prstGeom>
            <a:solidFill>
              <a:srgbClr val="1056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0" name="Freccia a gallone 9">
              <a:extLst>
                <a:ext uri="{FF2B5EF4-FFF2-40B4-BE49-F238E27FC236}">
                  <a16:creationId xmlns:a16="http://schemas.microsoft.com/office/drawing/2014/main" id="{FD6E6FB7-1D29-B02C-85FB-C2D400E9565A}"/>
                </a:ext>
              </a:extLst>
            </p:cNvPr>
            <p:cNvSpPr/>
            <p:nvPr/>
          </p:nvSpPr>
          <p:spPr>
            <a:xfrm>
              <a:off x="8281448" y="40905"/>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1" name="Freccia a gallone 10">
              <a:extLst>
                <a:ext uri="{FF2B5EF4-FFF2-40B4-BE49-F238E27FC236}">
                  <a16:creationId xmlns:a16="http://schemas.microsoft.com/office/drawing/2014/main" id="{69549539-E81C-1FDE-99BE-5C0374ECE6FC}"/>
                </a:ext>
              </a:extLst>
            </p:cNvPr>
            <p:cNvSpPr/>
            <p:nvPr/>
          </p:nvSpPr>
          <p:spPr>
            <a:xfrm>
              <a:off x="9901286" y="40906"/>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2" name="Freccia a gallone 11">
              <a:extLst>
                <a:ext uri="{FF2B5EF4-FFF2-40B4-BE49-F238E27FC236}">
                  <a16:creationId xmlns:a16="http://schemas.microsoft.com/office/drawing/2014/main" id="{C8E4D312-2BBC-C6AE-4C17-D271CFB68B5E}"/>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784C93BA-5EBC-75DB-F154-84FEA0528F12}"/>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A870CD6E-A7D5-4CF7-27EE-63BD96A58D75}"/>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FD5C8337-4A2D-762B-DA8C-6608D090F38E}"/>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678E6D76-700D-529B-F938-5F2CFF4FD6C3}"/>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961DA6BD-5C89-AD6E-95CF-1337291917E1}"/>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65BB9FA3-1859-F443-925C-0011B672ED24}"/>
              </a:ext>
            </a:extLst>
          </p:cNvPr>
          <p:cNvSpPr txBox="1"/>
          <p:nvPr/>
        </p:nvSpPr>
        <p:spPr>
          <a:xfrm>
            <a:off x="7926183"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D66D73E9-5591-26CA-4E6B-85ACC6FB547A}"/>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1A14D7A2-8028-E294-5398-E2E3A52A4196}"/>
              </a:ext>
            </a:extLst>
          </p:cNvPr>
          <p:cNvSpPr/>
          <p:nvPr/>
        </p:nvSpPr>
        <p:spPr>
          <a:xfrm>
            <a:off x="735495" y="1795033"/>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A6DC380F-DF07-0B7F-CD76-96BD7B5E75C4}"/>
              </a:ext>
            </a:extLst>
          </p:cNvPr>
          <p:cNvSpPr txBox="1"/>
          <p:nvPr/>
        </p:nvSpPr>
        <p:spPr>
          <a:xfrm>
            <a:off x="649231" y="2006712"/>
            <a:ext cx="10296940" cy="923330"/>
          </a:xfrm>
          <a:prstGeom prst="rect">
            <a:avLst/>
          </a:prstGeom>
          <a:noFill/>
        </p:spPr>
        <p:txBody>
          <a:bodyPr wrap="square" rtlCol="0">
            <a:spAutoFit/>
          </a:bodyPr>
          <a:lstStyle/>
          <a:p>
            <a:pPr algn="just"/>
            <a:r>
              <a:rPr lang="it-IT" i="1" dirty="0">
                <a:latin typeface="Times New Roman" panose="02020603050405020304" pitchFamily="18" charset="0"/>
                <a:cs typeface="Times New Roman" panose="02020603050405020304" pitchFamily="18" charset="0"/>
              </a:rPr>
              <a:t>Once the agent and the </a:t>
            </a:r>
            <a:r>
              <a:rPr lang="it-IT" i="1" dirty="0" err="1">
                <a:latin typeface="Times New Roman" panose="02020603050405020304" pitchFamily="18" charset="0"/>
                <a:cs typeface="Times New Roman" panose="02020603050405020304" pitchFamily="18" charset="0"/>
              </a:rPr>
              <a:t>environment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were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created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possible</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train</a:t>
            </a:r>
            <a:r>
              <a:rPr lang="it-IT" i="1" dirty="0">
                <a:latin typeface="Times New Roman" panose="02020603050405020304" pitchFamily="18" charset="0"/>
                <a:cs typeface="Times New Roman" panose="02020603050405020304" pitchFamily="18" charset="0"/>
              </a:rPr>
              <a:t> the agent. </a:t>
            </a:r>
            <a:r>
              <a:rPr lang="it-IT" i="1" dirty="0" err="1">
                <a:latin typeface="Times New Roman" panose="02020603050405020304" pitchFamily="18" charset="0"/>
                <a:cs typeface="Times New Roman" panose="02020603050405020304" pitchFamily="18" charset="0"/>
              </a:rPr>
              <a:t>During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this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phase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learns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which</a:t>
            </a:r>
            <a:r>
              <a:rPr lang="it-IT" i="1" dirty="0">
                <a:latin typeface="Times New Roman" panose="02020603050405020304" pitchFamily="18" charset="0"/>
                <a:cs typeface="Times New Roman" panose="02020603050405020304" pitchFamily="18" charset="0"/>
              </a:rPr>
              <a:t> are the best </a:t>
            </a:r>
            <a:r>
              <a:rPr lang="it-IT" i="1" dirty="0" err="1">
                <a:latin typeface="Times New Roman" panose="02020603050405020304" pitchFamily="18" charset="0"/>
                <a:cs typeface="Times New Roman" panose="02020603050405020304" pitchFamily="18" charset="0"/>
              </a:rPr>
              <a:t>moves</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maximize</a:t>
            </a:r>
            <a:r>
              <a:rPr lang="it-IT" i="1" dirty="0">
                <a:latin typeface="Times New Roman" panose="02020603050405020304" pitchFamily="18" charset="0"/>
                <a:cs typeface="Times New Roman" panose="02020603050405020304" pitchFamily="18" charset="0"/>
              </a:rPr>
              <a:t> the overall </a:t>
            </a:r>
            <a:r>
              <a:rPr lang="it-IT" i="1" dirty="0" err="1">
                <a:latin typeface="Times New Roman" panose="02020603050405020304" pitchFamily="18" charset="0"/>
                <a:cs typeface="Times New Roman" panose="02020603050405020304" pitchFamily="18" charset="0"/>
              </a:rPr>
              <a:t>reward</a:t>
            </a:r>
            <a:r>
              <a:rPr lang="it-IT" i="1" dirty="0">
                <a:latin typeface="Times New Roman" panose="02020603050405020304" pitchFamily="18" charset="0"/>
                <a:cs typeface="Times New Roman" panose="02020603050405020304" pitchFamily="18" charset="0"/>
              </a:rPr>
              <a:t> by </a:t>
            </a:r>
            <a:r>
              <a:rPr lang="it-IT" i="1" dirty="0" err="1">
                <a:latin typeface="Times New Roman" panose="02020603050405020304" pitchFamily="18" charset="0"/>
                <a:cs typeface="Times New Roman" panose="02020603050405020304" pitchFamily="18" charset="0"/>
              </a:rPr>
              <a:t>updating</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internal</a:t>
            </a:r>
            <a:r>
              <a:rPr lang="it-IT" i="1" dirty="0">
                <a:latin typeface="Times New Roman" panose="02020603050405020304" pitchFamily="18" charset="0"/>
                <a:cs typeface="Times New Roman" panose="02020603050405020304" pitchFamily="18" charset="0"/>
              </a:rPr>
              <a:t> action-</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table</a:t>
            </a:r>
            <a:r>
              <a:rPr lang="it-IT" i="1" dirty="0">
                <a:latin typeface="Times New Roman" panose="02020603050405020304" pitchFamily="18" charset="0"/>
                <a:cs typeface="Times New Roman" panose="02020603050405020304" pitchFamily="18" charset="0"/>
              </a:rPr>
              <a:t>. Here are </a:t>
            </a:r>
            <a:r>
              <a:rPr lang="it-IT" i="1" dirty="0" err="1">
                <a:latin typeface="Times New Roman" panose="02020603050405020304" pitchFamily="18" charset="0"/>
                <a:cs typeface="Times New Roman" panose="02020603050405020304" pitchFamily="18" charset="0"/>
              </a:rPr>
              <a:t>reported</a:t>
            </a:r>
            <a:r>
              <a:rPr lang="it-IT" i="1" dirty="0">
                <a:latin typeface="Times New Roman" panose="02020603050405020304" pitchFamily="18" charset="0"/>
                <a:cs typeface="Times New Roman" panose="02020603050405020304" pitchFamily="18" charset="0"/>
              </a:rPr>
              <a:t> the data </a:t>
            </a:r>
            <a:r>
              <a:rPr lang="it-IT" i="1" dirty="0" err="1">
                <a:latin typeface="Times New Roman" panose="02020603050405020304" pitchFamily="18" charset="0"/>
                <a:cs typeface="Times New Roman" panose="02020603050405020304" pitchFamily="18" charset="0"/>
              </a:rPr>
              <a:t>regarding</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 of </a:t>
            </a:r>
            <a:r>
              <a:rPr lang="el-GR" i="1" dirty="0">
                <a:latin typeface="Times New Roman" panose="02020603050405020304" pitchFamily="18" charset="0"/>
                <a:cs typeface="Times New Roman" panose="02020603050405020304" pitchFamily="18" charset="0"/>
              </a:rPr>
              <a:t>ϵ</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during</a:t>
            </a:r>
            <a:r>
              <a:rPr lang="it-IT" i="1" dirty="0">
                <a:latin typeface="Times New Roman" panose="02020603050405020304" pitchFamily="18" charset="0"/>
                <a:cs typeface="Times New Roman" panose="02020603050405020304" pitchFamily="18" charset="0"/>
              </a:rPr>
              <a:t> the training:</a:t>
            </a:r>
          </a:p>
        </p:txBody>
      </p:sp>
      <p:pic>
        <p:nvPicPr>
          <p:cNvPr id="7" name="Immagine 6">
            <a:extLst>
              <a:ext uri="{FF2B5EF4-FFF2-40B4-BE49-F238E27FC236}">
                <a16:creationId xmlns:a16="http://schemas.microsoft.com/office/drawing/2014/main" id="{7297B0CA-B25C-0849-1638-7A142A875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2619" y="3014466"/>
            <a:ext cx="5220152" cy="342930"/>
          </a:xfrm>
          <a:prstGeom prst="rect">
            <a:avLst/>
          </a:prstGeom>
        </p:spPr>
      </p:pic>
      <p:grpSp>
        <p:nvGrpSpPr>
          <p:cNvPr id="30" name="Gruppo 29">
            <a:extLst>
              <a:ext uri="{FF2B5EF4-FFF2-40B4-BE49-F238E27FC236}">
                <a16:creationId xmlns:a16="http://schemas.microsoft.com/office/drawing/2014/main" id="{55052D16-BCF2-65E8-0777-C301419EFE01}"/>
              </a:ext>
            </a:extLst>
          </p:cNvPr>
          <p:cNvGrpSpPr/>
          <p:nvPr/>
        </p:nvGrpSpPr>
        <p:grpSpPr>
          <a:xfrm>
            <a:off x="643223" y="3500605"/>
            <a:ext cx="10573734" cy="1480561"/>
            <a:chOff x="643223" y="3761930"/>
            <a:chExt cx="10573734" cy="1480561"/>
          </a:xfrm>
        </p:grpSpPr>
        <p:sp>
          <p:nvSpPr>
            <p:cNvPr id="18" name="CasellaDiTesto 17">
              <a:extLst>
                <a:ext uri="{FF2B5EF4-FFF2-40B4-BE49-F238E27FC236}">
                  <a16:creationId xmlns:a16="http://schemas.microsoft.com/office/drawing/2014/main" id="{E150F9EA-02EA-EEB4-1141-A8E002C1E9A5}"/>
                </a:ext>
              </a:extLst>
            </p:cNvPr>
            <p:cNvSpPr txBox="1"/>
            <p:nvPr/>
          </p:nvSpPr>
          <p:spPr>
            <a:xfrm>
              <a:off x="643223" y="3761930"/>
              <a:ext cx="10133788" cy="646331"/>
            </a:xfrm>
            <a:prstGeom prst="rect">
              <a:avLst/>
            </a:prstGeom>
            <a:noFill/>
          </p:spPr>
          <p:txBody>
            <a:bodyPr wrap="square" rtlCol="0">
              <a:spAutoFit/>
            </a:bodyPr>
            <a:lstStyle/>
            <a:p>
              <a:pPr algn="just"/>
              <a:r>
                <a:rPr lang="it-IT" i="1" dirty="0" err="1">
                  <a:latin typeface="Times New Roman" panose="02020603050405020304" pitchFamily="18" charset="0"/>
                  <a:cs typeface="Times New Roman" panose="02020603050405020304" pitchFamily="18" charset="0"/>
                </a:rPr>
                <a:t>Initially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set to an high </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a:t>
              </a:r>
              <a:r>
                <a:rPr lang="it-IT" b="1" i="1" dirty="0">
                  <a:latin typeface="Times New Roman" panose="02020603050405020304" pitchFamily="18" charset="0"/>
                  <a:cs typeface="Times New Roman" panose="02020603050405020304" pitchFamily="18" charset="0"/>
                </a:rPr>
                <a:t> 0.7</a:t>
              </a:r>
              <a:r>
                <a:rPr lang="it-IT" i="1" dirty="0">
                  <a:latin typeface="Times New Roman" panose="02020603050405020304" pitchFamily="18" charset="0"/>
                  <a:cs typeface="Times New Roman" panose="02020603050405020304" pitchFamily="18" charset="0"/>
                </a:rPr>
                <a:t>, to </a:t>
              </a:r>
              <a:r>
                <a:rPr lang="it-IT" i="1" dirty="0" err="1">
                  <a:latin typeface="Times New Roman" panose="02020603050405020304" pitchFamily="18" charset="0"/>
                  <a:cs typeface="Times New Roman" panose="02020603050405020304" pitchFamily="18" charset="0"/>
                </a:rPr>
                <a:t>promote</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exploration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Afterward</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each</a:t>
              </a:r>
              <a:r>
                <a:rPr lang="it-IT" i="1" dirty="0">
                  <a:latin typeface="Times New Roman" panose="02020603050405020304" pitchFamily="18" charset="0"/>
                  <a:cs typeface="Times New Roman" panose="02020603050405020304" pitchFamily="18" charset="0"/>
                </a:rPr>
                <a:t> call of the step </a:t>
              </a:r>
              <a:r>
                <a:rPr lang="it-IT" i="1" dirty="0" err="1">
                  <a:latin typeface="Times New Roman" panose="02020603050405020304" pitchFamily="18" charset="0"/>
                  <a:cs typeface="Times New Roman" panose="02020603050405020304" pitchFamily="18" charset="0"/>
                </a:rPr>
                <a:t>function</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it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decreases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according</a:t>
              </a:r>
              <a:r>
                <a:rPr lang="it-IT" i="1" dirty="0">
                  <a:latin typeface="Times New Roman" panose="02020603050405020304" pitchFamily="18" charset="0"/>
                  <a:cs typeface="Times New Roman" panose="02020603050405020304" pitchFamily="18" charset="0"/>
                </a:rPr>
                <a:t> to the </a:t>
              </a:r>
              <a:r>
                <a:rPr lang="it-IT" i="1" dirty="0" err="1">
                  <a:latin typeface="Times New Roman" panose="02020603050405020304" pitchFamily="18" charset="0"/>
                  <a:cs typeface="Times New Roman" panose="02020603050405020304" pitchFamily="18" charset="0"/>
                </a:rPr>
                <a:t>value</a:t>
              </a:r>
              <a:r>
                <a:rPr lang="it-IT" i="1" dirty="0">
                  <a:latin typeface="Times New Roman" panose="02020603050405020304" pitchFamily="18" charset="0"/>
                  <a:cs typeface="Times New Roman" panose="02020603050405020304" pitchFamily="18" charset="0"/>
                </a:rPr>
                <a:t> of the </a:t>
              </a:r>
              <a:r>
                <a:rPr lang="it-IT" i="1" dirty="0" err="1">
                  <a:latin typeface="Times New Roman" panose="02020603050405020304" pitchFamily="18" charset="0"/>
                  <a:cs typeface="Times New Roman" panose="02020603050405020304" pitchFamily="18" charset="0"/>
                </a:rPr>
                <a:t>parameter</a:t>
              </a:r>
              <a:r>
                <a:rPr lang="it-IT" i="1" dirty="0">
                  <a:latin typeface="Times New Roman" panose="02020603050405020304" pitchFamily="18" charset="0"/>
                  <a:cs typeface="Times New Roman" panose="02020603050405020304" pitchFamily="18" charset="0"/>
                </a:rPr>
                <a:t> </a:t>
              </a:r>
              <a:r>
                <a:rPr lang="it-IT" b="1" i="1" dirty="0" err="1">
                  <a:latin typeface="Times New Roman" panose="02020603050405020304" pitchFamily="18" charset="0"/>
                  <a:cs typeface="Times New Roman" panose="02020603050405020304" pitchFamily="18" charset="0"/>
                </a:rPr>
                <a:t>EpsilonDecay</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as</a:t>
              </a:r>
              <a:r>
                <a:rPr lang="it-IT" i="1" dirty="0">
                  <a:latin typeface="Times New Roman" panose="02020603050405020304" pitchFamily="18" charset="0"/>
                  <a:cs typeface="Times New Roman" panose="02020603050405020304" pitchFamily="18" charset="0"/>
                </a:rPr>
                <a:t> follows:</a:t>
              </a:r>
            </a:p>
          </p:txBody>
        </p:sp>
        <mc:AlternateContent xmlns:mc="http://schemas.openxmlformats.org/markup-compatibility/2006" xmlns:a14="http://schemas.microsoft.com/office/drawing/2010/main">
          <mc:Choice Requires="a14">
            <p:sp>
              <p:nvSpPr>
                <p:cNvPr id="22" name="CasellaDiTesto 21">
                  <a:extLst>
                    <a:ext uri="{FF2B5EF4-FFF2-40B4-BE49-F238E27FC236}">
                      <a16:creationId xmlns:a16="http://schemas.microsoft.com/office/drawing/2014/main" id="{2879A74E-9BA0-20B8-A4A4-5F1273245D90}"/>
                    </a:ext>
                  </a:extLst>
                </p:cNvPr>
                <p:cNvSpPr txBox="1"/>
                <p:nvPr/>
              </p:nvSpPr>
              <p:spPr>
                <a:xfrm>
                  <a:off x="4445347" y="4436852"/>
                  <a:ext cx="2529539" cy="276999"/>
                </a:xfrm>
                <a:prstGeom prst="rect">
                  <a:avLst/>
                </a:prstGeom>
                <a:noFill/>
              </p:spPr>
              <p:txBody>
                <a:bodyPr wrap="none" lIns="0" tIns="0" rIns="0" bIns="0" rtlCol="0">
                  <a:spAutoFit/>
                </a:bodyPr>
                <a:lstStyle/>
                <a:p>
                  <a:pPr algn="ctr"/>
                  <a14:m>
                    <m:oMath xmlns:m="http://schemas.openxmlformats.org/officeDocument/2006/math">
                      <m:r>
                        <a:rPr lang="it-IT" b="1" i="1" smtClean="0">
                          <a:latin typeface="Cambria Math" panose="02040503050406030204" pitchFamily="18" charset="0"/>
                          <a:ea typeface="Cambria Math" panose="02040503050406030204" pitchFamily="18" charset="0"/>
                        </a:rPr>
                        <m:t>𝜺</m:t>
                      </m:r>
                    </m:oMath>
                  </a14:m>
                  <a:r>
                    <a:rPr lang="it-IT" dirty="0"/>
                    <a:t>=</a:t>
                  </a:r>
                  <a:r>
                    <a:rPr lang="it-IT" b="1" dirty="0">
                      <a:ea typeface="Cambria Math" panose="02040503050406030204" pitchFamily="18" charset="0"/>
                    </a:rPr>
                    <a:t> </a:t>
                  </a:r>
                  <a14:m>
                    <m:oMath xmlns:m="http://schemas.openxmlformats.org/officeDocument/2006/math">
                      <m:r>
                        <a:rPr lang="it-IT" b="1" i="1">
                          <a:latin typeface="Cambria Math" panose="02040503050406030204" pitchFamily="18" charset="0"/>
                          <a:ea typeface="Cambria Math" panose="02040503050406030204" pitchFamily="18" charset="0"/>
                        </a:rPr>
                        <m:t>𝜺</m:t>
                      </m:r>
                      <m:r>
                        <a:rPr lang="it-IT" b="1" i="1" smtClean="0">
                          <a:latin typeface="Cambria Math" panose="02040503050406030204" pitchFamily="18" charset="0"/>
                          <a:ea typeface="Cambria Math" panose="02040503050406030204" pitchFamily="18" charset="0"/>
                        </a:rPr>
                        <m:t>∗(</m:t>
                      </m:r>
                      <m:r>
                        <a:rPr lang="it-IT" b="1" i="1" smtClean="0">
                          <a:latin typeface="Cambria Math" panose="02040503050406030204" pitchFamily="18" charset="0"/>
                          <a:ea typeface="Cambria Math" panose="02040503050406030204" pitchFamily="18" charset="0"/>
                        </a:rPr>
                        <m:t>𝟏</m:t>
                      </m:r>
                      <m:r>
                        <a:rPr lang="it-IT" b="1" i="1" smtClean="0">
                          <a:latin typeface="Cambria Math" panose="02040503050406030204" pitchFamily="18" charset="0"/>
                          <a:ea typeface="Cambria Math" panose="02040503050406030204" pitchFamily="18" charset="0"/>
                        </a:rPr>
                        <m:t>−</m:t>
                      </m:r>
                      <m:r>
                        <m:rPr>
                          <m:nor/>
                        </m:rPr>
                        <a:rPr lang="it-IT" b="1" i="1" dirty="0">
                          <a:latin typeface="Times New Roman" panose="02020603050405020304" pitchFamily="18" charset="0"/>
                          <a:cs typeface="Times New Roman" panose="02020603050405020304" pitchFamily="18" charset="0"/>
                        </a:rPr>
                        <m:t>EpsilonDecay</m:t>
                      </m:r>
                    </m:oMath>
                  </a14:m>
                  <a:r>
                    <a:rPr lang="it-IT" dirty="0"/>
                    <a:t>)</a:t>
                  </a:r>
                </a:p>
              </p:txBody>
            </p:sp>
          </mc:Choice>
          <mc:Fallback xmlns="">
            <p:sp>
              <p:nvSpPr>
                <p:cNvPr id="22" name="CasellaDiTesto 21">
                  <a:extLst>
                    <a:ext uri="{FF2B5EF4-FFF2-40B4-BE49-F238E27FC236}">
                      <a16:creationId xmlns:a16="http://schemas.microsoft.com/office/drawing/2014/main" id="{2879A74E-9BA0-20B8-A4A4-5F1273245D90}"/>
                    </a:ext>
                  </a:extLst>
                </p:cNvPr>
                <p:cNvSpPr txBox="1">
                  <a:spLocks noRot="1" noChangeAspect="1" noMove="1" noResize="1" noEditPoints="1" noAdjustHandles="1" noChangeArrowheads="1" noChangeShapeType="1" noTextEdit="1"/>
                </p:cNvSpPr>
                <p:nvPr/>
              </p:nvSpPr>
              <p:spPr>
                <a:xfrm>
                  <a:off x="4445347" y="4436852"/>
                  <a:ext cx="2529539" cy="276999"/>
                </a:xfrm>
                <a:prstGeom prst="rect">
                  <a:avLst/>
                </a:prstGeom>
                <a:blipFill>
                  <a:blip r:embed="rId4"/>
                  <a:stretch>
                    <a:fillRect l="-1928" t="-28889" r="-5301" b="-51111"/>
                  </a:stretch>
                </a:blipFill>
              </p:spPr>
              <p:txBody>
                <a:bodyPr/>
                <a:lstStyle/>
                <a:p>
                  <a:r>
                    <a:rPr lang="it-IT">
                      <a:noFill/>
                    </a:rPr>
                    <a:t> </a:t>
                  </a:r>
                </a:p>
              </p:txBody>
            </p:sp>
          </mc:Fallback>
        </mc:AlternateContent>
        <p:sp>
          <p:nvSpPr>
            <p:cNvPr id="24" name="CasellaDiTesto 23">
              <a:extLst>
                <a:ext uri="{FF2B5EF4-FFF2-40B4-BE49-F238E27FC236}">
                  <a16:creationId xmlns:a16="http://schemas.microsoft.com/office/drawing/2014/main" id="{48684021-9A3B-6E43-6B53-5A8FAE3FAA5E}"/>
                </a:ext>
              </a:extLst>
            </p:cNvPr>
            <p:cNvSpPr txBox="1"/>
            <p:nvPr/>
          </p:nvSpPr>
          <p:spPr>
            <a:xfrm>
              <a:off x="729486" y="4873159"/>
              <a:ext cx="10487471" cy="369332"/>
            </a:xfrm>
            <a:prstGeom prst="rect">
              <a:avLst/>
            </a:prstGeom>
            <a:noFill/>
          </p:spPr>
          <p:txBody>
            <a:bodyPr wrap="square" rtlCol="0">
              <a:spAutoFit/>
            </a:bodyPr>
            <a:lstStyle/>
            <a:p>
              <a:pPr algn="just"/>
              <a:endParaRPr lang="it-IT" b="1" i="1" dirty="0">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27" name="Rectangle 1">
                <a:extLst>
                  <a:ext uri="{FF2B5EF4-FFF2-40B4-BE49-F238E27FC236}">
                    <a16:creationId xmlns:a16="http://schemas.microsoft.com/office/drawing/2014/main" id="{C4BBF019-2643-8988-7CAF-B95C02131734}"/>
                  </a:ext>
                </a:extLst>
              </p:cNvPr>
              <p:cNvSpPr>
                <a:spLocks noChangeArrowheads="1"/>
              </p:cNvSpPr>
              <p:nvPr/>
            </p:nvSpPr>
            <p:spPr bwMode="auto">
              <a:xfrm>
                <a:off x="643223" y="4452526"/>
                <a:ext cx="10777011" cy="923330"/>
              </a:xfrm>
              <a:prstGeom prst="rect">
                <a:avLst/>
              </a:prstGeom>
              <a:solidFill>
                <a:srgbClr val="FFFFFF"/>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Epsilon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is</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conserved</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between</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the end of an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episode</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and the start of the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next</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one. So,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it</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decreases</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uniformly</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over multiple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episodes</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until</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it</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rgbClr val="212121"/>
                    </a:solidFill>
                    <a:effectLst/>
                    <a:latin typeface="Times New Roman" panose="02020603050405020304" pitchFamily="18" charset="0"/>
                    <a:cs typeface="Times New Roman" panose="02020603050405020304" pitchFamily="18" charset="0"/>
                  </a:rPr>
                  <a:t>reaches</a:t>
                </a:r>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 </a:t>
                </a:r>
                <a14:m>
                  <m:oMath xmlns:m="http://schemas.openxmlformats.org/officeDocument/2006/math">
                    <m:r>
                      <m:rPr>
                        <m:nor/>
                      </m:rPr>
                      <a:rPr lang="it-IT" altLang="it-IT" b="1" dirty="0">
                        <a:solidFill>
                          <a:srgbClr val="212121"/>
                        </a:solidFill>
                        <a:latin typeface="Times New Roman" panose="02020603050405020304" pitchFamily="18" charset="0"/>
                        <a:cs typeface="Times New Roman" panose="02020603050405020304" pitchFamily="18" charset="0"/>
                      </a:rPr>
                      <m:t>EpsilonMin</m:t>
                    </m:r>
                    <m:r>
                      <m:rPr>
                        <m:nor/>
                      </m:rPr>
                      <a:rPr lang="it-IT" altLang="it-IT" b="1" i="0" dirty="0" smtClean="0">
                        <a:solidFill>
                          <a:srgbClr val="212121"/>
                        </a:solidFill>
                        <a:latin typeface="Times New Roman" panose="02020603050405020304" pitchFamily="18" charset="0"/>
                        <a:cs typeface="Times New Roman" panose="02020603050405020304" pitchFamily="18" charset="0"/>
                      </a:rPr>
                      <m:t>=0.01</m:t>
                    </m:r>
                  </m:oMath>
                </a14:m>
                <a:r>
                  <a:rPr kumimoji="0" lang="it-IT" altLang="it-IT" b="0" i="0" u="none" strike="noStrike" cap="none" normalizeH="0" baseline="0" dirty="0">
                    <a:ln>
                      <a:noFill/>
                    </a:ln>
                    <a:solidFill>
                      <a:srgbClr val="212121"/>
                    </a:solidFill>
                    <a:effectLst/>
                    <a:latin typeface="Times New Roman" panose="02020603050405020304" pitchFamily="18" charset="0"/>
                    <a:cs typeface="Times New Roman" panose="02020603050405020304" pitchFamily="18" charset="0"/>
                  </a:rPr>
                  <a:t>.</a:t>
                </a:r>
                <a:r>
                  <a:rPr kumimoji="0" lang="it-IT" altLang="it-IT"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it-IT" altLang="it-IT"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what</a:t>
                </a:r>
                <a:r>
                  <a:rPr kumimoji="0" lang="it-IT" altLang="it-IT"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it-IT" altLang="it-IT"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concern</a:t>
                </a:r>
                <a:r>
                  <a:rPr lang="it-IT" altLang="it-IT" dirty="0" err="1">
                    <a:latin typeface="Times New Roman" panose="02020603050405020304" pitchFamily="18" charset="0"/>
                    <a:cs typeface="Times New Roman" panose="02020603050405020304" pitchFamily="18" charset="0"/>
                  </a:rPr>
                  <a:t>s</a:t>
                </a:r>
                <a:r>
                  <a:rPr lang="it-IT" altLang="it-IT" dirty="0">
                    <a:latin typeface="Times New Roman" panose="02020603050405020304" pitchFamily="18" charset="0"/>
                    <a:cs typeface="Times New Roman" panose="02020603050405020304" pitchFamily="18" charset="0"/>
                  </a:rPr>
                  <a:t> the maximum </a:t>
                </a:r>
                <a:r>
                  <a:rPr lang="it-IT" altLang="it-IT" dirty="0" err="1">
                    <a:latin typeface="Times New Roman" panose="02020603050405020304" pitchFamily="18" charset="0"/>
                    <a:cs typeface="Times New Roman" panose="02020603050405020304" pitchFamily="18" charset="0"/>
                  </a:rPr>
                  <a:t>number</a:t>
                </a:r>
                <a:r>
                  <a:rPr lang="it-IT" altLang="it-IT" dirty="0">
                    <a:latin typeface="Times New Roman" panose="02020603050405020304" pitchFamily="18" charset="0"/>
                    <a:cs typeface="Times New Roman" panose="02020603050405020304" pitchFamily="18" charset="0"/>
                  </a:rPr>
                  <a:t> of step for </a:t>
                </a:r>
                <a:r>
                  <a:rPr lang="it-IT" altLang="it-IT" dirty="0" err="1">
                    <a:latin typeface="Times New Roman" panose="02020603050405020304" pitchFamily="18" charset="0"/>
                    <a:cs typeface="Times New Roman" panose="02020603050405020304" pitchFamily="18" charset="0"/>
                  </a:rPr>
                  <a:t>episode</a:t>
                </a:r>
                <a:r>
                  <a:rPr lang="it-IT" altLang="it-IT" dirty="0">
                    <a:latin typeface="Times New Roman" panose="02020603050405020304" pitchFamily="18" charset="0"/>
                    <a:cs typeface="Times New Roman" panose="02020603050405020304" pitchFamily="18" charset="0"/>
                  </a:rPr>
                  <a:t> </a:t>
                </a:r>
                <a:r>
                  <a:rPr lang="it-IT" altLang="it-IT" dirty="0" err="1">
                    <a:latin typeface="Times New Roman" panose="02020603050405020304" pitchFamily="18" charset="0"/>
                    <a:cs typeface="Times New Roman" panose="02020603050405020304" pitchFamily="18" charset="0"/>
                  </a:rPr>
                  <a:t>it</a:t>
                </a:r>
                <a:r>
                  <a:rPr lang="it-IT" altLang="it-IT" dirty="0">
                    <a:latin typeface="Times New Roman" panose="02020603050405020304" pitchFamily="18" charset="0"/>
                    <a:cs typeface="Times New Roman" panose="02020603050405020304" pitchFamily="18" charset="0"/>
                  </a:rPr>
                  <a:t> </a:t>
                </a:r>
                <a:r>
                  <a:rPr lang="it-IT" altLang="it-IT" dirty="0" err="1">
                    <a:latin typeface="Times New Roman" panose="02020603050405020304" pitchFamily="18" charset="0"/>
                    <a:cs typeface="Times New Roman" panose="02020603050405020304" pitchFamily="18" charset="0"/>
                  </a:rPr>
                  <a:t>is</a:t>
                </a:r>
                <a:r>
                  <a:rPr lang="it-IT" altLang="it-IT" dirty="0">
                    <a:latin typeface="Times New Roman" panose="02020603050405020304" pitchFamily="18" charset="0"/>
                    <a:cs typeface="Times New Roman" panose="02020603050405020304" pitchFamily="18" charset="0"/>
                  </a:rPr>
                  <a:t> set to:</a:t>
                </a:r>
                <a:endParaRPr kumimoji="0" lang="it-IT" altLang="it-IT"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27" name="Rectangle 1">
                <a:extLst>
                  <a:ext uri="{FF2B5EF4-FFF2-40B4-BE49-F238E27FC236}">
                    <a16:creationId xmlns:a16="http://schemas.microsoft.com/office/drawing/2014/main" id="{C4BBF019-2643-8988-7CAF-B95C02131734}"/>
                  </a:ext>
                </a:extLst>
              </p:cNvPr>
              <p:cNvSpPr>
                <a:spLocks noRot="1" noChangeAspect="1" noMove="1" noResize="1" noEditPoints="1" noAdjustHandles="1" noChangeArrowheads="1" noChangeShapeType="1" noTextEdit="1"/>
              </p:cNvSpPr>
              <p:nvPr/>
            </p:nvSpPr>
            <p:spPr bwMode="auto">
              <a:xfrm>
                <a:off x="643223" y="4452526"/>
                <a:ext cx="10777011" cy="923330"/>
              </a:xfrm>
              <a:prstGeom prst="rect">
                <a:avLst/>
              </a:prstGeom>
              <a:blipFill>
                <a:blip r:embed="rId5"/>
                <a:stretch>
                  <a:fillRect l="-509" t="-2632" r="-509" b="-9868"/>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it-IT">
                    <a:noFill/>
                  </a:rPr>
                  <a:t> </a:t>
                </a:r>
              </a:p>
            </p:txBody>
          </p:sp>
        </mc:Fallback>
      </mc:AlternateContent>
      <p:pic>
        <p:nvPicPr>
          <p:cNvPr id="38" name="Immagine 37">
            <a:extLst>
              <a:ext uri="{FF2B5EF4-FFF2-40B4-BE49-F238E27FC236}">
                <a16:creationId xmlns:a16="http://schemas.microsoft.com/office/drawing/2014/main" id="{A83E0879-F81E-10B9-3007-C9417D1EE6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2694" y="5409276"/>
            <a:ext cx="3857203" cy="251776"/>
          </a:xfrm>
          <a:prstGeom prst="rect">
            <a:avLst/>
          </a:prstGeom>
        </p:spPr>
      </p:pic>
    </p:spTree>
    <p:extLst>
      <p:ext uri="{BB962C8B-B14F-4D97-AF65-F5344CB8AC3E}">
        <p14:creationId xmlns:p14="http://schemas.microsoft.com/office/powerpoint/2010/main" val="2600024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4F90-9B7F-0CF5-2D08-96F4DB9800DF}"/>
            </a:ext>
          </a:extLst>
        </p:cNvPr>
        <p:cNvGrpSpPr/>
        <p:nvPr/>
      </p:nvGrpSpPr>
      <p:grpSpPr>
        <a:xfrm>
          <a:off x="0" y="0"/>
          <a:ext cx="0" cy="0"/>
          <a:chOff x="0" y="0"/>
          <a:chExt cx="0" cy="0"/>
        </a:xfrm>
      </p:grpSpPr>
      <p:grpSp>
        <p:nvGrpSpPr>
          <p:cNvPr id="13" name="Gruppo 12">
            <a:extLst>
              <a:ext uri="{FF2B5EF4-FFF2-40B4-BE49-F238E27FC236}">
                <a16:creationId xmlns:a16="http://schemas.microsoft.com/office/drawing/2014/main" id="{378D4CC1-2030-8000-8BF3-E537346CF551}"/>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4C7095B5-C02B-F3AD-4F92-2F6FED43B160}"/>
                </a:ext>
              </a:extLst>
            </p:cNvPr>
            <p:cNvSpPr/>
            <p:nvPr/>
          </p:nvSpPr>
          <p:spPr>
            <a:xfrm>
              <a:off x="3421934" y="40903"/>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a gallone 7">
              <a:extLst>
                <a:ext uri="{FF2B5EF4-FFF2-40B4-BE49-F238E27FC236}">
                  <a16:creationId xmlns:a16="http://schemas.microsoft.com/office/drawing/2014/main" id="{B7BAC12D-2A1D-62EA-C366-88CFB81CD51F}"/>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A2D378A2-BE79-B726-35D4-394398AB2E35}"/>
                </a:ext>
              </a:extLst>
            </p:cNvPr>
            <p:cNvSpPr/>
            <p:nvPr/>
          </p:nvSpPr>
          <p:spPr>
            <a:xfrm>
              <a:off x="6661610" y="40905"/>
              <a:ext cx="2168165" cy="1282045"/>
            </a:xfrm>
            <a:prstGeom prst="chevron">
              <a:avLst/>
            </a:prstGeom>
            <a:solidFill>
              <a:srgbClr val="1056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0" name="Freccia a gallone 9">
              <a:extLst>
                <a:ext uri="{FF2B5EF4-FFF2-40B4-BE49-F238E27FC236}">
                  <a16:creationId xmlns:a16="http://schemas.microsoft.com/office/drawing/2014/main" id="{68EFB6B7-6BAF-FB3B-030E-B429F4940B96}"/>
                </a:ext>
              </a:extLst>
            </p:cNvPr>
            <p:cNvSpPr/>
            <p:nvPr/>
          </p:nvSpPr>
          <p:spPr>
            <a:xfrm>
              <a:off x="8281448" y="40905"/>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1" name="Freccia a gallone 10">
              <a:extLst>
                <a:ext uri="{FF2B5EF4-FFF2-40B4-BE49-F238E27FC236}">
                  <a16:creationId xmlns:a16="http://schemas.microsoft.com/office/drawing/2014/main" id="{A74EC3AE-2E6C-FE5F-B19D-E67CE8F6A4C7}"/>
                </a:ext>
              </a:extLst>
            </p:cNvPr>
            <p:cNvSpPr/>
            <p:nvPr/>
          </p:nvSpPr>
          <p:spPr>
            <a:xfrm>
              <a:off x="9901286" y="40906"/>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2" name="Freccia a gallone 11">
              <a:extLst>
                <a:ext uri="{FF2B5EF4-FFF2-40B4-BE49-F238E27FC236}">
                  <a16:creationId xmlns:a16="http://schemas.microsoft.com/office/drawing/2014/main" id="{0444BC0D-4A1B-1769-100E-9320425251B5}"/>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6A1AF861-EF24-9A16-FCAA-249A3E11E24E}"/>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F4DF7046-6145-6E09-E413-3A24D4320B08}"/>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61BF14BE-0D26-EC95-8EEA-1738073F9465}"/>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854E1CDA-8210-0E95-744D-6D4E7ED1FC97}"/>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4D16B094-852E-F33E-6E24-1C94C6282C50}"/>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CD90E237-25BC-FCC6-29E2-FF7902D35745}"/>
              </a:ext>
            </a:extLst>
          </p:cNvPr>
          <p:cNvSpPr txBox="1"/>
          <p:nvPr/>
        </p:nvSpPr>
        <p:spPr>
          <a:xfrm>
            <a:off x="7926183"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EA929654-280C-3A31-A24E-EAB6636B2E7C}"/>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9A43F49C-F49D-237C-123F-E152CD5A001C}"/>
              </a:ext>
            </a:extLst>
          </p:cNvPr>
          <p:cNvSpPr/>
          <p:nvPr/>
        </p:nvSpPr>
        <p:spPr>
          <a:xfrm>
            <a:off x="735495" y="1795033"/>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78BF533A-9C93-1AB5-8F2B-7FBAA300927B}"/>
              </a:ext>
            </a:extLst>
          </p:cNvPr>
          <p:cNvSpPr txBox="1"/>
          <p:nvPr/>
        </p:nvSpPr>
        <p:spPr>
          <a:xfrm>
            <a:off x="614725" y="2035659"/>
            <a:ext cx="10296940" cy="923330"/>
          </a:xfrm>
          <a:prstGeom prst="rect">
            <a:avLst/>
          </a:prstGeom>
          <a:noFill/>
        </p:spPr>
        <p:txBody>
          <a:bodyPr wrap="square" rtlCol="0">
            <a:spAutoFit/>
          </a:bodyPr>
          <a:lstStyle/>
          <a:p>
            <a:pPr algn="just"/>
            <a:r>
              <a:rPr lang="it-IT" i="1" dirty="0" err="1">
                <a:latin typeface="Times New Roman" panose="02020603050405020304" pitchFamily="18" charset="0"/>
                <a:cs typeface="Times New Roman" panose="02020603050405020304" pitchFamily="18" charset="0"/>
              </a:rPr>
              <a:t>When</a:t>
            </a:r>
            <a:r>
              <a:rPr lang="it-IT" i="1" dirty="0">
                <a:latin typeface="Times New Roman" panose="02020603050405020304" pitchFamily="18" charset="0"/>
                <a:cs typeface="Times New Roman" panose="02020603050405020304" pitchFamily="18" charset="0"/>
              </a:rPr>
              <a:t> the agent </a:t>
            </a:r>
            <a:r>
              <a:rPr lang="it-IT" i="1" dirty="0" err="1">
                <a:latin typeface="Times New Roman" panose="02020603050405020304" pitchFamily="18" charset="0"/>
                <a:cs typeface="Times New Roman" panose="02020603050405020304" pitchFamily="18" charset="0"/>
              </a:rPr>
              <a:t>is</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trained</a:t>
            </a:r>
            <a:r>
              <a:rPr lang="it-IT" i="1" dirty="0">
                <a:latin typeface="Times New Roman" panose="02020603050405020304" pitchFamily="18" charset="0"/>
                <a:cs typeface="Times New Roman" panose="02020603050405020304" pitchFamily="18" charset="0"/>
              </a:rPr>
              <a:t>, last step </a:t>
            </a:r>
            <a:r>
              <a:rPr lang="it-IT" i="1" dirty="0" err="1">
                <a:latin typeface="Times New Roman" panose="02020603050405020304" pitchFamily="18" charset="0"/>
                <a:cs typeface="Times New Roman" panose="02020603050405020304" pitchFamily="18" charset="0"/>
              </a:rPr>
              <a:t>regards</a:t>
            </a:r>
            <a:r>
              <a:rPr lang="it-IT" i="1" dirty="0">
                <a:latin typeface="Times New Roman" panose="02020603050405020304" pitchFamily="18" charset="0"/>
                <a:cs typeface="Times New Roman" panose="02020603050405020304" pitchFamily="18" charset="0"/>
              </a:rPr>
              <a:t> the </a:t>
            </a:r>
            <a:r>
              <a:rPr lang="it-IT" i="1" dirty="0" err="1">
                <a:latin typeface="Times New Roman" panose="02020603050405020304" pitchFamily="18" charset="0"/>
                <a:cs typeface="Times New Roman" panose="02020603050405020304" pitchFamily="18" charset="0"/>
              </a:rPr>
              <a:t>simulation</a:t>
            </a:r>
            <a:r>
              <a:rPr lang="it-IT" i="1" dirty="0">
                <a:latin typeface="Times New Roman" panose="02020603050405020304" pitchFamily="18" charset="0"/>
                <a:cs typeface="Times New Roman" panose="02020603050405020304" pitchFamily="18" charset="0"/>
              </a:rPr>
              <a:t> part. Here a </a:t>
            </a:r>
            <a:r>
              <a:rPr lang="it-IT" i="1" dirty="0" err="1">
                <a:latin typeface="Times New Roman" panose="02020603050405020304" pitchFamily="18" charset="0"/>
                <a:cs typeface="Times New Roman" panose="02020603050405020304" pitchFamily="18" charset="0"/>
              </a:rPr>
              <a:t>sequence</a:t>
            </a:r>
            <a:r>
              <a:rPr lang="it-IT" i="1" dirty="0">
                <a:latin typeface="Times New Roman" panose="02020603050405020304" pitchFamily="18" charset="0"/>
                <a:cs typeface="Times New Roman" panose="02020603050405020304" pitchFamily="18" charset="0"/>
              </a:rPr>
              <a:t> of </a:t>
            </a:r>
            <a:r>
              <a:rPr lang="it-IT" i="1" dirty="0" err="1">
                <a:latin typeface="Times New Roman" panose="02020603050405020304" pitchFamily="18" charset="0"/>
                <a:cs typeface="Times New Roman" panose="02020603050405020304" pitchFamily="18" charset="0"/>
              </a:rPr>
              <a:t>different</a:t>
            </a:r>
            <a:r>
              <a:rPr lang="it-IT" i="1" dirty="0">
                <a:latin typeface="Times New Roman" panose="02020603050405020304" pitchFamily="18" charset="0"/>
                <a:cs typeface="Times New Roman" panose="02020603050405020304" pitchFamily="18" charset="0"/>
              </a:rPr>
              <a:t> </a:t>
            </a:r>
            <a:r>
              <a:rPr lang="it-IT" i="1" dirty="0" err="1">
                <a:latin typeface="Times New Roman" panose="02020603050405020304" pitchFamily="18" charset="0"/>
                <a:cs typeface="Times New Roman" panose="02020603050405020304" pitchFamily="18" charset="0"/>
              </a:rPr>
              <a:t>configurations</a:t>
            </a:r>
            <a:r>
              <a:rPr lang="it-IT" i="1" dirty="0">
                <a:latin typeface="Times New Roman" panose="02020603050405020304" pitchFamily="18" charset="0"/>
                <a:cs typeface="Times New Roman" panose="02020603050405020304" pitchFamily="18" charset="0"/>
              </a:rPr>
              <a:t> of the goal position and the </a:t>
            </a:r>
            <a:r>
              <a:rPr lang="it-IT" i="1" dirty="0" err="1">
                <a:latin typeface="Times New Roman" panose="02020603050405020304" pitchFamily="18" charset="0"/>
                <a:cs typeface="Times New Roman" panose="02020603050405020304" pitchFamily="18" charset="0"/>
              </a:rPr>
              <a:t>evolution</a:t>
            </a:r>
            <a:r>
              <a:rPr lang="it-IT" i="1" dirty="0">
                <a:latin typeface="Times New Roman" panose="02020603050405020304" pitchFamily="18" charset="0"/>
                <a:cs typeface="Times New Roman" panose="02020603050405020304" pitchFamily="18" charset="0"/>
              </a:rPr>
              <a:t> of the agent after the </a:t>
            </a:r>
            <a:r>
              <a:rPr lang="it-IT" i="1" dirty="0" err="1">
                <a:latin typeface="Times New Roman" panose="02020603050405020304" pitchFamily="18" charset="0"/>
                <a:cs typeface="Times New Roman" panose="02020603050405020304" pitchFamily="18" charset="0"/>
              </a:rPr>
              <a:t>corresponding</a:t>
            </a:r>
            <a:r>
              <a:rPr lang="it-IT" i="1" dirty="0">
                <a:latin typeface="Times New Roman" panose="02020603050405020304" pitchFamily="18" charset="0"/>
                <a:cs typeface="Times New Roman" panose="02020603050405020304" pitchFamily="18" charset="0"/>
              </a:rPr>
              <a:t> training:</a:t>
            </a:r>
          </a:p>
          <a:p>
            <a:pPr algn="just"/>
            <a:endParaRPr lang="it-IT" i="1" dirty="0">
              <a:latin typeface="Times New Roman" panose="02020603050405020304" pitchFamily="18" charset="0"/>
              <a:cs typeface="Times New Roman" panose="02020603050405020304" pitchFamily="18" charset="0"/>
            </a:endParaRPr>
          </a:p>
        </p:txBody>
      </p:sp>
      <p:grpSp>
        <p:nvGrpSpPr>
          <p:cNvPr id="29" name="Gruppo 28">
            <a:extLst>
              <a:ext uri="{FF2B5EF4-FFF2-40B4-BE49-F238E27FC236}">
                <a16:creationId xmlns:a16="http://schemas.microsoft.com/office/drawing/2014/main" id="{2284EF84-D674-092C-22E0-F76E040222A4}"/>
              </a:ext>
            </a:extLst>
          </p:cNvPr>
          <p:cNvGrpSpPr/>
          <p:nvPr/>
        </p:nvGrpSpPr>
        <p:grpSpPr>
          <a:xfrm>
            <a:off x="597479" y="2779741"/>
            <a:ext cx="4565401" cy="3776472"/>
            <a:chOff x="735495" y="2779741"/>
            <a:chExt cx="4565401" cy="3776472"/>
          </a:xfrm>
        </p:grpSpPr>
        <p:sp>
          <p:nvSpPr>
            <p:cNvPr id="2" name="CasellaDiTesto 1">
              <a:extLst>
                <a:ext uri="{FF2B5EF4-FFF2-40B4-BE49-F238E27FC236}">
                  <a16:creationId xmlns:a16="http://schemas.microsoft.com/office/drawing/2014/main" id="{80F3B980-9D5E-0065-5898-20E66B1D059E}"/>
                </a:ext>
              </a:extLst>
            </p:cNvPr>
            <p:cNvSpPr txBox="1"/>
            <p:nvPr/>
          </p:nvSpPr>
          <p:spPr>
            <a:xfrm>
              <a:off x="735495" y="2779741"/>
              <a:ext cx="4002680" cy="369332"/>
            </a:xfrm>
            <a:prstGeom prst="rect">
              <a:avLst/>
            </a:prstGeom>
            <a:noFill/>
          </p:spPr>
          <p:txBody>
            <a:bodyPr wrap="square" rtlCol="0">
              <a:spAutoFit/>
            </a:bodyPr>
            <a:lstStyle/>
            <a:p>
              <a:pPr marL="285750" indent="-285750">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Scenario 1: Goal in position (1,25)</a:t>
              </a:r>
            </a:p>
          </p:txBody>
        </p:sp>
        <p:grpSp>
          <p:nvGrpSpPr>
            <p:cNvPr id="19" name="Gruppo 18">
              <a:extLst>
                <a:ext uri="{FF2B5EF4-FFF2-40B4-BE49-F238E27FC236}">
                  <a16:creationId xmlns:a16="http://schemas.microsoft.com/office/drawing/2014/main" id="{A0537A6A-0036-F399-1BCB-4099DE9E87B9}"/>
                </a:ext>
              </a:extLst>
            </p:cNvPr>
            <p:cNvGrpSpPr/>
            <p:nvPr/>
          </p:nvGrpSpPr>
          <p:grpSpPr>
            <a:xfrm>
              <a:off x="1033532" y="3205807"/>
              <a:ext cx="4267364" cy="3350406"/>
              <a:chOff x="4738175" y="2696694"/>
              <a:chExt cx="4267364" cy="3214888"/>
            </a:xfrm>
          </p:grpSpPr>
          <p:pic>
            <p:nvPicPr>
              <p:cNvPr id="6" name="Immagine 5" descr="Immagine che contiene schermata, linea, quadrato, Rettangolo&#10;&#10;Il contenuto generato dall'IA potrebbe non essere corretto.">
                <a:extLst>
                  <a:ext uri="{FF2B5EF4-FFF2-40B4-BE49-F238E27FC236}">
                    <a16:creationId xmlns:a16="http://schemas.microsoft.com/office/drawing/2014/main" id="{590944E0-31A8-9D04-9926-3C2B258B7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8578" y="2696694"/>
                <a:ext cx="2946995" cy="2853025"/>
              </a:xfrm>
              <a:prstGeom prst="rect">
                <a:avLst/>
              </a:prstGeom>
              <a:effectLst>
                <a:outerShdw blurRad="63500" sx="102000" sy="102000" algn="ctr" rotWithShape="0">
                  <a:prstClr val="black">
                    <a:alpha val="40000"/>
                  </a:prstClr>
                </a:outerShdw>
              </a:effectLst>
            </p:spPr>
          </p:pic>
          <p:sp>
            <p:nvSpPr>
              <p:cNvPr id="14" name="CasellaDiTesto 13">
                <a:extLst>
                  <a:ext uri="{FF2B5EF4-FFF2-40B4-BE49-F238E27FC236}">
                    <a16:creationId xmlns:a16="http://schemas.microsoft.com/office/drawing/2014/main" id="{6FE5DC30-59B8-0885-6277-67CC7D3A97D2}"/>
                  </a:ext>
                </a:extLst>
              </p:cNvPr>
              <p:cNvSpPr txBox="1"/>
              <p:nvPr/>
            </p:nvSpPr>
            <p:spPr>
              <a:xfrm>
                <a:off x="4738175" y="5557189"/>
                <a:ext cx="4267364" cy="354393"/>
              </a:xfrm>
              <a:prstGeom prst="rect">
                <a:avLst/>
              </a:prstGeom>
              <a:noFill/>
            </p:spPr>
            <p:txBody>
              <a:bodyPr wrap="square" rtlCol="0">
                <a:spAutoFit/>
              </a:bodyPr>
              <a:lstStyle/>
              <a:p>
                <a:r>
                  <a:rPr lang="it-IT" b="1" i="1" dirty="0">
                    <a:latin typeface="Times New Roman" panose="02020603050405020304" pitchFamily="18" charset="0"/>
                    <a:cs typeface="Times New Roman" panose="02020603050405020304" pitchFamily="18" charset="0"/>
                  </a:rPr>
                  <a:t>Agent </a:t>
                </a:r>
                <a:r>
                  <a:rPr lang="it-IT" b="1" i="1" dirty="0" err="1">
                    <a:latin typeface="Times New Roman" panose="02020603050405020304" pitchFamily="18" charset="0"/>
                    <a:cs typeface="Times New Roman" panose="02020603050405020304" pitchFamily="18" charset="0"/>
                  </a:rPr>
                  <a:t>trained</a:t>
                </a:r>
                <a:r>
                  <a:rPr lang="it-IT" b="1" i="1" dirty="0">
                    <a:latin typeface="Times New Roman" panose="02020603050405020304" pitchFamily="18" charset="0"/>
                    <a:cs typeface="Times New Roman" panose="02020603050405020304" pitchFamily="18" charset="0"/>
                  </a:rPr>
                  <a:t> with 106 </a:t>
                </a:r>
                <a:r>
                  <a:rPr lang="it-IT" b="1" i="1" dirty="0" err="1">
                    <a:latin typeface="Times New Roman" panose="02020603050405020304" pitchFamily="18" charset="0"/>
                    <a:cs typeface="Times New Roman" panose="02020603050405020304" pitchFamily="18" charset="0"/>
                  </a:rPr>
                  <a:t>episodes</a:t>
                </a:r>
                <a:endParaRPr lang="it-IT" b="1" i="1" dirty="0">
                  <a:latin typeface="Times New Roman" panose="02020603050405020304" pitchFamily="18" charset="0"/>
                  <a:cs typeface="Times New Roman" panose="02020603050405020304" pitchFamily="18" charset="0"/>
                </a:endParaRPr>
              </a:p>
            </p:txBody>
          </p:sp>
        </p:grpSp>
      </p:grpSp>
      <p:grpSp>
        <p:nvGrpSpPr>
          <p:cNvPr id="20" name="Gruppo 19">
            <a:extLst>
              <a:ext uri="{FF2B5EF4-FFF2-40B4-BE49-F238E27FC236}">
                <a16:creationId xmlns:a16="http://schemas.microsoft.com/office/drawing/2014/main" id="{81CCAF03-383F-52E5-7305-0FAA1780F694}"/>
              </a:ext>
            </a:extLst>
          </p:cNvPr>
          <p:cNvGrpSpPr/>
          <p:nvPr/>
        </p:nvGrpSpPr>
        <p:grpSpPr>
          <a:xfrm>
            <a:off x="4451867" y="2779741"/>
            <a:ext cx="4602445" cy="3784256"/>
            <a:chOff x="735495" y="2089252"/>
            <a:chExt cx="4602445" cy="3784256"/>
          </a:xfrm>
        </p:grpSpPr>
        <p:sp>
          <p:nvSpPr>
            <p:cNvPr id="21" name="CasellaDiTesto 20">
              <a:extLst>
                <a:ext uri="{FF2B5EF4-FFF2-40B4-BE49-F238E27FC236}">
                  <a16:creationId xmlns:a16="http://schemas.microsoft.com/office/drawing/2014/main" id="{66F20076-267D-DC76-A282-3F82837D57BF}"/>
                </a:ext>
              </a:extLst>
            </p:cNvPr>
            <p:cNvSpPr txBox="1"/>
            <p:nvPr/>
          </p:nvSpPr>
          <p:spPr>
            <a:xfrm>
              <a:off x="735495" y="2089252"/>
              <a:ext cx="4002680" cy="369332"/>
            </a:xfrm>
            <a:prstGeom prst="rect">
              <a:avLst/>
            </a:prstGeom>
            <a:noFill/>
          </p:spPr>
          <p:txBody>
            <a:bodyPr wrap="square" rtlCol="0">
              <a:spAutoFit/>
            </a:bodyPr>
            <a:lstStyle/>
            <a:p>
              <a:pPr marL="285750" indent="-285750">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Scenario 2: Goal in position (7,23)</a:t>
              </a:r>
            </a:p>
          </p:txBody>
        </p:sp>
        <p:sp>
          <p:nvSpPr>
            <p:cNvPr id="25" name="CasellaDiTesto 24">
              <a:extLst>
                <a:ext uri="{FF2B5EF4-FFF2-40B4-BE49-F238E27FC236}">
                  <a16:creationId xmlns:a16="http://schemas.microsoft.com/office/drawing/2014/main" id="{D64A9861-B153-DC19-654D-14BC7E737D9B}"/>
                </a:ext>
              </a:extLst>
            </p:cNvPr>
            <p:cNvSpPr txBox="1"/>
            <p:nvPr/>
          </p:nvSpPr>
          <p:spPr>
            <a:xfrm>
              <a:off x="1070576" y="5504176"/>
              <a:ext cx="4267364" cy="369332"/>
            </a:xfrm>
            <a:prstGeom prst="rect">
              <a:avLst/>
            </a:prstGeom>
            <a:noFill/>
          </p:spPr>
          <p:txBody>
            <a:bodyPr wrap="square" rtlCol="0">
              <a:spAutoFit/>
            </a:bodyPr>
            <a:lstStyle/>
            <a:p>
              <a:r>
                <a:rPr lang="it-IT" b="1" i="1" dirty="0">
                  <a:latin typeface="Times New Roman" panose="02020603050405020304" pitchFamily="18" charset="0"/>
                  <a:cs typeface="Times New Roman" panose="02020603050405020304" pitchFamily="18" charset="0"/>
                </a:rPr>
                <a:t>Agent </a:t>
              </a:r>
              <a:r>
                <a:rPr lang="it-IT" b="1" i="1" dirty="0" err="1">
                  <a:latin typeface="Times New Roman" panose="02020603050405020304" pitchFamily="18" charset="0"/>
                  <a:cs typeface="Times New Roman" panose="02020603050405020304" pitchFamily="18" charset="0"/>
                </a:rPr>
                <a:t>trained</a:t>
              </a:r>
              <a:r>
                <a:rPr lang="it-IT" b="1" i="1" dirty="0">
                  <a:latin typeface="Times New Roman" panose="02020603050405020304" pitchFamily="18" charset="0"/>
                  <a:cs typeface="Times New Roman" panose="02020603050405020304" pitchFamily="18" charset="0"/>
                </a:rPr>
                <a:t> with 145 </a:t>
              </a:r>
              <a:r>
                <a:rPr lang="it-IT" b="1" i="1" dirty="0" err="1">
                  <a:latin typeface="Times New Roman" panose="02020603050405020304" pitchFamily="18" charset="0"/>
                  <a:cs typeface="Times New Roman" panose="02020603050405020304" pitchFamily="18" charset="0"/>
                </a:rPr>
                <a:t>episodes</a:t>
              </a:r>
              <a:endParaRPr lang="it-IT" b="1" i="1" dirty="0">
                <a:latin typeface="Times New Roman" panose="02020603050405020304" pitchFamily="18" charset="0"/>
                <a:cs typeface="Times New Roman" panose="02020603050405020304" pitchFamily="18" charset="0"/>
              </a:endParaRPr>
            </a:p>
          </p:txBody>
        </p:sp>
      </p:grpSp>
      <p:grpSp>
        <p:nvGrpSpPr>
          <p:cNvPr id="31" name="Gruppo 30">
            <a:extLst>
              <a:ext uri="{FF2B5EF4-FFF2-40B4-BE49-F238E27FC236}">
                <a16:creationId xmlns:a16="http://schemas.microsoft.com/office/drawing/2014/main" id="{34968190-097E-EBD7-919E-28A1563A698E}"/>
              </a:ext>
            </a:extLst>
          </p:cNvPr>
          <p:cNvGrpSpPr/>
          <p:nvPr/>
        </p:nvGrpSpPr>
        <p:grpSpPr>
          <a:xfrm>
            <a:off x="8263562" y="2776167"/>
            <a:ext cx="4685573" cy="3784256"/>
            <a:chOff x="735495" y="2089252"/>
            <a:chExt cx="4685573" cy="3784256"/>
          </a:xfrm>
        </p:grpSpPr>
        <p:sp>
          <p:nvSpPr>
            <p:cNvPr id="37" name="CasellaDiTesto 36">
              <a:extLst>
                <a:ext uri="{FF2B5EF4-FFF2-40B4-BE49-F238E27FC236}">
                  <a16:creationId xmlns:a16="http://schemas.microsoft.com/office/drawing/2014/main" id="{E69FC6A1-76CE-EF28-F96F-C53C4B50482E}"/>
                </a:ext>
              </a:extLst>
            </p:cNvPr>
            <p:cNvSpPr txBox="1"/>
            <p:nvPr/>
          </p:nvSpPr>
          <p:spPr>
            <a:xfrm>
              <a:off x="735495" y="2089252"/>
              <a:ext cx="4002680" cy="369332"/>
            </a:xfrm>
            <a:prstGeom prst="rect">
              <a:avLst/>
            </a:prstGeom>
            <a:noFill/>
          </p:spPr>
          <p:txBody>
            <a:bodyPr wrap="square" rtlCol="0">
              <a:spAutoFit/>
            </a:bodyPr>
            <a:lstStyle/>
            <a:p>
              <a:pPr marL="285750" indent="-285750">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Scenario 3: Goal in position (13,15)</a:t>
              </a:r>
            </a:p>
          </p:txBody>
        </p:sp>
        <p:sp>
          <p:nvSpPr>
            <p:cNvPr id="40" name="CasellaDiTesto 39">
              <a:extLst>
                <a:ext uri="{FF2B5EF4-FFF2-40B4-BE49-F238E27FC236}">
                  <a16:creationId xmlns:a16="http://schemas.microsoft.com/office/drawing/2014/main" id="{E1D24AAD-6E70-EF33-7629-D66740DB2822}"/>
                </a:ext>
              </a:extLst>
            </p:cNvPr>
            <p:cNvSpPr txBox="1"/>
            <p:nvPr/>
          </p:nvSpPr>
          <p:spPr>
            <a:xfrm>
              <a:off x="1153704" y="5504176"/>
              <a:ext cx="4267364" cy="369332"/>
            </a:xfrm>
            <a:prstGeom prst="rect">
              <a:avLst/>
            </a:prstGeom>
            <a:noFill/>
          </p:spPr>
          <p:txBody>
            <a:bodyPr wrap="square" rtlCol="0">
              <a:spAutoFit/>
            </a:bodyPr>
            <a:lstStyle/>
            <a:p>
              <a:r>
                <a:rPr lang="it-IT" b="1" i="1" dirty="0">
                  <a:latin typeface="Times New Roman" panose="02020603050405020304" pitchFamily="18" charset="0"/>
                  <a:cs typeface="Times New Roman" panose="02020603050405020304" pitchFamily="18" charset="0"/>
                </a:rPr>
                <a:t>Agent </a:t>
              </a:r>
              <a:r>
                <a:rPr lang="it-IT" b="1" i="1" dirty="0" err="1">
                  <a:latin typeface="Times New Roman" panose="02020603050405020304" pitchFamily="18" charset="0"/>
                  <a:cs typeface="Times New Roman" panose="02020603050405020304" pitchFamily="18" charset="0"/>
                </a:rPr>
                <a:t>trained</a:t>
              </a:r>
              <a:r>
                <a:rPr lang="it-IT" b="1" i="1" dirty="0">
                  <a:latin typeface="Times New Roman" panose="02020603050405020304" pitchFamily="18" charset="0"/>
                  <a:cs typeface="Times New Roman" panose="02020603050405020304" pitchFamily="18" charset="0"/>
                </a:rPr>
                <a:t> with 85 </a:t>
              </a:r>
              <a:r>
                <a:rPr lang="it-IT" b="1" i="1" dirty="0" err="1">
                  <a:latin typeface="Times New Roman" panose="02020603050405020304" pitchFamily="18" charset="0"/>
                  <a:cs typeface="Times New Roman" panose="02020603050405020304" pitchFamily="18" charset="0"/>
                </a:rPr>
                <a:t>episodes</a:t>
              </a:r>
              <a:endParaRPr lang="it-IT" b="1" i="1" dirty="0">
                <a:latin typeface="Times New Roman" panose="02020603050405020304" pitchFamily="18" charset="0"/>
                <a:cs typeface="Times New Roman" panose="02020603050405020304" pitchFamily="18" charset="0"/>
              </a:endParaRPr>
            </a:p>
          </p:txBody>
        </p:sp>
      </p:grpSp>
      <p:pic>
        <p:nvPicPr>
          <p:cNvPr id="7" name="Immagine 6" descr="Immagine che contiene testo, diagramma, linea, schermata&#10;&#10;Il contenuto generato dall'IA potrebbe non essere corretto.">
            <a:extLst>
              <a:ext uri="{FF2B5EF4-FFF2-40B4-BE49-F238E27FC236}">
                <a16:creationId xmlns:a16="http://schemas.microsoft.com/office/drawing/2014/main" id="{56BDC80A-5EA9-B5D8-73D1-62765EF964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9928" y="3202873"/>
            <a:ext cx="3091463" cy="3002616"/>
          </a:xfrm>
          <a:prstGeom prst="rect">
            <a:avLst/>
          </a:prstGeom>
          <a:effectLst>
            <a:outerShdw blurRad="63500" sx="102000" sy="102000" algn="ctr" rotWithShape="0">
              <a:prstClr val="black">
                <a:alpha val="40000"/>
              </a:prstClr>
            </a:outerShdw>
          </a:effectLst>
        </p:spPr>
      </p:pic>
      <p:pic>
        <p:nvPicPr>
          <p:cNvPr id="22" name="Immagine 21" descr="Immagine che contiene schermata, linea, diagramma, quadrato&#10;&#10;Il contenuto generato dall'IA potrebbe non essere corretto.">
            <a:extLst>
              <a:ext uri="{FF2B5EF4-FFF2-40B4-BE49-F238E27FC236}">
                <a16:creationId xmlns:a16="http://schemas.microsoft.com/office/drawing/2014/main" id="{8AA8D1B7-8731-EFD8-2A17-DCC0591D99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31622" y="3202873"/>
            <a:ext cx="3002616" cy="300261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56806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D270B-CEFA-31BF-3282-A46A56E1F852}"/>
            </a:ext>
          </a:extLst>
        </p:cNvPr>
        <p:cNvGrpSpPr/>
        <p:nvPr/>
      </p:nvGrpSpPr>
      <p:grpSpPr>
        <a:xfrm>
          <a:off x="0" y="0"/>
          <a:ext cx="0" cy="0"/>
          <a:chOff x="0" y="0"/>
          <a:chExt cx="0" cy="0"/>
        </a:xfrm>
      </p:grpSpPr>
      <p:grpSp>
        <p:nvGrpSpPr>
          <p:cNvPr id="13" name="Gruppo 12">
            <a:extLst>
              <a:ext uri="{FF2B5EF4-FFF2-40B4-BE49-F238E27FC236}">
                <a16:creationId xmlns:a16="http://schemas.microsoft.com/office/drawing/2014/main" id="{F2C7223B-D2A8-7E96-9C88-230DF695147E}"/>
              </a:ext>
            </a:extLst>
          </p:cNvPr>
          <p:cNvGrpSpPr/>
          <p:nvPr/>
        </p:nvGrpSpPr>
        <p:grpSpPr>
          <a:xfrm>
            <a:off x="1070576" y="117287"/>
            <a:ext cx="10267355" cy="1282049"/>
            <a:chOff x="1802096" y="40902"/>
            <a:chExt cx="10267355" cy="1282049"/>
          </a:xfrm>
          <a:solidFill>
            <a:schemeClr val="accent1">
              <a:lumMod val="75000"/>
            </a:schemeClr>
          </a:solidFill>
        </p:grpSpPr>
        <p:sp>
          <p:nvSpPr>
            <p:cNvPr id="5" name="Freccia a gallone 4">
              <a:extLst>
                <a:ext uri="{FF2B5EF4-FFF2-40B4-BE49-F238E27FC236}">
                  <a16:creationId xmlns:a16="http://schemas.microsoft.com/office/drawing/2014/main" id="{4347AF1C-CEB6-51B1-2906-4BD6ED80E0EF}"/>
                </a:ext>
              </a:extLst>
            </p:cNvPr>
            <p:cNvSpPr/>
            <p:nvPr/>
          </p:nvSpPr>
          <p:spPr>
            <a:xfrm>
              <a:off x="3421934" y="40903"/>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Freccia a gallone 7">
              <a:extLst>
                <a:ext uri="{FF2B5EF4-FFF2-40B4-BE49-F238E27FC236}">
                  <a16:creationId xmlns:a16="http://schemas.microsoft.com/office/drawing/2014/main" id="{710A8DBC-AFAD-F7B6-2A3E-90C4A31847B3}"/>
                </a:ext>
              </a:extLst>
            </p:cNvPr>
            <p:cNvSpPr/>
            <p:nvPr/>
          </p:nvSpPr>
          <p:spPr>
            <a:xfrm>
              <a:off x="5041772" y="40904"/>
              <a:ext cx="2168165" cy="1282045"/>
            </a:xfrm>
            <a:prstGeom prst="chevr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9" name="Freccia a gallone 8">
              <a:extLst>
                <a:ext uri="{FF2B5EF4-FFF2-40B4-BE49-F238E27FC236}">
                  <a16:creationId xmlns:a16="http://schemas.microsoft.com/office/drawing/2014/main" id="{80A2006E-DC4E-3694-4D19-16646DC669F9}"/>
                </a:ext>
              </a:extLst>
            </p:cNvPr>
            <p:cNvSpPr/>
            <p:nvPr/>
          </p:nvSpPr>
          <p:spPr>
            <a:xfrm>
              <a:off x="6661610" y="40905"/>
              <a:ext cx="2168165" cy="1282045"/>
            </a:xfrm>
            <a:prstGeom prst="chevron">
              <a:avLst/>
            </a:prstGeom>
            <a:solidFill>
              <a:srgbClr val="1056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0" name="Freccia a gallone 9">
              <a:extLst>
                <a:ext uri="{FF2B5EF4-FFF2-40B4-BE49-F238E27FC236}">
                  <a16:creationId xmlns:a16="http://schemas.microsoft.com/office/drawing/2014/main" id="{6ADBC18E-2E90-2079-0172-069FA5885628}"/>
                </a:ext>
              </a:extLst>
            </p:cNvPr>
            <p:cNvSpPr/>
            <p:nvPr/>
          </p:nvSpPr>
          <p:spPr>
            <a:xfrm>
              <a:off x="8281448" y="40905"/>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1" name="Freccia a gallone 10">
              <a:extLst>
                <a:ext uri="{FF2B5EF4-FFF2-40B4-BE49-F238E27FC236}">
                  <a16:creationId xmlns:a16="http://schemas.microsoft.com/office/drawing/2014/main" id="{311B5A47-5B64-4BFE-95DC-2AA45BE00E6C}"/>
                </a:ext>
              </a:extLst>
            </p:cNvPr>
            <p:cNvSpPr/>
            <p:nvPr/>
          </p:nvSpPr>
          <p:spPr>
            <a:xfrm>
              <a:off x="9901286" y="40906"/>
              <a:ext cx="2168165" cy="1282045"/>
            </a:xfrm>
            <a:prstGeom prst="chevro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sp>
          <p:nvSpPr>
            <p:cNvPr id="12" name="Freccia a gallone 11">
              <a:extLst>
                <a:ext uri="{FF2B5EF4-FFF2-40B4-BE49-F238E27FC236}">
                  <a16:creationId xmlns:a16="http://schemas.microsoft.com/office/drawing/2014/main" id="{E894FF43-0C99-2236-97C1-7F279F7CCB08}"/>
                </a:ext>
              </a:extLst>
            </p:cNvPr>
            <p:cNvSpPr/>
            <p:nvPr/>
          </p:nvSpPr>
          <p:spPr>
            <a:xfrm>
              <a:off x="1802096" y="40902"/>
              <a:ext cx="2168165" cy="1282045"/>
            </a:xfrm>
            <a:prstGeom prst="chevron">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grpSp>
      <p:cxnSp>
        <p:nvCxnSpPr>
          <p:cNvPr id="15" name="Connettore 2 14">
            <a:extLst>
              <a:ext uri="{FF2B5EF4-FFF2-40B4-BE49-F238E27FC236}">
                <a16:creationId xmlns:a16="http://schemas.microsoft.com/office/drawing/2014/main" id="{08032DFC-9A08-6036-AF12-FB59B23EA573}"/>
              </a:ext>
            </a:extLst>
          </p:cNvPr>
          <p:cNvCxnSpPr/>
          <p:nvPr/>
        </p:nvCxnSpPr>
        <p:spPr>
          <a:xfrm>
            <a:off x="1070576" y="1639957"/>
            <a:ext cx="9961859" cy="0"/>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a:extLst>
              <a:ext uri="{FF2B5EF4-FFF2-40B4-BE49-F238E27FC236}">
                <a16:creationId xmlns:a16="http://schemas.microsoft.com/office/drawing/2014/main" id="{324B98BF-F564-B24F-CDEB-79932417BC5C}"/>
              </a:ext>
            </a:extLst>
          </p:cNvPr>
          <p:cNvSpPr txBox="1"/>
          <p:nvPr/>
        </p:nvSpPr>
        <p:spPr>
          <a:xfrm>
            <a:off x="1674390" y="429834"/>
            <a:ext cx="1271875"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Formulate</a:t>
            </a:r>
          </a:p>
          <a:p>
            <a:pPr algn="ctr"/>
            <a:r>
              <a:rPr lang="it-IT" b="1" i="1" dirty="0" err="1">
                <a:solidFill>
                  <a:schemeClr val="bg1"/>
                </a:solidFill>
                <a:latin typeface="Times New Roman" panose="02020603050405020304" pitchFamily="18" charset="0"/>
                <a:cs typeface="Times New Roman" panose="02020603050405020304" pitchFamily="18" charset="0"/>
              </a:rPr>
              <a:t>Problem</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17" name="CasellaDiTesto 16">
            <a:extLst>
              <a:ext uri="{FF2B5EF4-FFF2-40B4-BE49-F238E27FC236}">
                <a16:creationId xmlns:a16="http://schemas.microsoft.com/office/drawing/2014/main" id="{4238036D-FB3B-7DC9-1093-A69CA7A46589}"/>
              </a:ext>
            </a:extLst>
          </p:cNvPr>
          <p:cNvSpPr txBox="1"/>
          <p:nvPr/>
        </p:nvSpPr>
        <p:spPr>
          <a:xfrm>
            <a:off x="3167214" y="429836"/>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Environment</a:t>
            </a:r>
          </a:p>
        </p:txBody>
      </p:sp>
      <p:sp>
        <p:nvSpPr>
          <p:cNvPr id="32" name="CasellaDiTesto 31">
            <a:extLst>
              <a:ext uri="{FF2B5EF4-FFF2-40B4-BE49-F238E27FC236}">
                <a16:creationId xmlns:a16="http://schemas.microsoft.com/office/drawing/2014/main" id="{FAAA439F-2335-5FD5-F947-DAFBC23A02E0}"/>
              </a:ext>
            </a:extLst>
          </p:cNvPr>
          <p:cNvSpPr txBox="1"/>
          <p:nvPr/>
        </p:nvSpPr>
        <p:spPr>
          <a:xfrm>
            <a:off x="4759823" y="429835"/>
            <a:ext cx="1570961" cy="646331"/>
          </a:xfrm>
          <a:prstGeom prst="rect">
            <a:avLst/>
          </a:prstGeom>
          <a:noFill/>
        </p:spPr>
        <p:txBody>
          <a:bodyPr wrap="square" rtlCol="0">
            <a:spAutoFit/>
          </a:bodyPr>
          <a:lstStyle/>
          <a:p>
            <a:pPr algn="ctr"/>
            <a:r>
              <a:rPr lang="it-IT" b="1" i="1" dirty="0" err="1">
                <a:solidFill>
                  <a:schemeClr val="bg1"/>
                </a:solidFill>
                <a:latin typeface="Times New Roman" panose="02020603050405020304" pitchFamily="18" charset="0"/>
                <a:cs typeface="Times New Roman" panose="02020603050405020304" pitchFamily="18" charset="0"/>
              </a:rPr>
              <a:t>Define</a:t>
            </a:r>
            <a:endParaRPr lang="it-IT" b="1" i="1" dirty="0">
              <a:solidFill>
                <a:schemeClr val="bg1"/>
              </a:solidFill>
              <a:latin typeface="Times New Roman" panose="02020603050405020304" pitchFamily="18" charset="0"/>
              <a:cs typeface="Times New Roman" panose="02020603050405020304" pitchFamily="18" charset="0"/>
            </a:endParaRPr>
          </a:p>
          <a:p>
            <a:pPr algn="ctr"/>
            <a:r>
              <a:rPr lang="it-IT" b="1" i="1" dirty="0" err="1">
                <a:solidFill>
                  <a:schemeClr val="bg1"/>
                </a:solidFill>
                <a:latin typeface="Times New Roman" panose="02020603050405020304" pitchFamily="18" charset="0"/>
                <a:cs typeface="Times New Roman" panose="02020603050405020304" pitchFamily="18" charset="0"/>
              </a:rPr>
              <a:t>Reward</a:t>
            </a:r>
            <a:endParaRPr lang="it-IT" b="1" i="1" dirty="0">
              <a:solidFill>
                <a:schemeClr val="bg1"/>
              </a:solidFill>
              <a:latin typeface="Times New Roman" panose="02020603050405020304" pitchFamily="18" charset="0"/>
              <a:cs typeface="Times New Roman" panose="02020603050405020304" pitchFamily="18" charset="0"/>
            </a:endParaRPr>
          </a:p>
        </p:txBody>
      </p:sp>
      <p:sp>
        <p:nvSpPr>
          <p:cNvPr id="33" name="CasellaDiTesto 32">
            <a:extLst>
              <a:ext uri="{FF2B5EF4-FFF2-40B4-BE49-F238E27FC236}">
                <a16:creationId xmlns:a16="http://schemas.microsoft.com/office/drawing/2014/main" id="{7B869982-C96B-9F61-A1C3-51519006CDD5}"/>
              </a:ext>
            </a:extLst>
          </p:cNvPr>
          <p:cNvSpPr txBox="1"/>
          <p:nvPr/>
        </p:nvSpPr>
        <p:spPr>
          <a:xfrm>
            <a:off x="6330784" y="429835"/>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Create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4" name="CasellaDiTesto 33">
            <a:extLst>
              <a:ext uri="{FF2B5EF4-FFF2-40B4-BE49-F238E27FC236}">
                <a16:creationId xmlns:a16="http://schemas.microsoft.com/office/drawing/2014/main" id="{B9530359-A907-3AAA-D7F1-185FE3B37217}"/>
              </a:ext>
            </a:extLst>
          </p:cNvPr>
          <p:cNvSpPr txBox="1"/>
          <p:nvPr/>
        </p:nvSpPr>
        <p:spPr>
          <a:xfrm>
            <a:off x="7926183"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Train</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5" name="CasellaDiTesto 34">
            <a:extLst>
              <a:ext uri="{FF2B5EF4-FFF2-40B4-BE49-F238E27FC236}">
                <a16:creationId xmlns:a16="http://schemas.microsoft.com/office/drawing/2014/main" id="{7D0E5638-BDBF-8982-BFA7-B6F8763E50FB}"/>
              </a:ext>
            </a:extLst>
          </p:cNvPr>
          <p:cNvSpPr txBox="1"/>
          <p:nvPr/>
        </p:nvSpPr>
        <p:spPr>
          <a:xfrm>
            <a:off x="9556337" y="429834"/>
            <a:ext cx="1570961" cy="646331"/>
          </a:xfrm>
          <a:prstGeom prst="rect">
            <a:avLst/>
          </a:prstGeom>
          <a:noFill/>
        </p:spPr>
        <p:txBody>
          <a:bodyPr wrap="square" rtlCol="0">
            <a:spAutoFit/>
          </a:bodyPr>
          <a:lstStyle/>
          <a:p>
            <a:pPr algn="ctr"/>
            <a:r>
              <a:rPr lang="it-IT" b="1" i="1" dirty="0">
                <a:solidFill>
                  <a:schemeClr val="bg1"/>
                </a:solidFill>
                <a:latin typeface="Times New Roman" panose="02020603050405020304" pitchFamily="18" charset="0"/>
                <a:cs typeface="Times New Roman" panose="02020603050405020304" pitchFamily="18" charset="0"/>
              </a:rPr>
              <a:t>Validate</a:t>
            </a:r>
          </a:p>
          <a:p>
            <a:pPr algn="ctr"/>
            <a:r>
              <a:rPr lang="it-IT" b="1" i="1" dirty="0">
                <a:solidFill>
                  <a:schemeClr val="bg1"/>
                </a:solidFill>
                <a:latin typeface="Times New Roman" panose="02020603050405020304" pitchFamily="18" charset="0"/>
                <a:cs typeface="Times New Roman" panose="02020603050405020304" pitchFamily="18" charset="0"/>
              </a:rPr>
              <a:t>Agent</a:t>
            </a:r>
          </a:p>
        </p:txBody>
      </p:sp>
      <p:sp>
        <p:nvSpPr>
          <p:cNvPr id="36" name="Rettangolo 35">
            <a:extLst>
              <a:ext uri="{FF2B5EF4-FFF2-40B4-BE49-F238E27FC236}">
                <a16:creationId xmlns:a16="http://schemas.microsoft.com/office/drawing/2014/main" id="{E0B242DB-00B1-9A59-35C7-0F900FD5C987}"/>
              </a:ext>
            </a:extLst>
          </p:cNvPr>
          <p:cNvSpPr/>
          <p:nvPr/>
        </p:nvSpPr>
        <p:spPr>
          <a:xfrm>
            <a:off x="839404" y="1795033"/>
            <a:ext cx="1043609" cy="139144"/>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nvGrpSpPr>
          <p:cNvPr id="21" name="Gruppo 20">
            <a:extLst>
              <a:ext uri="{FF2B5EF4-FFF2-40B4-BE49-F238E27FC236}">
                <a16:creationId xmlns:a16="http://schemas.microsoft.com/office/drawing/2014/main" id="{FF399F76-FD6E-67B7-88DC-7B4ED55FF216}"/>
              </a:ext>
            </a:extLst>
          </p:cNvPr>
          <p:cNvGrpSpPr/>
          <p:nvPr/>
        </p:nvGrpSpPr>
        <p:grpSpPr>
          <a:xfrm>
            <a:off x="735495" y="2089252"/>
            <a:ext cx="4602445" cy="3844638"/>
            <a:chOff x="735495" y="2089252"/>
            <a:chExt cx="4602445" cy="3844638"/>
          </a:xfrm>
        </p:grpSpPr>
        <p:sp>
          <p:nvSpPr>
            <p:cNvPr id="2" name="CasellaDiTesto 1">
              <a:extLst>
                <a:ext uri="{FF2B5EF4-FFF2-40B4-BE49-F238E27FC236}">
                  <a16:creationId xmlns:a16="http://schemas.microsoft.com/office/drawing/2014/main" id="{D3B295BD-E2AA-B602-B50D-500095B6A02C}"/>
                </a:ext>
              </a:extLst>
            </p:cNvPr>
            <p:cNvSpPr txBox="1"/>
            <p:nvPr/>
          </p:nvSpPr>
          <p:spPr>
            <a:xfrm>
              <a:off x="735495" y="2089252"/>
              <a:ext cx="4002680" cy="369332"/>
            </a:xfrm>
            <a:prstGeom prst="rect">
              <a:avLst/>
            </a:prstGeom>
            <a:noFill/>
          </p:spPr>
          <p:txBody>
            <a:bodyPr wrap="square" rtlCol="0">
              <a:spAutoFit/>
            </a:bodyPr>
            <a:lstStyle/>
            <a:p>
              <a:pPr marL="285750" indent="-285750">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Scenario 4: Goal in position (20,21)</a:t>
              </a:r>
            </a:p>
          </p:txBody>
        </p:sp>
        <p:sp>
          <p:nvSpPr>
            <p:cNvPr id="14" name="CasellaDiTesto 13">
              <a:extLst>
                <a:ext uri="{FF2B5EF4-FFF2-40B4-BE49-F238E27FC236}">
                  <a16:creationId xmlns:a16="http://schemas.microsoft.com/office/drawing/2014/main" id="{90A06D10-C570-9290-8BCE-5A9586C89C0D}"/>
                </a:ext>
              </a:extLst>
            </p:cNvPr>
            <p:cNvSpPr txBox="1"/>
            <p:nvPr/>
          </p:nvSpPr>
          <p:spPr>
            <a:xfrm>
              <a:off x="1070576" y="5564558"/>
              <a:ext cx="4267364" cy="369332"/>
            </a:xfrm>
            <a:prstGeom prst="rect">
              <a:avLst/>
            </a:prstGeom>
            <a:noFill/>
          </p:spPr>
          <p:txBody>
            <a:bodyPr wrap="square" rtlCol="0">
              <a:spAutoFit/>
            </a:bodyPr>
            <a:lstStyle/>
            <a:p>
              <a:r>
                <a:rPr lang="it-IT" b="1" i="1" dirty="0">
                  <a:latin typeface="Times New Roman" panose="02020603050405020304" pitchFamily="18" charset="0"/>
                  <a:cs typeface="Times New Roman" panose="02020603050405020304" pitchFamily="18" charset="0"/>
                </a:rPr>
                <a:t>Agent </a:t>
              </a:r>
              <a:r>
                <a:rPr lang="it-IT" b="1" i="1" dirty="0" err="1">
                  <a:latin typeface="Times New Roman" panose="02020603050405020304" pitchFamily="18" charset="0"/>
                  <a:cs typeface="Times New Roman" panose="02020603050405020304" pitchFamily="18" charset="0"/>
                </a:rPr>
                <a:t>trained</a:t>
              </a:r>
              <a:r>
                <a:rPr lang="it-IT" b="1" i="1" dirty="0">
                  <a:latin typeface="Times New Roman" panose="02020603050405020304" pitchFamily="18" charset="0"/>
                  <a:cs typeface="Times New Roman" panose="02020603050405020304" pitchFamily="18" charset="0"/>
                </a:rPr>
                <a:t> with 127 </a:t>
              </a:r>
              <a:r>
                <a:rPr lang="it-IT" b="1" i="1" dirty="0" err="1">
                  <a:latin typeface="Times New Roman" panose="02020603050405020304" pitchFamily="18" charset="0"/>
                  <a:cs typeface="Times New Roman" panose="02020603050405020304" pitchFamily="18" charset="0"/>
                </a:rPr>
                <a:t>episodes</a:t>
              </a:r>
              <a:endParaRPr lang="it-IT" b="1" i="1" dirty="0">
                <a:latin typeface="Times New Roman" panose="02020603050405020304" pitchFamily="18" charset="0"/>
                <a:cs typeface="Times New Roman" panose="02020603050405020304" pitchFamily="18" charset="0"/>
              </a:endParaRPr>
            </a:p>
          </p:txBody>
        </p:sp>
      </p:grpSp>
      <p:grpSp>
        <p:nvGrpSpPr>
          <p:cNvPr id="22" name="Gruppo 21">
            <a:extLst>
              <a:ext uri="{FF2B5EF4-FFF2-40B4-BE49-F238E27FC236}">
                <a16:creationId xmlns:a16="http://schemas.microsoft.com/office/drawing/2014/main" id="{A3E75196-67F0-AEA9-4E00-9EF58DB9B3F8}"/>
              </a:ext>
            </a:extLst>
          </p:cNvPr>
          <p:cNvGrpSpPr/>
          <p:nvPr/>
        </p:nvGrpSpPr>
        <p:grpSpPr>
          <a:xfrm>
            <a:off x="4640385" y="2089252"/>
            <a:ext cx="4602445" cy="3853264"/>
            <a:chOff x="735495" y="2089252"/>
            <a:chExt cx="4602445" cy="3853264"/>
          </a:xfrm>
        </p:grpSpPr>
        <p:sp>
          <p:nvSpPr>
            <p:cNvPr id="23" name="CasellaDiTesto 22">
              <a:extLst>
                <a:ext uri="{FF2B5EF4-FFF2-40B4-BE49-F238E27FC236}">
                  <a16:creationId xmlns:a16="http://schemas.microsoft.com/office/drawing/2014/main" id="{43B9C6AC-E43B-14D8-5873-44B3113B33E3}"/>
                </a:ext>
              </a:extLst>
            </p:cNvPr>
            <p:cNvSpPr txBox="1"/>
            <p:nvPr/>
          </p:nvSpPr>
          <p:spPr>
            <a:xfrm>
              <a:off x="735495" y="2089252"/>
              <a:ext cx="4002680" cy="369332"/>
            </a:xfrm>
            <a:prstGeom prst="rect">
              <a:avLst/>
            </a:prstGeom>
            <a:noFill/>
          </p:spPr>
          <p:txBody>
            <a:bodyPr wrap="square" rtlCol="0">
              <a:spAutoFit/>
            </a:bodyPr>
            <a:lstStyle/>
            <a:p>
              <a:pPr marL="285750" indent="-285750">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Scenario 5: Goal in position (25,25)</a:t>
              </a:r>
            </a:p>
          </p:txBody>
        </p:sp>
        <p:sp>
          <p:nvSpPr>
            <p:cNvPr id="25" name="CasellaDiTesto 24">
              <a:extLst>
                <a:ext uri="{FF2B5EF4-FFF2-40B4-BE49-F238E27FC236}">
                  <a16:creationId xmlns:a16="http://schemas.microsoft.com/office/drawing/2014/main" id="{3EF661C1-2879-AE8D-3966-CA09E6B95FE5}"/>
                </a:ext>
              </a:extLst>
            </p:cNvPr>
            <p:cNvSpPr txBox="1"/>
            <p:nvPr/>
          </p:nvSpPr>
          <p:spPr>
            <a:xfrm>
              <a:off x="1070576" y="5573184"/>
              <a:ext cx="4267364" cy="369332"/>
            </a:xfrm>
            <a:prstGeom prst="rect">
              <a:avLst/>
            </a:prstGeom>
            <a:noFill/>
          </p:spPr>
          <p:txBody>
            <a:bodyPr wrap="square" rtlCol="0">
              <a:spAutoFit/>
            </a:bodyPr>
            <a:lstStyle/>
            <a:p>
              <a:r>
                <a:rPr lang="it-IT" b="1" i="1" dirty="0">
                  <a:latin typeface="Times New Roman" panose="02020603050405020304" pitchFamily="18" charset="0"/>
                  <a:cs typeface="Times New Roman" panose="02020603050405020304" pitchFamily="18" charset="0"/>
                </a:rPr>
                <a:t>Agent </a:t>
              </a:r>
              <a:r>
                <a:rPr lang="it-IT" b="1" i="1" dirty="0" err="1">
                  <a:latin typeface="Times New Roman" panose="02020603050405020304" pitchFamily="18" charset="0"/>
                  <a:cs typeface="Times New Roman" panose="02020603050405020304" pitchFamily="18" charset="0"/>
                </a:rPr>
                <a:t>trained</a:t>
              </a:r>
              <a:r>
                <a:rPr lang="it-IT" b="1" i="1" dirty="0">
                  <a:latin typeface="Times New Roman" panose="02020603050405020304" pitchFamily="18" charset="0"/>
                  <a:cs typeface="Times New Roman" panose="02020603050405020304" pitchFamily="18" charset="0"/>
                </a:rPr>
                <a:t> with 118 </a:t>
              </a:r>
              <a:r>
                <a:rPr lang="it-IT" b="1" i="1" dirty="0" err="1">
                  <a:latin typeface="Times New Roman" panose="02020603050405020304" pitchFamily="18" charset="0"/>
                  <a:cs typeface="Times New Roman" panose="02020603050405020304" pitchFamily="18" charset="0"/>
                </a:rPr>
                <a:t>episodes</a:t>
              </a:r>
              <a:endParaRPr lang="it-IT" b="1" i="1" dirty="0">
                <a:latin typeface="Times New Roman" panose="02020603050405020304" pitchFamily="18" charset="0"/>
                <a:cs typeface="Times New Roman" panose="02020603050405020304" pitchFamily="18" charset="0"/>
              </a:endParaRPr>
            </a:p>
          </p:txBody>
        </p:sp>
      </p:grpSp>
      <p:grpSp>
        <p:nvGrpSpPr>
          <p:cNvPr id="31" name="Gruppo 30">
            <a:extLst>
              <a:ext uri="{FF2B5EF4-FFF2-40B4-BE49-F238E27FC236}">
                <a16:creationId xmlns:a16="http://schemas.microsoft.com/office/drawing/2014/main" id="{7DAF2404-9A2D-0FA4-81DA-175868F0612D}"/>
              </a:ext>
            </a:extLst>
          </p:cNvPr>
          <p:cNvGrpSpPr/>
          <p:nvPr/>
        </p:nvGrpSpPr>
        <p:grpSpPr>
          <a:xfrm>
            <a:off x="8405489" y="2106301"/>
            <a:ext cx="4602445" cy="3822091"/>
            <a:chOff x="735495" y="2089252"/>
            <a:chExt cx="4602445" cy="3822091"/>
          </a:xfrm>
        </p:grpSpPr>
        <p:sp>
          <p:nvSpPr>
            <p:cNvPr id="37" name="CasellaDiTesto 36">
              <a:extLst>
                <a:ext uri="{FF2B5EF4-FFF2-40B4-BE49-F238E27FC236}">
                  <a16:creationId xmlns:a16="http://schemas.microsoft.com/office/drawing/2014/main" id="{D15BE066-2832-1AE3-23A8-5E0FC92DB682}"/>
                </a:ext>
              </a:extLst>
            </p:cNvPr>
            <p:cNvSpPr txBox="1"/>
            <p:nvPr/>
          </p:nvSpPr>
          <p:spPr>
            <a:xfrm>
              <a:off x="735495" y="2089252"/>
              <a:ext cx="4002680" cy="369332"/>
            </a:xfrm>
            <a:prstGeom prst="rect">
              <a:avLst/>
            </a:prstGeom>
            <a:noFill/>
          </p:spPr>
          <p:txBody>
            <a:bodyPr wrap="square" rtlCol="0">
              <a:spAutoFit/>
            </a:bodyPr>
            <a:lstStyle/>
            <a:p>
              <a:pPr marL="285750" indent="-285750">
                <a:buFont typeface="Arial" panose="020B0604020202020204" pitchFamily="34" charset="0"/>
                <a:buChar char="•"/>
              </a:pPr>
              <a:r>
                <a:rPr lang="it-IT" b="1" i="1" dirty="0">
                  <a:latin typeface="Times New Roman" panose="02020603050405020304" pitchFamily="18" charset="0"/>
                  <a:cs typeface="Times New Roman" panose="02020603050405020304" pitchFamily="18" charset="0"/>
                </a:rPr>
                <a:t>Scenario 6: Goal in position (25,1)</a:t>
              </a:r>
            </a:p>
          </p:txBody>
        </p:sp>
        <p:sp>
          <p:nvSpPr>
            <p:cNvPr id="38" name="CasellaDiTesto 37">
              <a:extLst>
                <a:ext uri="{FF2B5EF4-FFF2-40B4-BE49-F238E27FC236}">
                  <a16:creationId xmlns:a16="http://schemas.microsoft.com/office/drawing/2014/main" id="{67AF024D-6555-87B5-1769-17BB8ABADE37}"/>
                </a:ext>
              </a:extLst>
            </p:cNvPr>
            <p:cNvSpPr txBox="1"/>
            <p:nvPr/>
          </p:nvSpPr>
          <p:spPr>
            <a:xfrm>
              <a:off x="1070576" y="5542011"/>
              <a:ext cx="4267364" cy="369332"/>
            </a:xfrm>
            <a:prstGeom prst="rect">
              <a:avLst/>
            </a:prstGeom>
            <a:noFill/>
          </p:spPr>
          <p:txBody>
            <a:bodyPr wrap="square" rtlCol="0">
              <a:spAutoFit/>
            </a:bodyPr>
            <a:lstStyle/>
            <a:p>
              <a:r>
                <a:rPr lang="it-IT" b="1" i="1" dirty="0">
                  <a:latin typeface="Times New Roman" panose="02020603050405020304" pitchFamily="18" charset="0"/>
                  <a:cs typeface="Times New Roman" panose="02020603050405020304" pitchFamily="18" charset="0"/>
                </a:rPr>
                <a:t>Agent </a:t>
              </a:r>
              <a:r>
                <a:rPr lang="it-IT" b="1" i="1" dirty="0" err="1">
                  <a:latin typeface="Times New Roman" panose="02020603050405020304" pitchFamily="18" charset="0"/>
                  <a:cs typeface="Times New Roman" panose="02020603050405020304" pitchFamily="18" charset="0"/>
                </a:rPr>
                <a:t>trained</a:t>
              </a:r>
              <a:r>
                <a:rPr lang="it-IT" b="1" i="1" dirty="0">
                  <a:latin typeface="Times New Roman" panose="02020603050405020304" pitchFamily="18" charset="0"/>
                  <a:cs typeface="Times New Roman" panose="02020603050405020304" pitchFamily="18" charset="0"/>
                </a:rPr>
                <a:t> with 679 </a:t>
              </a:r>
              <a:r>
                <a:rPr lang="it-IT" b="1" i="1" dirty="0" err="1">
                  <a:latin typeface="Times New Roman" panose="02020603050405020304" pitchFamily="18" charset="0"/>
                  <a:cs typeface="Times New Roman" panose="02020603050405020304" pitchFamily="18" charset="0"/>
                </a:rPr>
                <a:t>episodes</a:t>
              </a:r>
              <a:endParaRPr lang="it-IT" b="1" i="1" dirty="0">
                <a:latin typeface="Times New Roman" panose="02020603050405020304" pitchFamily="18" charset="0"/>
                <a:cs typeface="Times New Roman" panose="02020603050405020304" pitchFamily="18" charset="0"/>
              </a:endParaRPr>
            </a:p>
          </p:txBody>
        </p:sp>
      </p:grpSp>
      <p:pic>
        <p:nvPicPr>
          <p:cNvPr id="6" name="Immagine 5" descr="Immagine che contiene linea, diagramma, schermata, testo&#10;&#10;Il contenuto generato dall'IA potrebbe non essere corretto.">
            <a:extLst>
              <a:ext uri="{FF2B5EF4-FFF2-40B4-BE49-F238E27FC236}">
                <a16:creationId xmlns:a16="http://schemas.microsoft.com/office/drawing/2014/main" id="{9868D5FD-F00A-FD16-1616-649C40EE2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095" y="2465725"/>
            <a:ext cx="3172548" cy="3134417"/>
          </a:xfrm>
          <a:prstGeom prst="rect">
            <a:avLst/>
          </a:prstGeom>
          <a:effectLst>
            <a:outerShdw blurRad="63500" sx="102000" sy="102000" algn="ctr" rotWithShape="0">
              <a:prstClr val="black">
                <a:alpha val="40000"/>
              </a:prstClr>
            </a:outerShdw>
          </a:effectLst>
        </p:spPr>
      </p:pic>
      <p:pic>
        <p:nvPicPr>
          <p:cNvPr id="18" name="Immagine 17" descr="Immagine che contiene testo, schermata, linea, diagramma&#10;&#10;Il contenuto generato dall'IA potrebbe non essere corretto.">
            <a:extLst>
              <a:ext uri="{FF2B5EF4-FFF2-40B4-BE49-F238E27FC236}">
                <a16:creationId xmlns:a16="http://schemas.microsoft.com/office/drawing/2014/main" id="{17AC4776-F80C-C68A-7B0A-94044240F7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2338" y="2475633"/>
            <a:ext cx="3200763" cy="3114081"/>
          </a:xfrm>
          <a:prstGeom prst="rect">
            <a:avLst/>
          </a:prstGeom>
          <a:effectLst>
            <a:outerShdw blurRad="63500" sx="102000" sy="102000" algn="ctr" rotWithShape="0">
              <a:prstClr val="black">
                <a:alpha val="40000"/>
              </a:prstClr>
            </a:outerShdw>
          </a:effectLst>
        </p:spPr>
      </p:pic>
      <p:pic>
        <p:nvPicPr>
          <p:cNvPr id="20" name="Immagine 19" descr="Immagine che contiene schermata, testo, quadrato, linea&#10;&#10;Il contenuto generato dall'IA potrebbe non essere corretto.">
            <a:extLst>
              <a:ext uri="{FF2B5EF4-FFF2-40B4-BE49-F238E27FC236}">
                <a16:creationId xmlns:a16="http://schemas.microsoft.com/office/drawing/2014/main" id="{2DC035E1-D4B3-3AAA-6302-B2B9A587AA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4565" y="2475633"/>
            <a:ext cx="3200763" cy="3088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85087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0A1DCF76-45F3-0D01-9644-B080261EE15E}"/>
              </a:ext>
            </a:extLst>
          </p:cNvPr>
          <p:cNvSpPr/>
          <p:nvPr/>
        </p:nvSpPr>
        <p:spPr>
          <a:xfrm>
            <a:off x="0" y="0"/>
            <a:ext cx="12192000" cy="6858000"/>
          </a:xfrm>
          <a:prstGeom prst="rect">
            <a:avLst/>
          </a:prstGeom>
          <a:solidFill>
            <a:srgbClr val="052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B9D0CA69-5F43-2E0B-C577-D779B7420B6E}"/>
              </a:ext>
            </a:extLst>
          </p:cNvPr>
          <p:cNvSpPr txBox="1"/>
          <p:nvPr/>
        </p:nvSpPr>
        <p:spPr>
          <a:xfrm>
            <a:off x="3130262" y="3105834"/>
            <a:ext cx="6845012" cy="646331"/>
          </a:xfrm>
          <a:prstGeom prst="rect">
            <a:avLst/>
          </a:prstGeom>
          <a:noFill/>
        </p:spPr>
        <p:txBody>
          <a:bodyPr wrap="square">
            <a:spAutoFit/>
          </a:bodyPr>
          <a:lstStyle/>
          <a:p>
            <a:pPr>
              <a:lnSpc>
                <a:spcPct val="90000"/>
              </a:lnSpc>
              <a:spcAft>
                <a:spcPts val="600"/>
              </a:spcAft>
            </a:pPr>
            <a:r>
              <a:rPr lang="en-US" sz="4000" b="1" i="1" dirty="0">
                <a:solidFill>
                  <a:schemeClr val="bg1"/>
                </a:solidFill>
                <a:latin typeface="Times New Roman" panose="02020603050405020304" pitchFamily="18" charset="0"/>
                <a:cs typeface="Times New Roman" panose="02020603050405020304" pitchFamily="18" charset="0"/>
              </a:rPr>
              <a:t>Thank You for your attention</a:t>
            </a:r>
          </a:p>
        </p:txBody>
      </p:sp>
    </p:spTree>
    <p:extLst>
      <p:ext uri="{BB962C8B-B14F-4D97-AF65-F5344CB8AC3E}">
        <p14:creationId xmlns:p14="http://schemas.microsoft.com/office/powerpoint/2010/main" val="144817089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7211</TotalTime>
  <Words>2131</Words>
  <Application>Microsoft Office PowerPoint</Application>
  <PresentationFormat>Widescreen</PresentationFormat>
  <Paragraphs>196</Paragraphs>
  <Slides>17</Slides>
  <Notes>4</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17</vt:i4>
      </vt:variant>
    </vt:vector>
  </HeadingPairs>
  <TitlesOfParts>
    <vt:vector size="25" baseType="lpstr">
      <vt:lpstr>Aptos</vt:lpstr>
      <vt:lpstr>Arial</vt:lpstr>
      <vt:lpstr>Cambria Math</vt:lpstr>
      <vt:lpstr>Grandview Display</vt:lpstr>
      <vt:lpstr>Symbol</vt:lpstr>
      <vt:lpstr>Times New Roman</vt:lpstr>
      <vt:lpstr>Wingdings</vt:lpstr>
      <vt:lpstr>DashVTI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Furina</dc:creator>
  <cp:lastModifiedBy>Alessandro Furina</cp:lastModifiedBy>
  <cp:revision>44</cp:revision>
  <dcterms:created xsi:type="dcterms:W3CDTF">2025-07-14T15:02:45Z</dcterms:created>
  <dcterms:modified xsi:type="dcterms:W3CDTF">2025-08-26T15:24:58Z</dcterms:modified>
</cp:coreProperties>
</file>