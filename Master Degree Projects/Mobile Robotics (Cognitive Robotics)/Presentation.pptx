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687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93" r:id="rId9"/>
    <p:sldId id="294" r:id="rId10"/>
    <p:sldId id="295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8" r:id="rId21"/>
    <p:sldId id="309" r:id="rId22"/>
    <p:sldId id="310" r:id="rId23"/>
    <p:sldId id="312" r:id="rId24"/>
    <p:sldId id="314" r:id="rId25"/>
    <p:sldId id="317" r:id="rId26"/>
    <p:sldId id="315" r:id="rId27"/>
    <p:sldId id="318" r:id="rId28"/>
    <p:sldId id="319" r:id="rId2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EBB00"/>
    <a:srgbClr val="1973EB"/>
    <a:srgbClr val="FFE6CC"/>
    <a:srgbClr val="FFF2CC"/>
    <a:srgbClr val="D175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06" autoAdjust="0"/>
  </p:normalViewPr>
  <p:slideViewPr>
    <p:cSldViewPr snapToGrid="0">
      <p:cViewPr varScale="1">
        <p:scale>
          <a:sx n="74" d="100"/>
          <a:sy n="74" d="100"/>
        </p:scale>
        <p:origin x="1013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01810-0C46-4FB6-BDCF-89F216304B01}" type="datetimeFigureOut">
              <a:rPr lang="it-IT" smtClean="0"/>
              <a:t>18/06/2025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EE121-63E7-42F7-B33F-E82B24A073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068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3441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7083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9237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574C1-70B5-87D9-C7B8-066D5E7C2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A26A70B-3B3F-6AAD-1008-E7F5A2221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8FC70C1-6633-2DC7-D2C0-B6521BE5C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8DD603-9F3F-1170-5B18-3202E6B0C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6637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EADCD-5DA8-83B5-5B3B-2642176E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53D9E79-E3D6-E755-2DEA-E95166EF8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1C31D41-09DB-9AE3-E4E6-DFB2BD81D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54743A-2DEF-8416-33BA-CC6CBFD66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0924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CBF0-0E8D-6944-03B2-5F2406A94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E9043FF-08C6-0567-2CFD-C2C12C1AE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32930CA-FAF3-7335-C2DE-A6833FA97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FA7DE6-2AE6-07F9-FA43-5A43CF9ED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7762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5325-6B12-4835-2368-CAFB41AB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1E90589-BF68-A047-91A1-C09AB8BF5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70D78A6-4A32-C188-ADC0-042160BFF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4D6424-4263-AD86-C326-B31056D8A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2884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F327-0CDB-AE52-2EB9-06D2C73F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7D4C6C2-61F6-1FEC-C8B3-350D1F44C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4416C82-4A98-2CC0-F863-DBAAA1BAF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AE42956-8938-67CE-71B8-7EDCA342F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9943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179AE-2E96-DCC9-5A99-5CB3D2738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3092D00-8288-4EEB-92A6-91DB32CB4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4681789-92DC-0A48-8B65-574636CA4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7CEF468-2EBA-5A72-90D3-81663A81B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6829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AFF30-5A0C-594F-A3A2-232015706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377D1B5-239F-D0A0-668D-EF918E805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CE98863-B677-A5EC-C44D-F3DB5D21A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80862E8-759A-2C33-971B-B86285180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8717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7D8FB-253B-BFCF-A2BA-59E163BE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F8DFC99-0BC8-6EE6-5EC3-8CB883A5A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53E1CCC-D189-595C-1B5E-913DA506E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BF47A9-7AD2-1E0D-BAE3-DD76E788E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13774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D588-0D0F-BBCA-4691-3AF6A61E1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0CD24BF-466E-8E26-3E16-289BDB2FB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503121A-90E1-D131-219D-AEA3F23B8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A2E22CC-0968-23AA-7CF8-85F3557B1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4025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20A7-E663-1D92-8F1C-041FB8780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D9617A5-0282-9632-2B42-5DBC3CC80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B4EEF68-BDF8-A241-65EF-7BE479DF6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34FA7D-7D59-3B38-5F6B-B64CCB794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9084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AD87-D75B-A58C-78FD-BACFCA08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439C61D-E7FA-CEDE-9153-EBB476649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7A71000-8CF0-3C5F-011A-9D7EFAC3E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6590F1-464C-CB39-F5AD-6A9E99677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EE121-63E7-42F7-B33F-E82B24A07314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091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7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6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639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1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76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77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1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226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7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88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32" indent="0" algn="ctr">
              <a:buNone/>
              <a:defRPr sz="2000"/>
            </a:lvl2pPr>
            <a:lvl3pPr marL="914468" indent="0" algn="ctr">
              <a:buNone/>
              <a:defRPr sz="1801"/>
            </a:lvl3pPr>
            <a:lvl4pPr marL="1371702" indent="0" algn="ctr">
              <a:buNone/>
              <a:defRPr sz="1600"/>
            </a:lvl4pPr>
            <a:lvl5pPr marL="1828938" indent="0" algn="ctr">
              <a:buNone/>
              <a:defRPr sz="1600"/>
            </a:lvl5pPr>
            <a:lvl6pPr marL="2286171" indent="0" algn="ctr">
              <a:buNone/>
              <a:defRPr sz="1600"/>
            </a:lvl6pPr>
            <a:lvl7pPr marL="2743405" indent="0" algn="ctr">
              <a:buNone/>
              <a:defRPr sz="1600"/>
            </a:lvl7pPr>
            <a:lvl8pPr marL="3200644" indent="0" algn="ctr">
              <a:buNone/>
              <a:defRPr sz="1600"/>
            </a:lvl8pPr>
            <a:lvl9pPr marL="3657877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AE0C-DDA9-4DBD-BC91-9FFA57236539}" type="datetime1">
              <a:rPr lang="en-GB" smtClean="0"/>
              <a:t>18/06/2025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5530-027D-46CA-A064-6650A310B95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605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C31B9-3231-4A92-ACD1-5656F9E3598C}" type="datetime1">
              <a:rPr lang="en-GB" smtClean="0"/>
              <a:t>18/06/2025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5530-027D-46CA-A064-6650A310B95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936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589470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3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68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70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9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40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64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8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9928-C30E-4442-9F49-2C1CB6A855E1}" type="datetime1">
              <a:rPr lang="en-GB" smtClean="0"/>
              <a:t>18/06/2025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5530-027D-46CA-A064-6650A310B95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355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419D-B7FE-455E-BAAA-5D4330D4D987}" type="datetime1">
              <a:rPr lang="en-GB" smtClean="0"/>
              <a:t>18/06/2025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5530-027D-46CA-A064-6650A310B95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262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0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2" indent="0">
              <a:buNone/>
              <a:defRPr sz="2000" b="1"/>
            </a:lvl2pPr>
            <a:lvl3pPr marL="914468" indent="0">
              <a:buNone/>
              <a:defRPr sz="1801" b="1"/>
            </a:lvl3pPr>
            <a:lvl4pPr marL="1371702" indent="0">
              <a:buNone/>
              <a:defRPr sz="1600" b="1"/>
            </a:lvl4pPr>
            <a:lvl5pPr marL="1828938" indent="0">
              <a:buNone/>
              <a:defRPr sz="1600" b="1"/>
            </a:lvl5pPr>
            <a:lvl6pPr marL="2286171" indent="0">
              <a:buNone/>
              <a:defRPr sz="1600" b="1"/>
            </a:lvl6pPr>
            <a:lvl7pPr marL="2743405" indent="0">
              <a:buNone/>
              <a:defRPr sz="1600" b="1"/>
            </a:lvl7pPr>
            <a:lvl8pPr marL="3200644" indent="0">
              <a:buNone/>
              <a:defRPr sz="1600" b="1"/>
            </a:lvl8pPr>
            <a:lvl9pPr marL="3657877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00" y="2505076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2" indent="0">
              <a:buNone/>
              <a:defRPr sz="2000" b="1"/>
            </a:lvl2pPr>
            <a:lvl3pPr marL="914468" indent="0">
              <a:buNone/>
              <a:defRPr sz="1801" b="1"/>
            </a:lvl3pPr>
            <a:lvl4pPr marL="1371702" indent="0">
              <a:buNone/>
              <a:defRPr sz="1600" b="1"/>
            </a:lvl4pPr>
            <a:lvl5pPr marL="1828938" indent="0">
              <a:buNone/>
              <a:defRPr sz="1600" b="1"/>
            </a:lvl5pPr>
            <a:lvl6pPr marL="2286171" indent="0">
              <a:buNone/>
              <a:defRPr sz="1600" b="1"/>
            </a:lvl6pPr>
            <a:lvl7pPr marL="2743405" indent="0">
              <a:buNone/>
              <a:defRPr sz="1600" b="1"/>
            </a:lvl7pPr>
            <a:lvl8pPr marL="3200644" indent="0">
              <a:buNone/>
              <a:defRPr sz="1600" b="1"/>
            </a:lvl8pPr>
            <a:lvl9pPr marL="3657877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AC42-0F3C-4318-A637-C70087EE39E3}" type="datetime1">
              <a:rPr lang="en-GB" smtClean="0"/>
              <a:t>18/06/2025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5530-027D-46CA-A064-6650A310B95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988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B99D6-17C6-450D-A40B-652AB3A59C22}" type="datetime1">
              <a:rPr lang="en-GB" smtClean="0"/>
              <a:t>18/06/2025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5530-027D-46CA-A064-6650A310B95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0949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340D-D0F1-44F8-AA4B-54BFA63FAB35}" type="datetime1">
              <a:rPr lang="en-GB" smtClean="0"/>
              <a:t>18/06/2025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5530-027D-46CA-A064-6650A310B95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9977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9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32" indent="0">
              <a:buNone/>
              <a:defRPr sz="1401"/>
            </a:lvl2pPr>
            <a:lvl3pPr marL="914468" indent="0">
              <a:buNone/>
              <a:defRPr sz="1200"/>
            </a:lvl3pPr>
            <a:lvl4pPr marL="1371702" indent="0">
              <a:buNone/>
              <a:defRPr sz="1001"/>
            </a:lvl4pPr>
            <a:lvl5pPr marL="1828938" indent="0">
              <a:buNone/>
              <a:defRPr sz="1001"/>
            </a:lvl5pPr>
            <a:lvl6pPr marL="2286171" indent="0">
              <a:buNone/>
              <a:defRPr sz="1001"/>
            </a:lvl6pPr>
            <a:lvl7pPr marL="2743405" indent="0">
              <a:buNone/>
              <a:defRPr sz="1001"/>
            </a:lvl7pPr>
            <a:lvl8pPr marL="3200644" indent="0">
              <a:buNone/>
              <a:defRPr sz="1001"/>
            </a:lvl8pPr>
            <a:lvl9pPr marL="3657877" indent="0">
              <a:buNone/>
              <a:defRPr sz="100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7298-D9EB-466A-9367-232AF69BBC83}" type="datetime1">
              <a:rPr lang="en-GB" smtClean="0"/>
              <a:t>18/06/2025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5530-027D-46CA-A064-6650A310B95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3899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9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32" indent="0">
              <a:buNone/>
              <a:defRPr sz="2800"/>
            </a:lvl2pPr>
            <a:lvl3pPr marL="914468" indent="0">
              <a:buNone/>
              <a:defRPr sz="2400"/>
            </a:lvl3pPr>
            <a:lvl4pPr marL="1371702" indent="0">
              <a:buNone/>
              <a:defRPr sz="2000"/>
            </a:lvl4pPr>
            <a:lvl5pPr marL="1828938" indent="0">
              <a:buNone/>
              <a:defRPr sz="2000"/>
            </a:lvl5pPr>
            <a:lvl6pPr marL="2286171" indent="0">
              <a:buNone/>
              <a:defRPr sz="2000"/>
            </a:lvl6pPr>
            <a:lvl7pPr marL="2743405" indent="0">
              <a:buNone/>
              <a:defRPr sz="2000"/>
            </a:lvl7pPr>
            <a:lvl8pPr marL="3200644" indent="0">
              <a:buNone/>
              <a:defRPr sz="2000"/>
            </a:lvl8pPr>
            <a:lvl9pPr marL="3657877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32" indent="0">
              <a:buNone/>
              <a:defRPr sz="1401"/>
            </a:lvl2pPr>
            <a:lvl3pPr marL="914468" indent="0">
              <a:buNone/>
              <a:defRPr sz="1200"/>
            </a:lvl3pPr>
            <a:lvl4pPr marL="1371702" indent="0">
              <a:buNone/>
              <a:defRPr sz="1001"/>
            </a:lvl4pPr>
            <a:lvl5pPr marL="1828938" indent="0">
              <a:buNone/>
              <a:defRPr sz="1001"/>
            </a:lvl5pPr>
            <a:lvl6pPr marL="2286171" indent="0">
              <a:buNone/>
              <a:defRPr sz="1001"/>
            </a:lvl6pPr>
            <a:lvl7pPr marL="2743405" indent="0">
              <a:buNone/>
              <a:defRPr sz="1001"/>
            </a:lvl7pPr>
            <a:lvl8pPr marL="3200644" indent="0">
              <a:buNone/>
              <a:defRPr sz="1001"/>
            </a:lvl8pPr>
            <a:lvl9pPr marL="3657877" indent="0">
              <a:buNone/>
              <a:defRPr sz="100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15D9-D3BD-4016-935F-2B25C95CD593}" type="datetime1">
              <a:rPr lang="en-GB" smtClean="0"/>
              <a:t>18/06/2025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5530-027D-46CA-A064-6650A310B95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334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CEF97-03F3-4F84-A766-794EDBCD38FF}" type="datetime1">
              <a:rPr lang="en-GB" smtClean="0"/>
              <a:t>18/06/2025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5530-027D-46CA-A064-6650A310B95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827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B721-91D2-487D-829F-DB7771C06D8D}" type="datetime1">
              <a:rPr lang="en-GB" smtClean="0"/>
              <a:t>18/06/2025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5530-027D-46CA-A064-6650A310B95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56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1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5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5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2B156-E151-441E-B63F-37C5CABE4B28}" type="datetime1">
              <a:rPr lang="en-GB" smtClean="0"/>
              <a:t>18/06/2025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5" y="635635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F5530-027D-46CA-A064-6650A310B95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261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6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20" indent="-228620" algn="l" defTabSz="914468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54" indent="-228620" algn="l" defTabSz="9144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86" indent="-228620" algn="l" defTabSz="9144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20" indent="-228620" algn="l" defTabSz="9144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555" indent="-228620" algn="l" defTabSz="9144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792" indent="-228620" algn="l" defTabSz="9144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2025" indent="-228620" algn="l" defTabSz="9144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257" indent="-228620" algn="l" defTabSz="9144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489" indent="-228620" algn="l" defTabSz="9144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6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32" algn="l" defTabSz="91446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68" algn="l" defTabSz="91446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702" algn="l" defTabSz="91446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938" algn="l" defTabSz="91446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71" algn="l" defTabSz="91446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405" algn="l" defTabSz="91446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644" algn="l" defTabSz="91446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877" algn="l" defTabSz="91446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40.png"/><Relationship Id="rId5" Type="http://schemas.openxmlformats.org/officeDocument/2006/relationships/image" Target="../media/image38.png"/><Relationship Id="rId10" Type="http://schemas.openxmlformats.org/officeDocument/2006/relationships/image" Target="../media/image39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9FF48FA-83B6-23DA-DA6F-119B06E20309}"/>
              </a:ext>
            </a:extLst>
          </p:cNvPr>
          <p:cNvSpPr txBox="1"/>
          <p:nvPr/>
        </p:nvSpPr>
        <p:spPr>
          <a:xfrm>
            <a:off x="5413694" y="1033729"/>
            <a:ext cx="6034187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GB" sz="4000" b="1" i="1" noProof="0" dirty="0">
                <a:latin typeface="+mj-lt"/>
                <a:ea typeface="+mj-ea"/>
                <a:cs typeface="+mj-cs"/>
              </a:rPr>
              <a:t>Objective</a:t>
            </a:r>
          </a:p>
        </p:txBody>
      </p:sp>
      <p:pic>
        <p:nvPicPr>
          <p:cNvPr id="7" name="Immagine 6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62F2F6A9-CF51-3554-3025-43B70F58C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9E8479C-C1CF-E842-FF52-387CB884812F}"/>
              </a:ext>
            </a:extLst>
          </p:cNvPr>
          <p:cNvSpPr txBox="1"/>
          <p:nvPr/>
        </p:nvSpPr>
        <p:spPr>
          <a:xfrm>
            <a:off x="5413694" y="1803276"/>
            <a:ext cx="6034187" cy="1832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GB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of this project consists of designing an autonomous navigation system to drive a TurtleBot3 (TB3) robot in a Gazebo simulation environment. To sort off this task, </a:t>
            </a:r>
            <a:r>
              <a:rPr lang="en-GB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(Robot Operating System</a:t>
            </a:r>
            <a:r>
              <a:rPr lang="en-GB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used for its wide field of applicability regarding robotics applications:</a:t>
            </a:r>
          </a:p>
        </p:txBody>
      </p:sp>
      <p:pic>
        <p:nvPicPr>
          <p:cNvPr id="11" name="Immagine 10" descr="Immagine che contiene testo, schermata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B8BECEFC-05B7-7856-B3FD-105602BD12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746" y="3543300"/>
            <a:ext cx="4326082" cy="297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03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E881FD-B2FC-3AD5-1422-5BC192E72A43}"/>
              </a:ext>
            </a:extLst>
          </p:cNvPr>
          <p:cNvSpPr txBox="1"/>
          <p:nvPr/>
        </p:nvSpPr>
        <p:spPr>
          <a:xfrm>
            <a:off x="640080" y="332509"/>
            <a:ext cx="573785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GB" sz="4000" b="1" i="1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What is ROS?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C43AECB-CAC8-3406-98BE-B790DB18F223}"/>
              </a:ext>
            </a:extLst>
          </p:cNvPr>
          <p:cNvSpPr txBox="1"/>
          <p:nvPr/>
        </p:nvSpPr>
        <p:spPr>
          <a:xfrm>
            <a:off x="640080" y="1147334"/>
            <a:ext cx="6114011" cy="2156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GB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is a modular framework to develop distributed robotic applications. Its strength comes from the possibility to organize the task execution on a communication graph where each node accomplishes a specific assignment. Nodes can exchange information conveying data through the </a:t>
            </a:r>
            <a:r>
              <a:rPr lang="en-GB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node</a:t>
            </a:r>
            <a:r>
              <a:rPr lang="en-GB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GB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forms of communication which are:</a:t>
            </a:r>
          </a:p>
        </p:txBody>
      </p:sp>
      <p:pic>
        <p:nvPicPr>
          <p:cNvPr id="7" name="Immagine 6" descr="Immagine che contiene testo, Carattere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E1FC1348-7F4C-73E0-7AF3-21A534EC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171" y="1087932"/>
            <a:ext cx="4375829" cy="234106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A707E6A-398E-B2CC-93F9-B96340DED4C4}"/>
              </a:ext>
            </a:extLst>
          </p:cNvPr>
          <p:cNvSpPr txBox="1"/>
          <p:nvPr/>
        </p:nvSpPr>
        <p:spPr>
          <a:xfrm>
            <a:off x="595775" y="3742040"/>
            <a:ext cx="112471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Message</a:t>
            </a:r>
            <a:r>
              <a:rPr lang="en-GB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publisher sends messages through the communication link (</a:t>
            </a:r>
            <a:r>
              <a:rPr lang="en-GB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en-GB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One or more subscribers can read the contents of the messages. The communication is asynchronous so that the publisher goes on publishing even if there are not subscribers connected.</a:t>
            </a:r>
            <a:r>
              <a:rPr lang="en-GB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" name="Immagine 9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6757F2F2-463D-255F-5AFF-E1A7A8F39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223" y="4647387"/>
            <a:ext cx="5413692" cy="1878104"/>
          </a:xfrm>
          <a:prstGeom prst="rect">
            <a:avLst/>
          </a:prstGeom>
        </p:spPr>
      </p:pic>
      <p:pic>
        <p:nvPicPr>
          <p:cNvPr id="4" name="Immagine 3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C3CECCCD-0759-385C-7642-469F42E46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1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02DAE-FD39-DFA2-36EB-AEEB543EF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B2914B9-FA1F-89C7-24F9-235043775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B36BE5-7209-EAA1-221F-4EB59072C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63E6408-05BB-E4D3-C800-73B010582D37}"/>
              </a:ext>
            </a:extLst>
          </p:cNvPr>
          <p:cNvSpPr txBox="1"/>
          <p:nvPr/>
        </p:nvSpPr>
        <p:spPr>
          <a:xfrm>
            <a:off x="640080" y="332509"/>
            <a:ext cx="573785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GB" sz="4000" b="1" i="1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What is ROS?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2F31985-F77F-5BA8-BAF7-C5DEEFB9D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B2662A1-9BA5-F8E2-07AE-30C6557ECD89}"/>
              </a:ext>
            </a:extLst>
          </p:cNvPr>
          <p:cNvSpPr txBox="1"/>
          <p:nvPr/>
        </p:nvSpPr>
        <p:spPr>
          <a:xfrm>
            <a:off x="713232" y="1369586"/>
            <a:ext cx="11247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Service</a:t>
            </a:r>
            <a:r>
              <a:rPr lang="en-GB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client requests a service from a server which elaborates the response. The communication is synchronous so that when the client asks for the service it stops its execution waiting for the response. </a:t>
            </a:r>
            <a:endParaRPr lang="en-GB" b="1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81F6B4C-9642-9882-17FA-97DB84616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570" y="2146698"/>
            <a:ext cx="7171041" cy="146316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24394CA-2CB6-EBF3-7A3A-200142B9A536}"/>
              </a:ext>
            </a:extLst>
          </p:cNvPr>
          <p:cNvSpPr txBox="1"/>
          <p:nvPr/>
        </p:nvSpPr>
        <p:spPr>
          <a:xfrm>
            <a:off x="713232" y="3805340"/>
            <a:ext cx="11247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Action</a:t>
            </a:r>
            <a:r>
              <a:rPr lang="en-GB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action client sends a request to an action server. The communication is asynchronous that is the client can do other stuffs in the meanwhile the server is elaborating the response. </a:t>
            </a:r>
            <a:endParaRPr lang="en-GB" b="1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magine 10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23A020E7-EF52-717F-7D31-0C0DE6F219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433" y="4672674"/>
            <a:ext cx="4060558" cy="185281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06F7409-3D83-F9F5-0403-53B68A67B155}"/>
              </a:ext>
            </a:extLst>
          </p:cNvPr>
          <p:cNvSpPr txBox="1"/>
          <p:nvPr/>
        </p:nvSpPr>
        <p:spPr>
          <a:xfrm flipH="1">
            <a:off x="5432848" y="4562228"/>
            <a:ext cx="6309295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it-IT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it-IT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it-IT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information </a:t>
            </a:r>
            <a:r>
              <a:rPr lang="it-IT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regarding</a:t>
            </a:r>
            <a:r>
              <a:rPr lang="it-IT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input for the </a:t>
            </a:r>
            <a:r>
              <a:rPr lang="it-IT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it-IT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it-IT" b="1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  <a:r>
              <a:rPr lang="it-IT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</a:t>
            </a:r>
            <a:r>
              <a:rPr lang="it-IT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abort</a:t>
            </a:r>
            <a:r>
              <a:rPr lang="it-IT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it-IT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it-IT" b="1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it-IT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output </a:t>
            </a:r>
            <a:r>
              <a:rPr lang="it-IT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</a:t>
            </a:r>
            <a:r>
              <a:rPr lang="it-IT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server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it-IT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</a:t>
            </a:r>
            <a:r>
              <a:rPr lang="it-IT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informative </a:t>
            </a:r>
            <a:r>
              <a:rPr lang="it-IT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it-IT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</a:t>
            </a:r>
            <a:r>
              <a:rPr lang="it-IT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it-IT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 of the </a:t>
            </a:r>
            <a:r>
              <a:rPr lang="it-IT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endParaRPr lang="it-IT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it-IT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Feedback: </a:t>
            </a:r>
            <a:r>
              <a:rPr lang="it-IT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  <a:r>
              <a:rPr lang="it-IT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it-IT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once in a </a:t>
            </a:r>
            <a:r>
              <a:rPr lang="it-IT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it-IT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it-IT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</a:t>
            </a:r>
            <a:r>
              <a:rPr lang="it-IT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it-IT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endParaRPr lang="it-IT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magine 2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0B0453A4-FE4D-F3F5-7014-B467F86B82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2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59A9681A-2486-4655-A876-E26402CA2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 descr="Immagine che contiene schermata, Modello in scala&#10;&#10;Il contenuto generato dall'IA potrebbe non essere corretto.">
            <a:extLst>
              <a:ext uri="{FF2B5EF4-FFF2-40B4-BE49-F238E27FC236}">
                <a16:creationId xmlns:a16="http://schemas.microsoft.com/office/drawing/2014/main" id="{3AD2DBA1-402D-5F63-17B7-DD768F7EC6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5"/>
          <a:stretch>
            <a:fillRect/>
          </a:stretch>
        </p:blipFill>
        <p:spPr>
          <a:xfrm>
            <a:off x="2" y="152"/>
            <a:ext cx="12191998" cy="6857848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C9BB6818-31C2-4340-98F8-64FF7F46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D33D59B-9A04-A57D-68C2-74AC39CFAC13}"/>
              </a:ext>
            </a:extLst>
          </p:cNvPr>
          <p:cNvSpPr txBox="1"/>
          <p:nvPr/>
        </p:nvSpPr>
        <p:spPr>
          <a:xfrm>
            <a:off x="640080" y="1371600"/>
            <a:ext cx="5758629" cy="26968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065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2105436-C06F-64D1-ADF7-F7B9FF998978}"/>
              </a:ext>
            </a:extLst>
          </p:cNvPr>
          <p:cNvSpPr txBox="1"/>
          <p:nvPr/>
        </p:nvSpPr>
        <p:spPr>
          <a:xfrm>
            <a:off x="308266" y="394664"/>
            <a:ext cx="9313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a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for a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Turtlebot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 in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obstacles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robot must pass over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endParaRPr lang="it-IT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A2258B0F-E481-4908-5C4A-F203E6736A86}"/>
              </a:ext>
            </a:extLst>
          </p:cNvPr>
          <p:cNvGrpSpPr/>
          <p:nvPr/>
        </p:nvGrpSpPr>
        <p:grpSpPr>
          <a:xfrm>
            <a:off x="308266" y="4499264"/>
            <a:ext cx="7606145" cy="2123659"/>
            <a:chOff x="308266" y="3429000"/>
            <a:chExt cx="7606145" cy="21236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F7BC2579-AC31-1CEB-D9A0-4EC85539EDCC}"/>
                    </a:ext>
                  </a:extLst>
                </p:cNvPr>
                <p:cNvSpPr txBox="1"/>
                <p:nvPr/>
              </p:nvSpPr>
              <p:spPr>
                <a:xfrm>
                  <a:off x="308266" y="3429000"/>
                  <a:ext cx="7606145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 time </a:t>
                  </a:r>
                  <a:r>
                    <a:rPr lang="it-IT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constraints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it-IT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regarding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it-IT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each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it-IT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path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are:</a:t>
                  </a:r>
                </a:p>
                <a:p>
                  <a:pPr marL="342900" indent="-342900" algn="just">
                    <a:buFont typeface="+mj-lt"/>
                    <a:buAutoNum type="arabicPeriod"/>
                  </a:pP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From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it-IT" b="1" i="1" dirty="0"/>
                    <a:t> 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</a:t>
                  </a:r>
                  <a:r>
                    <a:rPr lang="it-IT" i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=[−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, −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it-IT" b="1" i="1" dirty="0"/>
                    <a:t> 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𝟔𝟎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𝒔𝒆𝒄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it-IT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maximum </a:t>
                  </a:r>
                </a:p>
                <a:p>
                  <a:pPr marL="342900" indent="-342900" algn="just">
                    <a:buFont typeface="+mj-lt"/>
                    <a:buAutoNum type="arabicPeriod"/>
                  </a:pP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From</a:t>
                  </a:r>
                  <a:r>
                    <a:rPr lang="it-IT" b="0" i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=[−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, −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it-IT" b="1" i="1" dirty="0"/>
                    <a:t> 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</a:t>
                  </a:r>
                  <a:r>
                    <a:rPr lang="it-IT" i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=[−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it-IT" b="1" i="1" dirty="0"/>
                    <a:t> 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𝟏𝟏𝟎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𝒔𝒆𝒄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it-IT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maximum </a:t>
                  </a:r>
                </a:p>
                <a:p>
                  <a:pPr marL="342900" indent="-342900" algn="just">
                    <a:buFont typeface="+mj-lt"/>
                    <a:buAutoNum type="arabicPeriod"/>
                  </a:pP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From</a:t>
                  </a:r>
                  <a:r>
                    <a:rPr lang="it-IT" i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=[−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it-IT" b="1" i="1" dirty="0"/>
                    <a:t> 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</a:t>
                  </a:r>
                  <a:r>
                    <a:rPr lang="it-IT" i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it-IT" b="1" i="1" dirty="0"/>
                    <a:t> 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𝟕𝟓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𝒔𝒆𝒄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it-IT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maximum</a:t>
                  </a:r>
                  <a:endParaRPr lang="it-IT" i="1" dirty="0"/>
                </a:p>
              </p:txBody>
            </p:sp>
          </mc:Choice>
          <mc:Fallback xmlns=""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F7BC2579-AC31-1CEB-D9A0-4EC85539E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266" y="3429000"/>
                  <a:ext cx="7606145" cy="1200329"/>
                </a:xfrm>
                <a:prstGeom prst="rect">
                  <a:avLst/>
                </a:prstGeom>
                <a:blipFill>
                  <a:blip r:embed="rId2"/>
                  <a:stretch>
                    <a:fillRect l="-722" t="-2538" b="-710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CasellaDiTesto 1">
              <a:extLst>
                <a:ext uri="{FF2B5EF4-FFF2-40B4-BE49-F238E27FC236}">
                  <a16:creationId xmlns:a16="http://schemas.microsoft.com/office/drawing/2014/main" id="{E232541B-03A4-5B39-DA44-E97CB12C0B1C}"/>
                </a:ext>
              </a:extLst>
            </p:cNvPr>
            <p:cNvSpPr txBox="1"/>
            <p:nvPr/>
          </p:nvSpPr>
          <p:spPr>
            <a:xfrm>
              <a:off x="308266" y="4629329"/>
              <a:ext cx="687185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approach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resort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classical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control loop for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robotic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applications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Each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responsible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for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implementing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specific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operation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make the robot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able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complete the task.</a:t>
              </a:r>
            </a:p>
          </p:txBody>
        </p:sp>
      </p:grpSp>
      <p:pic>
        <p:nvPicPr>
          <p:cNvPr id="8" name="Immagine 7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069275CD-35EC-5381-EAE6-836020134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325" y="5099428"/>
            <a:ext cx="3875409" cy="1418365"/>
          </a:xfrm>
          <a:prstGeom prst="rect">
            <a:avLst/>
          </a:prstGeom>
        </p:spPr>
      </p:pic>
      <p:pic>
        <p:nvPicPr>
          <p:cNvPr id="4" name="Immagine 3" descr="Immagine che contiene logo, simbolo, design&#10;&#10;Il contenuto generato dall'IA potrebbe non essere corretto.">
            <a:extLst>
              <a:ext uri="{FF2B5EF4-FFF2-40B4-BE49-F238E27FC236}">
                <a16:creationId xmlns:a16="http://schemas.microsoft.com/office/drawing/2014/main" id="{EB94A271-21D7-65F6-8C64-0C6F6BBEC1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845" y="0"/>
            <a:ext cx="2241892" cy="1040995"/>
          </a:xfrm>
          <a:prstGeom prst="rect">
            <a:avLst/>
          </a:prstGeom>
        </p:spPr>
      </p:pic>
      <p:pic>
        <p:nvPicPr>
          <p:cNvPr id="10" name="Immagine 9" descr="Immagine che contiene schermata, Rettangolo, design&#10;&#10;Il contenuto generato dall'IA potrebbe non essere corretto.">
            <a:extLst>
              <a:ext uri="{FF2B5EF4-FFF2-40B4-BE49-F238E27FC236}">
                <a16:creationId xmlns:a16="http://schemas.microsoft.com/office/drawing/2014/main" id="{DB5A2678-05F7-58A2-73F8-2A93CB39B4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328" y="1103853"/>
            <a:ext cx="5875343" cy="33325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0"/>
          </a:effectLst>
        </p:spPr>
      </p:pic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9F53FBF5-A1C5-F29C-2804-17D09260B956}"/>
              </a:ext>
            </a:extLst>
          </p:cNvPr>
          <p:cNvSpPr/>
          <p:nvPr/>
        </p:nvSpPr>
        <p:spPr>
          <a:xfrm>
            <a:off x="7377545" y="5953991"/>
            <a:ext cx="734293" cy="40862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600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9A9681A-2486-4655-A876-E26402CA2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 descr="Immagine che contiene trasporto, schizzo, veicolo militare&#10;&#10;Il contenuto generato dall'IA potrebbe non essere corretto.">
            <a:extLst>
              <a:ext uri="{FF2B5EF4-FFF2-40B4-BE49-F238E27FC236}">
                <a16:creationId xmlns:a16="http://schemas.microsoft.com/office/drawing/2014/main" id="{37624A6D-16E2-C483-037C-6EAC25EF68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" r="15686"/>
          <a:stretch>
            <a:fillRect/>
          </a:stretch>
        </p:blipFill>
        <p:spPr>
          <a:xfrm>
            <a:off x="2" y="152"/>
            <a:ext cx="12191998" cy="6857848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9BB6818-31C2-4340-98F8-64FF7F46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695FD0D-67F9-DC23-4DB4-0EEB8356A421}"/>
              </a:ext>
            </a:extLst>
          </p:cNvPr>
          <p:cNvSpPr txBox="1"/>
          <p:nvPr/>
        </p:nvSpPr>
        <p:spPr>
          <a:xfrm>
            <a:off x="640080" y="1371600"/>
            <a:ext cx="5758629" cy="26968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b="1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Robot Model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A2A6EE38-02AA-4D74-27B1-B77E0CE8D670}"/>
              </a:ext>
            </a:extLst>
          </p:cNvPr>
          <p:cNvSpPr/>
          <p:nvPr/>
        </p:nvSpPr>
        <p:spPr>
          <a:xfrm>
            <a:off x="708412" y="973914"/>
            <a:ext cx="988502" cy="13791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268122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2894D-5406-B898-DCE2-E5C4E3A15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20B46472-4B96-69B7-708C-40ACAE954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6" name="Freeform: Shape 75">
            <a:extLst>
              <a:ext uri="{FF2B5EF4-FFF2-40B4-BE49-F238E27FC236}">
                <a16:creationId xmlns:a16="http://schemas.microsoft.com/office/drawing/2014/main" id="{00F922B5-2B82-68CE-F943-0E98AC9DD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8" name="Freeform: Shape 77">
            <a:extLst>
              <a:ext uri="{FF2B5EF4-FFF2-40B4-BE49-F238E27FC236}">
                <a16:creationId xmlns:a16="http://schemas.microsoft.com/office/drawing/2014/main" id="{E9F18940-AAEA-AFCF-AD33-C1EE8E43E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" y="5"/>
            <a:ext cx="4446530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3168F52-B8B7-783F-6361-79A93282A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8" y="6057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7474F63-AE67-B35D-B32E-E9F26176C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5" y="2443484"/>
            <a:ext cx="3337561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F43EEE-0D91-7CA5-0ADA-991ED3AB36EA}"/>
              </a:ext>
            </a:extLst>
          </p:cNvPr>
          <p:cNvSpPr txBox="1"/>
          <p:nvPr/>
        </p:nvSpPr>
        <p:spPr>
          <a:xfrm>
            <a:off x="371103" y="2718064"/>
            <a:ext cx="3438907" cy="3207259"/>
          </a:xfrm>
          <a:prstGeom prst="rect">
            <a:avLst/>
          </a:prstGeom>
        </p:spPr>
        <p:txBody>
          <a:bodyPr vert="horz" lIns="91440" tIns="45721" rIns="91440" bIns="45721" rtlCol="0" anchor="t">
            <a:normAutofit/>
          </a:bodyPr>
          <a:lstStyle/>
          <a:p>
            <a:pPr marL="0" marR="0" lvl="0" indent="0" algn="l" defTabSz="91446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1"/>
              </a:spcAft>
              <a:buClrTx/>
              <a:buSzTx/>
              <a:buFontTx/>
              <a:buNone/>
              <a:tabLst/>
              <a:defRPr/>
            </a:pPr>
            <a:endParaRPr kumimoji="0" lang="en-US" sz="17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AC2D2D49-84D2-3219-1EB9-0FA8495DD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61" y="2156110"/>
            <a:ext cx="3262745" cy="30411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33F469B-50A0-812E-F134-57953A47DF02}"/>
              </a:ext>
            </a:extLst>
          </p:cNvPr>
          <p:cNvSpPr txBox="1"/>
          <p:nvPr/>
        </p:nvSpPr>
        <p:spPr>
          <a:xfrm>
            <a:off x="4458668" y="924642"/>
            <a:ext cx="7584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TurtleBot3 </a:t>
            </a:r>
            <a:r>
              <a:rPr lang="it-IT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waffle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already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Ros libraries.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dynamics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described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 model: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6D91090-09C8-09C0-F47E-AB52B6A2E89E}"/>
                  </a:ext>
                </a:extLst>
              </p:cNvPr>
              <p:cNvSpPr txBox="1"/>
              <p:nvPr/>
            </p:nvSpPr>
            <p:spPr>
              <a:xfrm>
                <a:off x="4505898" y="4176010"/>
                <a:ext cx="7537162" cy="2787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i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lang="en-GB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en-GB" i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lang="en-GB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en-GB" b="1" i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i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can be different, the robot is able to steer following circular trajectories. Moreover, if one of them is zero, it can rotate without moving (linear speed </a:t>
                </a:r>
                <a:r>
                  <a:rPr lang="en-GB" b="1" i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GB" i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equal to zero).</a:t>
                </a:r>
                <a:endParaRPr lang="en-GB" i="1" kern="1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i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Ros makes the life of the designer easier since to control the robot it is required to design just the linear and angular speed (like in a unicycle model). Starting from the knowledge of both of them, the robot will move according to the equations of the inverse kinematics</a:t>
                </a:r>
              </a:p>
              <a:p>
                <a:pPr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it-IT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6D91090-09C8-09C0-F47E-AB52B6A2E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898" y="4176010"/>
                <a:ext cx="7537162" cy="2787814"/>
              </a:xfrm>
              <a:prstGeom prst="rect">
                <a:avLst/>
              </a:prstGeom>
              <a:blipFill>
                <a:blip r:embed="rId3"/>
                <a:stretch>
                  <a:fillRect l="-647" t="-438" r="-64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uppo 14">
            <a:extLst>
              <a:ext uri="{FF2B5EF4-FFF2-40B4-BE49-F238E27FC236}">
                <a16:creationId xmlns:a16="http://schemas.microsoft.com/office/drawing/2014/main" id="{B877F8F4-1BE4-F400-AA6C-44F479DCE055}"/>
              </a:ext>
            </a:extLst>
          </p:cNvPr>
          <p:cNvGrpSpPr/>
          <p:nvPr/>
        </p:nvGrpSpPr>
        <p:grpSpPr>
          <a:xfrm>
            <a:off x="4455672" y="1603791"/>
            <a:ext cx="7587392" cy="2632713"/>
            <a:chOff x="4455672" y="2257694"/>
            <a:chExt cx="7587392" cy="26327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sellaDiTesto 7">
                  <a:extLst>
                    <a:ext uri="{FF2B5EF4-FFF2-40B4-BE49-F238E27FC236}">
                      <a16:creationId xmlns:a16="http://schemas.microsoft.com/office/drawing/2014/main" id="{E2B7E9A7-F33C-1426-EE61-041898B3739A}"/>
                    </a:ext>
                  </a:extLst>
                </p:cNvPr>
                <p:cNvSpPr txBox="1"/>
                <p:nvPr/>
              </p:nvSpPr>
              <p:spPr>
                <a:xfrm>
                  <a:off x="4455672" y="2334739"/>
                  <a:ext cx="3607673" cy="22701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15000"/>
                    </a:lnSpc>
                    <a:spcAft>
                      <a:spcPts val="800"/>
                    </a:spcAft>
                    <a:buNone/>
                  </a:pPr>
                  <a:r>
                    <a:rPr lang="en-GB" b="1" i="1" kern="100" dirty="0">
                      <a:effectLst/>
                      <a:latin typeface="Times New Roman" panose="02020603050405020304" pitchFamily="18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FORWARD KINEAMATICS</a:t>
                  </a:r>
                  <a:endParaRPr lang="it-IT" i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endParaRPr>
                </a:p>
                <a:p>
                  <a:pPr algn="just">
                    <a:lnSpc>
                      <a:spcPct val="115000"/>
                    </a:lnSpc>
                    <a:spcAft>
                      <a:spcPts val="800"/>
                    </a:spcAft>
                    <a:buNone/>
                  </a:pPr>
                  <a:r>
                    <a:rPr lang="en-GB" i="1" kern="100" dirty="0">
                      <a:effectLst/>
                      <a:latin typeface="Times New Roman" panose="02020603050405020304" pitchFamily="18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Given the </a:t>
                  </a:r>
                  <a:r>
                    <a:rPr lang="en-GB" b="1" i="1" kern="100" dirty="0">
                      <a:solidFill>
                        <a:srgbClr val="00B050"/>
                      </a:solidFill>
                      <a:effectLst/>
                      <a:latin typeface="Times New Roman" panose="02020603050405020304" pitchFamily="18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input</a:t>
                  </a:r>
                  <a:r>
                    <a:rPr lang="en-GB" i="1" kern="100" dirty="0">
                      <a:effectLst/>
                      <a:latin typeface="Times New Roman" panose="02020603050405020304" pitchFamily="18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 of the model compute the </a:t>
                  </a:r>
                  <a:r>
                    <a:rPr lang="en-GB" b="1" i="1" kern="100" dirty="0">
                      <a:solidFill>
                        <a:srgbClr val="FF0000"/>
                      </a:solidFill>
                      <a:effectLst/>
                      <a:latin typeface="Times New Roman" panose="02020603050405020304" pitchFamily="18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output</a:t>
                  </a:r>
                  <a:r>
                    <a:rPr lang="en-GB" i="1" kern="100" dirty="0">
                      <a:effectLst/>
                      <a:latin typeface="Times New Roman" panose="02020603050405020304" pitchFamily="18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:</a:t>
                  </a:r>
                  <a:endParaRPr lang="it-IT" i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  <a:buNone/>
                  </a:pPr>
                  <a:r>
                    <a:rPr lang="en-GB" i="1" kern="100" dirty="0">
                      <a:effectLst/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 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it-IT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1" i="1" kern="100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it-IT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∗(</m:t>
                              </m:r>
                              <m:sSub>
                                <m:sSubPr>
                                  <m:ctrlPr>
                                    <a:rPr lang="it-IT" b="1" i="1" kern="100" smtClean="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kern="10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GB" b="1" i="1" kern="10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</m:sub>
                              </m:sSub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b="1" i="1" kern="100" smtClean="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kern="10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GB" b="1" i="1" kern="10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</m:sub>
                              </m:sSub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</m:e>
                            <m:e>
                              <m:r>
                                <a:rPr lang="en-GB" b="1" i="1" kern="100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it-IT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∗(</m:t>
                              </m:r>
                              <m:sSub>
                                <m:sSubPr>
                                  <m:ctrlPr>
                                    <a:rPr lang="it-IT" b="1" i="1" kern="100" smtClean="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kern="10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GB" b="1" i="1" kern="10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</m:sub>
                              </m:sSub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t-IT" b="1" i="1" kern="100" smtClean="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kern="10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GB" b="1" i="1" kern="10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</m:sub>
                              </m:sSub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</m:e>
                          </m:eqArr>
                        </m:e>
                      </m:d>
                    </m:oMath>
                  </a14:m>
                  <a:endParaRPr lang="it-IT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CasellaDiTesto 7">
                  <a:extLst>
                    <a:ext uri="{FF2B5EF4-FFF2-40B4-BE49-F238E27FC236}">
                      <a16:creationId xmlns:a16="http://schemas.microsoft.com/office/drawing/2014/main" id="{E2B7E9A7-F33C-1426-EE61-041898B37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5672" y="2334739"/>
                  <a:ext cx="3607673" cy="2270109"/>
                </a:xfrm>
                <a:prstGeom prst="rect">
                  <a:avLst/>
                </a:prstGeom>
                <a:blipFill>
                  <a:blip r:embed="rId4"/>
                  <a:stretch>
                    <a:fillRect l="-1520" t="-806" r="-1351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sellaDiTesto 9">
                  <a:extLst>
                    <a:ext uri="{FF2B5EF4-FFF2-40B4-BE49-F238E27FC236}">
                      <a16:creationId xmlns:a16="http://schemas.microsoft.com/office/drawing/2014/main" id="{60DC9EAF-DE85-E998-7DFA-51F65AC0099B}"/>
                    </a:ext>
                  </a:extLst>
                </p:cNvPr>
                <p:cNvSpPr txBox="1"/>
                <p:nvPr/>
              </p:nvSpPr>
              <p:spPr>
                <a:xfrm>
                  <a:off x="8262502" y="2296042"/>
                  <a:ext cx="3780562" cy="25943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15000"/>
                    </a:lnSpc>
                    <a:spcAft>
                      <a:spcPts val="800"/>
                    </a:spcAft>
                    <a:buNone/>
                  </a:pPr>
                  <a:r>
                    <a:rPr lang="en-GB" b="1" i="1" kern="100" dirty="0">
                      <a:effectLst/>
                      <a:latin typeface="Times New Roman" panose="02020603050405020304" pitchFamily="18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INVERSE KINEAMATICS</a:t>
                  </a:r>
                  <a:endParaRPr lang="it-IT" i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endParaRPr>
                </a:p>
                <a:p>
                  <a:pPr algn="just">
                    <a:lnSpc>
                      <a:spcPct val="115000"/>
                    </a:lnSpc>
                    <a:spcAft>
                      <a:spcPts val="800"/>
                    </a:spcAft>
                    <a:buNone/>
                  </a:pPr>
                  <a:r>
                    <a:rPr lang="en-GB" i="1" kern="100" dirty="0">
                      <a:effectLst/>
                      <a:latin typeface="Times New Roman" panose="02020603050405020304" pitchFamily="18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Given the </a:t>
                  </a:r>
                  <a:r>
                    <a:rPr lang="en-GB" b="1" i="1" kern="100" dirty="0">
                      <a:solidFill>
                        <a:srgbClr val="FF0000"/>
                      </a:solidFill>
                      <a:effectLst/>
                      <a:latin typeface="Times New Roman" panose="02020603050405020304" pitchFamily="18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output</a:t>
                  </a:r>
                  <a:r>
                    <a:rPr lang="en-GB" i="1" kern="100" dirty="0">
                      <a:effectLst/>
                      <a:latin typeface="Times New Roman" panose="02020603050405020304" pitchFamily="18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 of the model compute the </a:t>
                  </a:r>
                  <a:r>
                    <a:rPr lang="en-GB" b="1" i="1" kern="100" dirty="0">
                      <a:solidFill>
                        <a:srgbClr val="00B050"/>
                      </a:solidFill>
                      <a:effectLst/>
                      <a:latin typeface="Times New Roman" panose="02020603050405020304" pitchFamily="18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input</a:t>
                  </a:r>
                  <a:r>
                    <a:rPr lang="en-GB" i="1" kern="100" dirty="0">
                      <a:effectLst/>
                      <a:latin typeface="Times New Roman" panose="02020603050405020304" pitchFamily="18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:</a:t>
                  </a:r>
                  <a:endParaRPr lang="it-IT" i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endParaRPr>
                </a:p>
                <a:p>
                  <a:pPr algn="ctr"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it-IT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it-IT" b="1" i="1" kern="10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kern="10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kern="10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𝒍</m:t>
                                    </m:r>
                                  </m:sub>
                                </m:sSub>
                                <m: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it-IT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den>
                                </m:f>
                                <m: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∗(</m:t>
                                </m:r>
                                <m:r>
                                  <a:rPr lang="en-GB" b="1" i="1" kern="1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  <m: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it-IT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1" i="1" kern="10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𝒘</m:t>
                                    </m:r>
                                    <m: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it-IT" b="1" i="1" kern="10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kern="10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kern="10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  <m: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it-IT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den>
                                </m:f>
                                <m: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∗(</m:t>
                                </m:r>
                                <m:r>
                                  <a:rPr lang="en-GB" b="1" i="1" kern="1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  <m: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it-IT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1" i="1" kern="10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𝒘</m:t>
                                    </m:r>
                                    <m: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 </m:t>
                                </m:r>
                              </m:e>
                            </m:eqArr>
                            <m: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         </m:t>
                            </m:r>
                          </m:e>
                        </m:d>
                      </m:oMath>
                    </m:oMathPara>
                  </a14:m>
                  <a:endParaRPr lang="it-IT" i="1" dirty="0"/>
                </a:p>
              </p:txBody>
            </p:sp>
          </mc:Choice>
          <mc:Fallback xmlns="">
            <p:sp>
              <p:nvSpPr>
                <p:cNvPr id="10" name="CasellaDiTesto 9">
                  <a:extLst>
                    <a:ext uri="{FF2B5EF4-FFF2-40B4-BE49-F238E27FC236}">
                      <a16:creationId xmlns:a16="http://schemas.microsoft.com/office/drawing/2014/main" id="{60DC9EAF-DE85-E998-7DFA-51F65AC009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2502" y="2296042"/>
                  <a:ext cx="3780562" cy="2594365"/>
                </a:xfrm>
                <a:prstGeom prst="rect">
                  <a:avLst/>
                </a:prstGeom>
                <a:blipFill>
                  <a:blip r:embed="rId5"/>
                  <a:stretch>
                    <a:fillRect l="-1288" t="-469" r="-128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6">
              <a:extLst>
                <a:ext uri="{FF2B5EF4-FFF2-40B4-BE49-F238E27FC236}">
                  <a16:creationId xmlns:a16="http://schemas.microsoft.com/office/drawing/2014/main" id="{7C9DEC80-17C8-F2E0-95E0-68EB1C864864}"/>
                </a:ext>
              </a:extLst>
            </p:cNvPr>
            <p:cNvCxnSpPr>
              <a:cxnSpLocks/>
            </p:cNvCxnSpPr>
            <p:nvPr/>
          </p:nvCxnSpPr>
          <p:spPr>
            <a:xfrm>
              <a:off x="8063345" y="2257694"/>
              <a:ext cx="0" cy="249517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6EAC91C-C7B7-A41A-AAED-EA3B2A6AA968}"/>
              </a:ext>
            </a:extLst>
          </p:cNvPr>
          <p:cNvSpPr txBox="1"/>
          <p:nvPr/>
        </p:nvSpPr>
        <p:spPr>
          <a:xfrm>
            <a:off x="278526" y="924642"/>
            <a:ext cx="4177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Model</a:t>
            </a:r>
          </a:p>
        </p:txBody>
      </p:sp>
    </p:spTree>
    <p:extLst>
      <p:ext uri="{BB962C8B-B14F-4D97-AF65-F5344CB8AC3E}">
        <p14:creationId xmlns:p14="http://schemas.microsoft.com/office/powerpoint/2010/main" val="2667922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magine 2" descr="Immagine che contiene schizzo, Parallelo, linea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470421DD-8F54-A65D-EDB1-A72EDD080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80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tx1"/>
              </a:gs>
              <a:gs pos="35000">
                <a:schemeClr val="tx1">
                  <a:alpha val="77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7812DC8-1FB2-9243-AC0B-9C0A2AC4B57E}"/>
              </a:ext>
            </a:extLst>
          </p:cNvPr>
          <p:cNvSpPr txBox="1"/>
          <p:nvPr/>
        </p:nvSpPr>
        <p:spPr>
          <a:xfrm>
            <a:off x="8875229" y="2637823"/>
            <a:ext cx="3445765" cy="88178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i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Map</a:t>
            </a:r>
          </a:p>
        </p:txBody>
      </p:sp>
    </p:spTree>
    <p:extLst>
      <p:ext uri="{BB962C8B-B14F-4D97-AF65-F5344CB8AC3E}">
        <p14:creationId xmlns:p14="http://schemas.microsoft.com/office/powerpoint/2010/main" val="560231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2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6" name="Freeform: Shape 2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B54E9D1-3BC0-F613-E70D-A47F3B421443}"/>
              </a:ext>
            </a:extLst>
          </p:cNvPr>
          <p:cNvSpPr txBox="1"/>
          <p:nvPr/>
        </p:nvSpPr>
        <p:spPr>
          <a:xfrm>
            <a:off x="356982" y="625683"/>
            <a:ext cx="4023360" cy="7687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Map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3C60AD5-F188-518A-E855-3652A1EC6107}"/>
              </a:ext>
            </a:extLst>
          </p:cNvPr>
          <p:cNvSpPr txBox="1"/>
          <p:nvPr/>
        </p:nvSpPr>
        <p:spPr>
          <a:xfrm>
            <a:off x="5294694" y="969417"/>
            <a:ext cx="7139851" cy="662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map of the environment is known a-priori and described by the following figure</a:t>
            </a:r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magine 5" descr="Immagine che contiene schizzo, Rettangolo, disegno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45BF7497-DF09-4435-0518-74D4D23F8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38" y="1631788"/>
            <a:ext cx="4495293" cy="5197683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AFB8F88-58C6-81C4-B0B3-089CA731A545}"/>
              </a:ext>
            </a:extLst>
          </p:cNvPr>
          <p:cNvSpPr txBox="1"/>
          <p:nvPr/>
        </p:nvSpPr>
        <p:spPr>
          <a:xfrm>
            <a:off x="335647" y="2158765"/>
            <a:ext cx="42775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it-IT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</a:t>
            </a:r>
            <a:r>
              <a:rPr lang="it-IT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costmap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useful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planning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Indeed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planner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on a safe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avoid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unexpected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collisions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obstacles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include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enlargement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obstacles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filling of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areas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obstacles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reside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procedures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crucial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planning strategy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chosen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endParaRPr lang="it-IT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127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9CE6E-8772-1009-BEA2-D0D1AB40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48BA22-6500-8C10-B27A-34A9DC956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A1CB328-9F25-B483-192B-B88565F84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6679409-D1F1-ACC5-1CD4-B5AAEFC46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tangolo 3">
            <a:extLst>
              <a:ext uri="{FF2B5EF4-FFF2-40B4-BE49-F238E27FC236}">
                <a16:creationId xmlns:a16="http://schemas.microsoft.com/office/drawing/2014/main" id="{53A58C74-F01F-8A8F-0DCE-F3926E530AA4}"/>
              </a:ext>
            </a:extLst>
          </p:cNvPr>
          <p:cNvSpPr/>
          <p:nvPr/>
        </p:nvSpPr>
        <p:spPr>
          <a:xfrm>
            <a:off x="713232" y="994688"/>
            <a:ext cx="978862" cy="72624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10A5CC9-0614-E3B4-356A-0524B82E1F49}"/>
              </a:ext>
            </a:extLst>
          </p:cNvPr>
          <p:cNvSpPr txBox="1"/>
          <p:nvPr/>
        </p:nvSpPr>
        <p:spPr>
          <a:xfrm>
            <a:off x="609323" y="348357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Map</a:t>
            </a:r>
          </a:p>
        </p:txBody>
      </p:sp>
      <p:pic>
        <p:nvPicPr>
          <p:cNvPr id="9" name="Immagine 8" descr="Immagine che contiene schermata, Elementi grafici, grafica, design&#10;&#10;Il contenuto generato dall'IA potrebbe non essere corretto.">
            <a:extLst>
              <a:ext uri="{FF2B5EF4-FFF2-40B4-BE49-F238E27FC236}">
                <a16:creationId xmlns:a16="http://schemas.microsoft.com/office/drawing/2014/main" id="{6505542B-A704-8813-BF22-550239345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2368" y="1"/>
            <a:ext cx="1599632" cy="1039760"/>
          </a:xfrm>
          <a:prstGeom prst="rect">
            <a:avLst/>
          </a:prstGeom>
        </p:spPr>
      </p:pic>
      <p:pic>
        <p:nvPicPr>
          <p:cNvPr id="12" name="Immagine 11" descr="Immagine che contiene schizzo, Rettangolo, disegno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4E292448-2711-2C7A-A332-004FE05EF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274" y="1581540"/>
            <a:ext cx="3645026" cy="3919123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2ED413E-4F54-5F9B-3E32-81179E9AC338}"/>
              </a:ext>
            </a:extLst>
          </p:cNvPr>
          <p:cNvSpPr txBox="1"/>
          <p:nvPr/>
        </p:nvSpPr>
        <p:spPr>
          <a:xfrm>
            <a:off x="713232" y="1126138"/>
            <a:ext cx="1092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knowledge of the a-priori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after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up with the global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costmap</a:t>
            </a:r>
            <a:endParaRPr lang="it-IT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754F80E7-68E1-F5DF-9331-17AFCC7D8068}"/>
              </a:ext>
            </a:extLst>
          </p:cNvPr>
          <p:cNvSpPr/>
          <p:nvPr/>
        </p:nvSpPr>
        <p:spPr>
          <a:xfrm>
            <a:off x="5361708" y="3136205"/>
            <a:ext cx="1901537" cy="800100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359F081-25DC-47C7-1CF7-E24BEE51D23D}"/>
              </a:ext>
            </a:extLst>
          </p:cNvPr>
          <p:cNvSpPr txBox="1"/>
          <p:nvPr/>
        </p:nvSpPr>
        <p:spPr>
          <a:xfrm>
            <a:off x="713232" y="5826999"/>
            <a:ext cx="11257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way,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ensurance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robot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safe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perimeter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obstacles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walls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 mapping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lidar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obstacles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well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mapping are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F74E0B9-8C61-AFAA-DB5D-4DB0DC928AF0}"/>
              </a:ext>
            </a:extLst>
          </p:cNvPr>
          <p:cNvSpPr txBox="1"/>
          <p:nvPr/>
        </p:nvSpPr>
        <p:spPr>
          <a:xfrm>
            <a:off x="2229941" y="5411551"/>
            <a:ext cx="1745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a-priori </a:t>
            </a:r>
            <a:r>
              <a:rPr lang="it-IT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endParaRPr lang="it-IT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0EB0EDF-6F31-976F-0012-5549545D819A}"/>
              </a:ext>
            </a:extLst>
          </p:cNvPr>
          <p:cNvSpPr txBox="1"/>
          <p:nvPr/>
        </p:nvSpPr>
        <p:spPr>
          <a:xfrm>
            <a:off x="9006095" y="5432844"/>
            <a:ext cx="1745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</a:t>
            </a:r>
            <a:r>
              <a:rPr lang="it-IT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costmap</a:t>
            </a:r>
            <a:endParaRPr lang="it-IT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A101DC3-FB17-4F73-E444-A8B66754E0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6645" y="1588972"/>
            <a:ext cx="3502123" cy="382257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7618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D1AAD-B86B-47D1-C0A4-1BE6BF9FF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12206A-48D1-D2D4-5B2B-D8E73F73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DAF7BA8-07F8-018C-6DE0-983A926B7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DFCE60-E5F8-73D7-A6C2-B15673270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5AEBDF1-6F37-C342-3996-2CB8D2A181AB}"/>
              </a:ext>
            </a:extLst>
          </p:cNvPr>
          <p:cNvSpPr txBox="1"/>
          <p:nvPr/>
        </p:nvSpPr>
        <p:spPr>
          <a:xfrm>
            <a:off x="619714" y="161558"/>
            <a:ext cx="605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04AF959-D3AB-6953-26D7-C43096C233D4}"/>
              </a:ext>
            </a:extLst>
          </p:cNvPr>
          <p:cNvSpPr txBox="1"/>
          <p:nvPr/>
        </p:nvSpPr>
        <p:spPr>
          <a:xfrm>
            <a:off x="619714" y="1236519"/>
            <a:ext cx="1010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classes,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with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assignments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C928D15-190F-DBEC-2AD2-38A30D732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14" y="1718576"/>
            <a:ext cx="10107200" cy="922391"/>
          </a:xfrm>
          <a:prstGeom prst="rect">
            <a:avLst/>
          </a:prstGeom>
        </p:spPr>
      </p:pic>
      <p:grpSp>
        <p:nvGrpSpPr>
          <p:cNvPr id="30" name="Gruppo 29">
            <a:extLst>
              <a:ext uri="{FF2B5EF4-FFF2-40B4-BE49-F238E27FC236}">
                <a16:creationId xmlns:a16="http://schemas.microsoft.com/office/drawing/2014/main" id="{EFA37401-A24B-6DE9-F691-127678E32019}"/>
              </a:ext>
            </a:extLst>
          </p:cNvPr>
          <p:cNvGrpSpPr/>
          <p:nvPr/>
        </p:nvGrpSpPr>
        <p:grpSpPr>
          <a:xfrm>
            <a:off x="619714" y="2842370"/>
            <a:ext cx="9977559" cy="3621108"/>
            <a:chOff x="531433" y="3166501"/>
            <a:chExt cx="9977559" cy="36211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asellaDiTesto 12">
                  <a:extLst>
                    <a:ext uri="{FF2B5EF4-FFF2-40B4-BE49-F238E27FC236}">
                      <a16:creationId xmlns:a16="http://schemas.microsoft.com/office/drawing/2014/main" id="{F74FF917-192E-DDDE-2E30-413E6FE1945D}"/>
                    </a:ext>
                  </a:extLst>
                </p:cNvPr>
                <p:cNvSpPr txBox="1"/>
                <p:nvPr/>
              </p:nvSpPr>
              <p:spPr>
                <a:xfrm>
                  <a:off x="531434" y="3166501"/>
                  <a:ext cx="984260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 algn="just">
                    <a:buFont typeface="Arial" panose="020B0604020202020204" pitchFamily="34" charset="0"/>
                    <a:buChar char="•"/>
                  </a:pPr>
                  <a:r>
                    <a:rPr lang="it-IT" b="1" i="1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Scheduler</a:t>
                  </a:r>
                  <a:r>
                    <a:rPr lang="it-IT" b="1" i="1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</a:t>
                  </a:r>
                  <a:r>
                    <a:rPr lang="it-IT" i="1" dirty="0" err="1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is</a:t>
                  </a:r>
                  <a:r>
                    <a:rPr lang="it-IT" i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it-IT" i="1" dirty="0" err="1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responsible</a:t>
                  </a:r>
                  <a:r>
                    <a:rPr lang="it-IT" i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for </a:t>
                  </a:r>
                  <a:r>
                    <a:rPr lang="it-IT" i="1" dirty="0" err="1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sending</a:t>
                  </a:r>
                  <a:r>
                    <a:rPr lang="it-IT" i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the </a:t>
                  </a:r>
                  <a:r>
                    <a:rPr lang="it-IT" i="1" dirty="0" err="1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next</a:t>
                  </a:r>
                  <a:r>
                    <a:rPr lang="it-IT" i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point to </a:t>
                  </a:r>
                  <a:r>
                    <a:rPr lang="it-IT" i="1" dirty="0" err="1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reach</a:t>
                  </a:r>
                  <a:r>
                    <a:rPr lang="it-IT" i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</a:t>
                  </a:r>
                  <a:r>
                    <a:rPr lang="it-IT" i="1" dirty="0" err="1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between</a:t>
                  </a:r>
                  <a:r>
                    <a:rPr lang="it-IT" i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it-IT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it-IT" i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it-IT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it-IT" i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it-IT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it-IT" i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 to </a:t>
                  </a:r>
                  <a:r>
                    <a:rPr lang="it-IT" i="1" dirty="0" err="1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enable</a:t>
                  </a:r>
                  <a:r>
                    <a:rPr lang="it-IT" i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the planning </a:t>
                  </a:r>
                  <a:r>
                    <a:rPr lang="it-IT" i="1" dirty="0" err="1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phase</a:t>
                  </a:r>
                  <a:r>
                    <a:rPr lang="it-IT" i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:endParaRPr lang="it-IT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CasellaDiTesto 12">
                  <a:extLst>
                    <a:ext uri="{FF2B5EF4-FFF2-40B4-BE49-F238E27FC236}">
                      <a16:creationId xmlns:a16="http://schemas.microsoft.com/office/drawing/2014/main" id="{F74FF917-192E-DDDE-2E30-413E6FE19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434" y="3166501"/>
                  <a:ext cx="984260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434" t="-4717" r="-496" b="-14151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3ED98695-B2D4-539B-BF16-D378C82414F5}"/>
                </a:ext>
              </a:extLst>
            </p:cNvPr>
            <p:cNvSpPr txBox="1"/>
            <p:nvPr/>
          </p:nvSpPr>
          <p:spPr>
            <a:xfrm>
              <a:off x="531434" y="3902908"/>
              <a:ext cx="984260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it-IT" b="1" i="1" dirty="0">
                  <a:solidFill>
                    <a:srgbClr val="FEBB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Planner: 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after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receiving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goal to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reach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computes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path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ensure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robot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arrives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the target point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avoiding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obstacles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route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When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path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available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sends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whole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trajectory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planner</a:t>
              </a: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3E42819A-0571-EF8B-5CC9-C4225CD85AF8}"/>
                </a:ext>
              </a:extLst>
            </p:cNvPr>
            <p:cNvSpPr txBox="1"/>
            <p:nvPr/>
          </p:nvSpPr>
          <p:spPr>
            <a:xfrm>
              <a:off x="531434" y="4829163"/>
              <a:ext cx="984260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it-IT" b="1" i="1" dirty="0">
                  <a:solidFill>
                    <a:srgbClr val="ED7D3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Planner: 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from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path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computed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 the planning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waypoint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send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the controller in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order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make the robot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able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reach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all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target points of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trajectory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Moreover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sends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further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information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regarding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linear and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angular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speeds to be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tracked</a:t>
              </a:r>
              <a:endParaRPr lang="it-IT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it-IT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9198F379-0C0A-2CE2-6E9B-489EDBBFDD6C}"/>
                </a:ext>
              </a:extLst>
            </p:cNvPr>
            <p:cNvSpPr txBox="1"/>
            <p:nvPr/>
          </p:nvSpPr>
          <p:spPr>
            <a:xfrm>
              <a:off x="531433" y="5864279"/>
              <a:ext cx="99775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it-IT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Controller: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when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new target point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received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computes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linear and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angular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speeds to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move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robot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until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euclidean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distance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between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robot pose and the target point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lower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than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specific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threshold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repeats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operation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for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all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points of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trajectory</a:t>
              </a:r>
              <a:endParaRPr lang="it-IT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9" name="Immagine 28" descr="Immagine che contiene logo, clipart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1E4C01E2-D04C-771B-ED27-60210B930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7164" y="0"/>
            <a:ext cx="1634836" cy="16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47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28E80-6F61-F5C5-7C66-3FE2F361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1F4E03-49D9-799D-CB18-1CBB4D2CC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9359726-917A-3C7F-C614-54A52E3A4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3A85EA0-2C41-078D-4178-ED4B99F41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F33231C-C261-8F0F-B599-C1269D9E68AC}"/>
              </a:ext>
            </a:extLst>
          </p:cNvPr>
          <p:cNvSpPr txBox="1"/>
          <p:nvPr/>
        </p:nvSpPr>
        <p:spPr>
          <a:xfrm>
            <a:off x="619713" y="161558"/>
            <a:ext cx="111635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Architecture: How do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communicate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3A07448-F1A8-E8C8-951E-0E71F086944C}"/>
              </a:ext>
            </a:extLst>
          </p:cNvPr>
          <p:cNvSpPr txBox="1"/>
          <p:nvPr/>
        </p:nvSpPr>
        <p:spPr>
          <a:xfrm>
            <a:off x="713232" y="1402773"/>
            <a:ext cx="10207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imagine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Ros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system.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whole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exchange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information can be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summed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follows</a:t>
            </a:r>
          </a:p>
          <a:p>
            <a:endParaRPr lang="it-IT" dirty="0"/>
          </a:p>
        </p:txBody>
      </p:sp>
      <p:pic>
        <p:nvPicPr>
          <p:cNvPr id="7" name="Immagine 6" descr="Immagine che contiene testo, diagramma, linea, bianco&#10;&#10;Il contenuto generato dall'IA potrebbe non essere corretto.">
            <a:extLst>
              <a:ext uri="{FF2B5EF4-FFF2-40B4-BE49-F238E27FC236}">
                <a16:creationId xmlns:a16="http://schemas.microsoft.com/office/drawing/2014/main" id="{83FFD9C9-1694-C2AF-76BB-11980F4DC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326103"/>
            <a:ext cx="10394650" cy="2255497"/>
          </a:xfrm>
          <a:prstGeom prst="rect">
            <a:avLst/>
          </a:prstGeom>
        </p:spPr>
      </p:pic>
      <p:sp>
        <p:nvSpPr>
          <p:cNvPr id="10" name="Ovale 9">
            <a:extLst>
              <a:ext uri="{FF2B5EF4-FFF2-40B4-BE49-F238E27FC236}">
                <a16:creationId xmlns:a16="http://schemas.microsoft.com/office/drawing/2014/main" id="{D64749B7-156C-A45D-EAB7-D7A3DECF8277}"/>
              </a:ext>
            </a:extLst>
          </p:cNvPr>
          <p:cNvSpPr/>
          <p:nvPr/>
        </p:nvSpPr>
        <p:spPr>
          <a:xfrm>
            <a:off x="4840224" y="2697874"/>
            <a:ext cx="1100328" cy="22311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B73B9B0-26A9-7ABF-CFAE-E81068C7BD8F}"/>
              </a:ext>
            </a:extLst>
          </p:cNvPr>
          <p:cNvSpPr txBox="1"/>
          <p:nvPr/>
        </p:nvSpPr>
        <p:spPr>
          <a:xfrm>
            <a:off x="619713" y="5140960"/>
            <a:ext cx="10962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far,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associated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Gazebo.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plays a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crucial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physics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Let’s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in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exchange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information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endParaRPr lang="it-IT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C48E28F-1CF4-9085-9F73-224910A7760C}"/>
              </a:ext>
            </a:extLst>
          </p:cNvPr>
          <p:cNvSpPr txBox="1"/>
          <p:nvPr/>
        </p:nvSpPr>
        <p:spPr>
          <a:xfrm>
            <a:off x="5049559" y="2656033"/>
            <a:ext cx="1201891" cy="27699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1100" dirty="0" err="1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endParaRPr lang="it-IT" sz="1100" dirty="0">
              <a:ln w="9525">
                <a:solidFill>
                  <a:schemeClr val="tx1"/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magine 5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8A3C8626-569D-D047-0354-1BB08C0AD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24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896FD-B95C-FCEA-FEDB-03BF52E5B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1236E1-6D90-8F83-7861-A7BFE32DA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DE67432-9F87-3BEB-EF56-0EFC10399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1C134D2-3ABE-9E50-DF53-EB550B73C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F4C015A-2E55-36C0-AC7F-F7595962ACB3}"/>
              </a:ext>
            </a:extLst>
          </p:cNvPr>
          <p:cNvSpPr txBox="1"/>
          <p:nvPr/>
        </p:nvSpPr>
        <p:spPr>
          <a:xfrm>
            <a:off x="619713" y="161558"/>
            <a:ext cx="111635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Architecture: How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communicate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7" name="Immagine 6" descr="Immagine che contiene testo, diagramma, linea, bianco&#10;&#10;Il contenuto generato dall'IA potrebbe non essere corretto.">
            <a:extLst>
              <a:ext uri="{FF2B5EF4-FFF2-40B4-BE49-F238E27FC236}">
                <a16:creationId xmlns:a16="http://schemas.microsoft.com/office/drawing/2014/main" id="{CAFBE477-7084-94C6-CD76-7055C509F1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806" y="1173503"/>
            <a:ext cx="7025194" cy="1524371"/>
          </a:xfrm>
          <a:prstGeom prst="rect">
            <a:avLst/>
          </a:prstGeom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0FD1FDD5-D5D2-F1BF-F3D4-7ECF6A6D6175}"/>
              </a:ext>
            </a:extLst>
          </p:cNvPr>
          <p:cNvSpPr/>
          <p:nvPr/>
        </p:nvSpPr>
        <p:spPr>
          <a:xfrm>
            <a:off x="8044180" y="1463040"/>
            <a:ext cx="586740" cy="9398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D3D2EE9-28E9-755C-7DDE-0B0CA4FCAE3E}"/>
              </a:ext>
            </a:extLst>
          </p:cNvPr>
          <p:cNvSpPr txBox="1"/>
          <p:nvPr/>
        </p:nvSpPr>
        <p:spPr>
          <a:xfrm>
            <a:off x="7954622" y="1353440"/>
            <a:ext cx="807553" cy="26161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it-IT" sz="800" dirty="0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1100" dirty="0" err="1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endParaRPr lang="it-IT" sz="1100" dirty="0">
              <a:ln w="9525">
                <a:solidFill>
                  <a:schemeClr val="tx1"/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raphic 7" descr="Magnifying glass with solid fill">
            <a:extLst>
              <a:ext uri="{FF2B5EF4-FFF2-40B4-BE49-F238E27FC236}">
                <a16:creationId xmlns:a16="http://schemas.microsoft.com/office/drawing/2014/main" id="{C878567C-B0D8-E535-7FEA-CCC6DD344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638205">
            <a:off x="7571098" y="1030102"/>
            <a:ext cx="1209276" cy="117332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1F4AC487-217F-A476-201A-D9F787262625}"/>
              </a:ext>
            </a:extLst>
          </p:cNvPr>
          <p:cNvCxnSpPr>
            <a:cxnSpLocks/>
          </p:cNvCxnSpPr>
          <p:nvPr/>
        </p:nvCxnSpPr>
        <p:spPr>
          <a:xfrm flipV="1">
            <a:off x="757198" y="1612900"/>
            <a:ext cx="7247779" cy="124663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28">
            <a:extLst>
              <a:ext uri="{FF2B5EF4-FFF2-40B4-BE49-F238E27FC236}">
                <a16:creationId xmlns:a16="http://schemas.microsoft.com/office/drawing/2014/main" id="{E2A6C5E9-4ABF-5A44-8EBE-1A1007504767}"/>
              </a:ext>
            </a:extLst>
          </p:cNvPr>
          <p:cNvCxnSpPr>
            <a:cxnSpLocks/>
          </p:cNvCxnSpPr>
          <p:nvPr/>
        </p:nvCxnSpPr>
        <p:spPr>
          <a:xfrm flipV="1">
            <a:off x="5484503" y="1889760"/>
            <a:ext cx="2775098" cy="205474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324F27AD-B37E-55D2-CDF5-8D5AB672AAB0}"/>
              </a:ext>
            </a:extLst>
          </p:cNvPr>
          <p:cNvGrpSpPr/>
          <p:nvPr/>
        </p:nvGrpSpPr>
        <p:grpSpPr>
          <a:xfrm>
            <a:off x="713232" y="2859533"/>
            <a:ext cx="4845218" cy="1084968"/>
            <a:chOff x="713232" y="2859533"/>
            <a:chExt cx="4845218" cy="108496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A1A82035-AEF3-742D-0249-1DDB837A1840}"/>
                </a:ext>
              </a:extLst>
            </p:cNvPr>
            <p:cNvSpPr/>
            <p:nvPr/>
          </p:nvSpPr>
          <p:spPr>
            <a:xfrm>
              <a:off x="713232" y="2859533"/>
              <a:ext cx="4845218" cy="108496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8" name="Immagine 17" descr="Immagine che contiene cerchio, linea&#10;&#10;Il contenuto generato dall'IA potrebbe non essere corretto.">
              <a:extLst>
                <a:ext uri="{FF2B5EF4-FFF2-40B4-BE49-F238E27FC236}">
                  <a16:creationId xmlns:a16="http://schemas.microsoft.com/office/drawing/2014/main" id="{9EAF00E8-BDF5-5347-E402-B3A140861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198" y="3110670"/>
              <a:ext cx="4727305" cy="573718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2" name="Ovale 41">
            <a:extLst>
              <a:ext uri="{FF2B5EF4-FFF2-40B4-BE49-F238E27FC236}">
                <a16:creationId xmlns:a16="http://schemas.microsoft.com/office/drawing/2014/main" id="{A360FC38-D974-CC0E-D1D3-799D072270AF}"/>
              </a:ext>
            </a:extLst>
          </p:cNvPr>
          <p:cNvSpPr/>
          <p:nvPr/>
        </p:nvSpPr>
        <p:spPr>
          <a:xfrm>
            <a:off x="2355567" y="3233825"/>
            <a:ext cx="1835433" cy="30768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940F12E7-44CA-4590-8680-3F072C75F597}"/>
              </a:ext>
            </a:extLst>
          </p:cNvPr>
          <p:cNvSpPr/>
          <p:nvPr/>
        </p:nvSpPr>
        <p:spPr>
          <a:xfrm>
            <a:off x="2225040" y="3188969"/>
            <a:ext cx="2065020" cy="38481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696362A1-ECEF-EB96-0BFE-8BC46893115F}"/>
              </a:ext>
            </a:extLst>
          </p:cNvPr>
          <p:cNvSpPr txBox="1"/>
          <p:nvPr/>
        </p:nvSpPr>
        <p:spPr>
          <a:xfrm>
            <a:off x="2730510" y="3188969"/>
            <a:ext cx="1201891" cy="338554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it-IT" sz="1600" dirty="0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1600" dirty="0" err="1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endParaRPr lang="it-IT" sz="1600" dirty="0">
              <a:ln w="9525">
                <a:solidFill>
                  <a:schemeClr val="tx1"/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F694C640-3C22-E872-69DD-7D5B0986C652}"/>
                  </a:ext>
                </a:extLst>
              </p:cNvPr>
              <p:cNvSpPr txBox="1"/>
              <p:nvPr/>
            </p:nvSpPr>
            <p:spPr>
              <a:xfrm>
                <a:off x="619713" y="4452470"/>
                <a:ext cx="1077980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it-IT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Scheduler</a:t>
                </a:r>
                <a:r>
                  <a:rPr lang="it-IT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subscriber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listening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the </a:t>
                </a:r>
                <a:r>
                  <a:rPr lang="it-IT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it-IT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odom</a:t>
                </a:r>
                <a:r>
                  <a:rPr lang="it-IT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topic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Gazebo to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message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type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Odometry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pose of the robot in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terms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position and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orientation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Its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task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consists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sending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point to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reach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to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enable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planning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To do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publisher on the </a:t>
                </a:r>
                <a:r>
                  <a:rPr lang="it-IT" b="1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/goal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topic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the Global Planner.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euclidean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between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pose of the robot and the target point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lower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than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specific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threshold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it-IT" b="1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 [m]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publishes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point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message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type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b="1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PoseStamped</a:t>
                </a:r>
                <a:r>
                  <a:rPr lang="it-IT" b="1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until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simulation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completed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it-IT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F694C640-3C22-E872-69DD-7D5B0986C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13" y="4452470"/>
                <a:ext cx="10779807" cy="1754326"/>
              </a:xfrm>
              <a:prstGeom prst="rect">
                <a:avLst/>
              </a:prstGeom>
              <a:blipFill>
                <a:blip r:embed="rId7"/>
                <a:stretch>
                  <a:fillRect l="-396" t="-1736" r="-452" b="-45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Immagine 46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C74DC8CF-D47F-D929-D0EB-212220C81D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49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BF9A9-6BCA-5CDC-7C9B-C97CE0032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4B82C4-1A23-AA25-CAFE-A1732D48D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628E5EC-F3CC-7C6A-9F02-D0FE7FCA2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0D6D87A-9DB7-1803-A988-162677AB2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F2D49A0-E1A1-7FAC-C58D-44E46D7E92AD}"/>
              </a:ext>
            </a:extLst>
          </p:cNvPr>
          <p:cNvSpPr txBox="1"/>
          <p:nvPr/>
        </p:nvSpPr>
        <p:spPr>
          <a:xfrm>
            <a:off x="619713" y="161558"/>
            <a:ext cx="117551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Architecture: How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Planner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communicate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2" name="Immagine 1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EFEFCAA1-34EC-0876-2173-7C382EB9E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  <p:pic>
        <p:nvPicPr>
          <p:cNvPr id="7" name="Immagine 6" descr="Immagine che contiene testo, diagramma, linea, bianco&#10;&#10;Il contenuto generato dall'IA potrebbe non essere corretto.">
            <a:extLst>
              <a:ext uri="{FF2B5EF4-FFF2-40B4-BE49-F238E27FC236}">
                <a16:creationId xmlns:a16="http://schemas.microsoft.com/office/drawing/2014/main" id="{115DB7D8-E10A-A84D-C1A1-E3475EF530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806" y="1173503"/>
            <a:ext cx="7025194" cy="1524371"/>
          </a:xfrm>
          <a:prstGeom prst="rect">
            <a:avLst/>
          </a:prstGeom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263BAE82-6CFA-0618-F48A-93B24C0323D1}"/>
              </a:ext>
            </a:extLst>
          </p:cNvPr>
          <p:cNvSpPr/>
          <p:nvPr/>
        </p:nvSpPr>
        <p:spPr>
          <a:xfrm>
            <a:off x="8044180" y="1463040"/>
            <a:ext cx="586740" cy="9398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33F6A5F-9F22-BA55-473B-BD04DDAECEC2}"/>
              </a:ext>
            </a:extLst>
          </p:cNvPr>
          <p:cNvSpPr txBox="1"/>
          <p:nvPr/>
        </p:nvSpPr>
        <p:spPr>
          <a:xfrm>
            <a:off x="7990245" y="1379225"/>
            <a:ext cx="795020" cy="26161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it-IT" sz="800" dirty="0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1100" dirty="0" err="1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endParaRPr lang="it-IT" sz="1100" dirty="0">
              <a:ln w="9525">
                <a:solidFill>
                  <a:schemeClr val="tx1"/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raphic 7" descr="Magnifying glass with solid fill">
            <a:extLst>
              <a:ext uri="{FF2B5EF4-FFF2-40B4-BE49-F238E27FC236}">
                <a16:creationId xmlns:a16="http://schemas.microsoft.com/office/drawing/2014/main" id="{975950B4-6782-954E-7DB6-53B8CAB0C7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638205">
            <a:off x="9098396" y="991084"/>
            <a:ext cx="1219300" cy="118305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BC60F65F-9D96-87EC-D4B8-A644C3FE98EB}"/>
              </a:ext>
            </a:extLst>
          </p:cNvPr>
          <p:cNvCxnSpPr>
            <a:cxnSpLocks/>
          </p:cNvCxnSpPr>
          <p:nvPr/>
        </p:nvCxnSpPr>
        <p:spPr>
          <a:xfrm flipV="1">
            <a:off x="757198" y="1557020"/>
            <a:ext cx="8732242" cy="130251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28">
            <a:extLst>
              <a:ext uri="{FF2B5EF4-FFF2-40B4-BE49-F238E27FC236}">
                <a16:creationId xmlns:a16="http://schemas.microsoft.com/office/drawing/2014/main" id="{C5928BC1-28A4-8F2A-BC58-9D20D92A0B45}"/>
              </a:ext>
            </a:extLst>
          </p:cNvPr>
          <p:cNvCxnSpPr>
            <a:cxnSpLocks/>
          </p:cNvCxnSpPr>
          <p:nvPr/>
        </p:nvCxnSpPr>
        <p:spPr>
          <a:xfrm flipV="1">
            <a:off x="5484503" y="1849120"/>
            <a:ext cx="4218297" cy="209538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Ovale 41">
            <a:extLst>
              <a:ext uri="{FF2B5EF4-FFF2-40B4-BE49-F238E27FC236}">
                <a16:creationId xmlns:a16="http://schemas.microsoft.com/office/drawing/2014/main" id="{0A322DFD-D33D-8C35-D696-F0C806EAF959}"/>
              </a:ext>
            </a:extLst>
          </p:cNvPr>
          <p:cNvSpPr/>
          <p:nvPr/>
        </p:nvSpPr>
        <p:spPr>
          <a:xfrm>
            <a:off x="2355567" y="3233825"/>
            <a:ext cx="1835433" cy="30768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C4B8F4C5-F506-91FB-D246-D84A20014F94}"/>
                  </a:ext>
                </a:extLst>
              </p:cNvPr>
              <p:cNvSpPr txBox="1"/>
              <p:nvPr/>
            </p:nvSpPr>
            <p:spPr>
              <a:xfrm>
                <a:off x="619713" y="4421990"/>
                <a:ext cx="1077980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it-IT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Global Planner: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subscriber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listening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the </a:t>
                </a:r>
                <a:r>
                  <a:rPr lang="it-IT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it-IT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odom</a:t>
                </a:r>
                <a:r>
                  <a:rPr lang="it-IT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topic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Gazebo to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pose of the robot. </a:t>
                </a:r>
                <a:r>
                  <a:rPr lang="it-IT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new target point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it-IT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received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the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subscriber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the </a:t>
                </a:r>
                <a:r>
                  <a:rPr lang="it-IT" b="1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/goal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topic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(coming from the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scheduler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starts the planning procedure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consists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designing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safe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the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position to the target point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avoiding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collisions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during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route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Once the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computed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 publisher on the </a:t>
                </a:r>
                <a:r>
                  <a:rPr lang="it-IT" b="1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it-IT" b="1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global_planner</a:t>
                </a:r>
                <a:r>
                  <a:rPr lang="it-IT" b="1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it-IT" b="1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topic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publishes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message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type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b="1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</a:t>
                </a:r>
                <a:r>
                  <a:rPr lang="it-IT" b="1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send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whole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trajectory</a:t>
                </a:r>
                <a:r>
                  <a:rPr lang="it-IT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it-IT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C4B8F4C5-F506-91FB-D246-D84A20014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13" y="4421990"/>
                <a:ext cx="10779807" cy="1477328"/>
              </a:xfrm>
              <a:prstGeom prst="rect">
                <a:avLst/>
              </a:prstGeom>
              <a:blipFill>
                <a:blip r:embed="rId7"/>
                <a:stretch>
                  <a:fillRect l="-396" t="-2058" r="-452" b="-53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uppo 16">
            <a:extLst>
              <a:ext uri="{FF2B5EF4-FFF2-40B4-BE49-F238E27FC236}">
                <a16:creationId xmlns:a16="http://schemas.microsoft.com/office/drawing/2014/main" id="{EAD728B0-1554-233B-2ABF-302AB5F2C405}"/>
              </a:ext>
            </a:extLst>
          </p:cNvPr>
          <p:cNvGrpSpPr/>
          <p:nvPr/>
        </p:nvGrpSpPr>
        <p:grpSpPr>
          <a:xfrm>
            <a:off x="713232" y="2859533"/>
            <a:ext cx="4845218" cy="1084968"/>
            <a:chOff x="713232" y="2859533"/>
            <a:chExt cx="4845218" cy="108496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05E3FEF2-8729-6A95-E6D9-041D2A63B95B}"/>
                </a:ext>
              </a:extLst>
            </p:cNvPr>
            <p:cNvSpPr/>
            <p:nvPr/>
          </p:nvSpPr>
          <p:spPr>
            <a:xfrm>
              <a:off x="713232" y="2859533"/>
              <a:ext cx="4845218" cy="108496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testo, linea&#10;&#10;Il contenuto generato dall'IA potrebbe non essere corretto.">
              <a:extLst>
                <a:ext uri="{FF2B5EF4-FFF2-40B4-BE49-F238E27FC236}">
                  <a16:creationId xmlns:a16="http://schemas.microsoft.com/office/drawing/2014/main" id="{E281EB6C-4F86-975F-22E5-FBC62F831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509" y="2875669"/>
              <a:ext cx="4294725" cy="10257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6313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C78EE5-DC30-C135-9C46-0E1FF9219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7B7849B-6DEA-AD73-3EC7-B67904923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126B7A2-8C49-80CF-69DA-4209D7417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B8BE513-D130-8809-7C77-5C6B22BE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5FA2F42-4F96-F695-31EC-8482DB574C07}"/>
              </a:ext>
            </a:extLst>
          </p:cNvPr>
          <p:cNvSpPr txBox="1"/>
          <p:nvPr/>
        </p:nvSpPr>
        <p:spPr>
          <a:xfrm>
            <a:off x="619713" y="161558"/>
            <a:ext cx="117551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Architecture: How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Planner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communicate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2" name="Immagine 1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467FA47E-F3D0-29B1-2589-1F9ED2BFC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  <p:pic>
        <p:nvPicPr>
          <p:cNvPr id="7" name="Immagine 6" descr="Immagine che contiene testo, diagramma, linea, bianco&#10;&#10;Il contenuto generato dall'IA potrebbe non essere corretto.">
            <a:extLst>
              <a:ext uri="{FF2B5EF4-FFF2-40B4-BE49-F238E27FC236}">
                <a16:creationId xmlns:a16="http://schemas.microsoft.com/office/drawing/2014/main" id="{BABE604C-1563-F8DE-8D08-5598596704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806" y="1173503"/>
            <a:ext cx="7025194" cy="1524371"/>
          </a:xfrm>
          <a:prstGeom prst="rect">
            <a:avLst/>
          </a:prstGeom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E6156FB2-A40F-F2BE-4825-32289E3402F0}"/>
              </a:ext>
            </a:extLst>
          </p:cNvPr>
          <p:cNvSpPr/>
          <p:nvPr/>
        </p:nvSpPr>
        <p:spPr>
          <a:xfrm>
            <a:off x="8044180" y="1463040"/>
            <a:ext cx="586740" cy="9398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D214316-241A-7488-7DD6-0103B58B886C}"/>
              </a:ext>
            </a:extLst>
          </p:cNvPr>
          <p:cNvSpPr txBox="1"/>
          <p:nvPr/>
        </p:nvSpPr>
        <p:spPr>
          <a:xfrm>
            <a:off x="7990245" y="1379225"/>
            <a:ext cx="795020" cy="26161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it-IT" sz="800" dirty="0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1100" dirty="0" err="1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endParaRPr lang="it-IT" sz="1100" dirty="0">
              <a:ln w="9525">
                <a:solidFill>
                  <a:schemeClr val="tx1"/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raphic 7" descr="Magnifying glass with solid fill">
            <a:extLst>
              <a:ext uri="{FF2B5EF4-FFF2-40B4-BE49-F238E27FC236}">
                <a16:creationId xmlns:a16="http://schemas.microsoft.com/office/drawing/2014/main" id="{A95285A7-98D0-2A68-00F3-D4F976F61B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638205">
            <a:off x="10982949" y="1550270"/>
            <a:ext cx="1219300" cy="118305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2" name="Ovale 41">
            <a:extLst>
              <a:ext uri="{FF2B5EF4-FFF2-40B4-BE49-F238E27FC236}">
                <a16:creationId xmlns:a16="http://schemas.microsoft.com/office/drawing/2014/main" id="{D9F5835F-B527-7F87-4B9C-DF11256DFC08}"/>
              </a:ext>
            </a:extLst>
          </p:cNvPr>
          <p:cNvSpPr/>
          <p:nvPr/>
        </p:nvSpPr>
        <p:spPr>
          <a:xfrm>
            <a:off x="2355567" y="3233825"/>
            <a:ext cx="1835433" cy="30768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5165E3B-26D2-CD3B-B54D-A3DA9FCACBC1}"/>
              </a:ext>
            </a:extLst>
          </p:cNvPr>
          <p:cNvSpPr txBox="1"/>
          <p:nvPr/>
        </p:nvSpPr>
        <p:spPr>
          <a:xfrm>
            <a:off x="434131" y="4458463"/>
            <a:ext cx="114429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Planner: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listening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odom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Gazebo. A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subscriber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global_planner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receives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Global Planner.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speeds in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linear and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angular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sampling time (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 [sec]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waypoint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controller in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the robot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able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reach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target points of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 do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action client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Controller.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controller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succeded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reach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 on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Local Planner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receives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euclidean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pose and the last point of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becomes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0.2[m]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Once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happened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tracking for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it-IT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D0E2E2AA-2654-F327-C610-AF9F1EC23831}"/>
              </a:ext>
            </a:extLst>
          </p:cNvPr>
          <p:cNvCxnSpPr>
            <a:cxnSpLocks/>
          </p:cNvCxnSpPr>
          <p:nvPr/>
        </p:nvCxnSpPr>
        <p:spPr>
          <a:xfrm flipV="1">
            <a:off x="434131" y="2141795"/>
            <a:ext cx="11074400" cy="66336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28">
            <a:extLst>
              <a:ext uri="{FF2B5EF4-FFF2-40B4-BE49-F238E27FC236}">
                <a16:creationId xmlns:a16="http://schemas.microsoft.com/office/drawing/2014/main" id="{544A360E-A05A-C9E4-4DC4-12F3CDC3CFE2}"/>
              </a:ext>
            </a:extLst>
          </p:cNvPr>
          <p:cNvCxnSpPr>
            <a:cxnSpLocks/>
          </p:cNvCxnSpPr>
          <p:nvPr/>
        </p:nvCxnSpPr>
        <p:spPr>
          <a:xfrm flipV="1">
            <a:off x="6958817" y="2419844"/>
            <a:ext cx="4799052" cy="193133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D8C76F17-7A9D-CA49-C337-4C1551C5E972}"/>
              </a:ext>
            </a:extLst>
          </p:cNvPr>
          <p:cNvGrpSpPr/>
          <p:nvPr/>
        </p:nvGrpSpPr>
        <p:grpSpPr>
          <a:xfrm>
            <a:off x="434131" y="2805160"/>
            <a:ext cx="6524686" cy="1546017"/>
            <a:chOff x="434131" y="2805160"/>
            <a:chExt cx="6524686" cy="154601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B548540F-0F05-CC7C-1F6C-73C2DABC2000}"/>
                </a:ext>
              </a:extLst>
            </p:cNvPr>
            <p:cNvSpPr/>
            <p:nvPr/>
          </p:nvSpPr>
          <p:spPr>
            <a:xfrm>
              <a:off x="434131" y="2805160"/>
              <a:ext cx="6524686" cy="154601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5" name="Immagine 14" descr="Immagine che contiene linea, diagramma, testo, bianco&#10;&#10;Il contenuto generato dall'IA potrebbe non essere corretto.">
              <a:extLst>
                <a:ext uri="{FF2B5EF4-FFF2-40B4-BE49-F238E27FC236}">
                  <a16:creationId xmlns:a16="http://schemas.microsoft.com/office/drawing/2014/main" id="{0F9C33DE-972F-78E6-F83D-9C6A9E9D1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571" y="2881936"/>
              <a:ext cx="6309360" cy="1331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0473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4B6A4-1A3A-0507-DA79-435E2D95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41CCE9-2094-1CD6-550D-4B9278BDC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9303F4E-D5EB-6E17-07A2-D058FD0F2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93835B-3A48-DD7A-FA3D-567A54E6D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2F6E4AC-2270-CC58-3233-6F1EB7505CFE}"/>
              </a:ext>
            </a:extLst>
          </p:cNvPr>
          <p:cNvSpPr txBox="1"/>
          <p:nvPr/>
        </p:nvSpPr>
        <p:spPr>
          <a:xfrm>
            <a:off x="619713" y="161558"/>
            <a:ext cx="117551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Architecture: How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communicate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2" name="Immagine 1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A44DF4D6-595E-ACE9-E422-184E5608E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  <p:pic>
        <p:nvPicPr>
          <p:cNvPr id="7" name="Immagine 6" descr="Immagine che contiene testo, diagramma, linea, bianco&#10;&#10;Il contenuto generato dall'IA potrebbe non essere corretto.">
            <a:extLst>
              <a:ext uri="{FF2B5EF4-FFF2-40B4-BE49-F238E27FC236}">
                <a16:creationId xmlns:a16="http://schemas.microsoft.com/office/drawing/2014/main" id="{C06BB4E3-7CD4-3AEC-41FA-ECEFB3AFC7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806" y="1173503"/>
            <a:ext cx="7025194" cy="1524371"/>
          </a:xfrm>
          <a:prstGeom prst="rect">
            <a:avLst/>
          </a:prstGeom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9897AA03-7B76-E3D5-C034-B33B5E87A687}"/>
              </a:ext>
            </a:extLst>
          </p:cNvPr>
          <p:cNvSpPr/>
          <p:nvPr/>
        </p:nvSpPr>
        <p:spPr>
          <a:xfrm>
            <a:off x="8044180" y="1463040"/>
            <a:ext cx="586740" cy="9398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027CEB8-0D10-EFF7-4BCA-08A10F6CD60A}"/>
              </a:ext>
            </a:extLst>
          </p:cNvPr>
          <p:cNvSpPr txBox="1"/>
          <p:nvPr/>
        </p:nvSpPr>
        <p:spPr>
          <a:xfrm>
            <a:off x="7990245" y="1379225"/>
            <a:ext cx="795020" cy="26161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it-IT" sz="800" dirty="0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1100" dirty="0" err="1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endParaRPr lang="it-IT" sz="1100" dirty="0">
              <a:ln w="9525">
                <a:solidFill>
                  <a:schemeClr val="tx1"/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raphic 7" descr="Magnifying glass with solid fill">
            <a:extLst>
              <a:ext uri="{FF2B5EF4-FFF2-40B4-BE49-F238E27FC236}">
                <a16:creationId xmlns:a16="http://schemas.microsoft.com/office/drawing/2014/main" id="{E2AE77EE-8F4A-1E06-9CFA-0F61790526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638205">
            <a:off x="4931776" y="1744862"/>
            <a:ext cx="1082799" cy="105060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2" name="Ovale 41">
            <a:extLst>
              <a:ext uri="{FF2B5EF4-FFF2-40B4-BE49-F238E27FC236}">
                <a16:creationId xmlns:a16="http://schemas.microsoft.com/office/drawing/2014/main" id="{179DC6DC-625A-8DF9-F6C5-8D573656DD2D}"/>
              </a:ext>
            </a:extLst>
          </p:cNvPr>
          <p:cNvSpPr/>
          <p:nvPr/>
        </p:nvSpPr>
        <p:spPr>
          <a:xfrm>
            <a:off x="2355567" y="3233825"/>
            <a:ext cx="1835433" cy="30768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FE835FA-F5AA-B458-16BA-8E26FD364DA2}"/>
              </a:ext>
            </a:extLst>
          </p:cNvPr>
          <p:cNvSpPr txBox="1"/>
          <p:nvPr/>
        </p:nvSpPr>
        <p:spPr>
          <a:xfrm>
            <a:off x="434131" y="4565243"/>
            <a:ext cx="11442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Controller: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listening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odom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Gazebo. An action server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ready to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receive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goal from the action client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Local Planner.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goal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arrives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linear and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angular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speeds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control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and, by a 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Twist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cmd_vel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At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euclidean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robot position and the goal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Local Planner. The control action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becomes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 [m]</a:t>
            </a:r>
          </a:p>
        </p:txBody>
      </p: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3788237D-2C24-DB59-94DA-11A14499B6B0}"/>
              </a:ext>
            </a:extLst>
          </p:cNvPr>
          <p:cNvCxnSpPr>
            <a:cxnSpLocks/>
          </p:cNvCxnSpPr>
          <p:nvPr/>
        </p:nvCxnSpPr>
        <p:spPr>
          <a:xfrm flipV="1">
            <a:off x="434131" y="2205778"/>
            <a:ext cx="4861769" cy="59938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28">
            <a:extLst>
              <a:ext uri="{FF2B5EF4-FFF2-40B4-BE49-F238E27FC236}">
                <a16:creationId xmlns:a16="http://schemas.microsoft.com/office/drawing/2014/main" id="{75CBD1C9-F3C5-A066-3211-0EBE0C7DCB15}"/>
              </a:ext>
            </a:extLst>
          </p:cNvPr>
          <p:cNvCxnSpPr>
            <a:cxnSpLocks/>
          </p:cNvCxnSpPr>
          <p:nvPr/>
        </p:nvCxnSpPr>
        <p:spPr>
          <a:xfrm flipH="1" flipV="1">
            <a:off x="5935980" y="2292757"/>
            <a:ext cx="1022837" cy="53583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4585B3E4-99C5-DE00-82ED-3A69F7F69DD6}"/>
              </a:ext>
            </a:extLst>
          </p:cNvPr>
          <p:cNvGrpSpPr/>
          <p:nvPr/>
        </p:nvGrpSpPr>
        <p:grpSpPr>
          <a:xfrm>
            <a:off x="434131" y="2805160"/>
            <a:ext cx="6524686" cy="1546017"/>
            <a:chOff x="434131" y="2805160"/>
            <a:chExt cx="6524686" cy="154601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9D98D57C-30D9-9B4D-CB67-6542D4661198}"/>
                </a:ext>
              </a:extLst>
            </p:cNvPr>
            <p:cNvSpPr/>
            <p:nvPr/>
          </p:nvSpPr>
          <p:spPr>
            <a:xfrm>
              <a:off x="434131" y="2805160"/>
              <a:ext cx="6524686" cy="154601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linea, testo, bianco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864224D2-FD2D-7179-FC5B-CFBDC2B11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435" y="2921442"/>
              <a:ext cx="5875529" cy="1386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744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3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4" name="Rectangle 3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7" descr="Immagine che contiene schizzo, diagramma, disegno, Rettangolo&#10;&#10;Il contenuto generato dall'IA potrebbe non essere corretto.">
            <a:extLst>
              <a:ext uri="{FF2B5EF4-FFF2-40B4-BE49-F238E27FC236}">
                <a16:creationId xmlns:a16="http://schemas.microsoft.com/office/drawing/2014/main" id="{258699B0-D6D7-F1D2-0140-EB2D1E95F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9" r="2" b="23606"/>
          <a:stretch>
            <a:fillRect/>
          </a:stretch>
        </p:blipFill>
        <p:spPr>
          <a:xfrm>
            <a:off x="19" y="10"/>
            <a:ext cx="12191979" cy="6857989"/>
          </a:xfrm>
          <a:prstGeom prst="rect">
            <a:avLst/>
          </a:prstGeom>
        </p:spPr>
      </p:pic>
      <p:sp>
        <p:nvSpPr>
          <p:cNvPr id="45" name="Rectangle 38">
            <a:extLst>
              <a:ext uri="{FF2B5EF4-FFF2-40B4-BE49-F238E27FC236}">
                <a16:creationId xmlns:a16="http://schemas.microsoft.com/office/drawing/2014/main" id="{F8B2ECD5-47B1-47AD-AC9D-045064631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896636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3B7D717-1A5D-D624-234E-60E8D7CF6D7A}"/>
              </a:ext>
            </a:extLst>
          </p:cNvPr>
          <p:cNvSpPr txBox="1"/>
          <p:nvPr/>
        </p:nvSpPr>
        <p:spPr>
          <a:xfrm>
            <a:off x="598516" y="1433334"/>
            <a:ext cx="4659086" cy="3427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 b="1" i="1" dirty="0">
                <a:latin typeface="+mj-lt"/>
                <a:ea typeface="+mj-ea"/>
                <a:cs typeface="+mj-cs"/>
              </a:rPr>
              <a:t>Planner</a:t>
            </a:r>
          </a:p>
        </p:txBody>
      </p:sp>
      <p:cxnSp>
        <p:nvCxnSpPr>
          <p:cNvPr id="46" name="Straight Connector 40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 descr="Immagine che contiene Rettangolo, Elementi grafici, Arte bambini, Policromia&#10;&#10;Il contenuto generato dall'IA potrebbe non essere corretto.">
            <a:extLst>
              <a:ext uri="{FF2B5EF4-FFF2-40B4-BE49-F238E27FC236}">
                <a16:creationId xmlns:a16="http://schemas.microsoft.com/office/drawing/2014/main" id="{9B34F2AF-1421-6E09-271A-02EB65A88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9" r="27090"/>
          <a:stretch>
            <a:fillRect/>
          </a:stretch>
        </p:blipFill>
        <p:spPr>
          <a:xfrm>
            <a:off x="6485013" y="-9"/>
            <a:ext cx="4388756" cy="685799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isometricOffAxis1Top"/>
            <a:lightRig rig="threePt" dir="t"/>
          </a:scene3d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85D51D8E-D93D-381F-FB3C-49A129EABDA8}"/>
              </a:ext>
            </a:extLst>
          </p:cNvPr>
          <p:cNvSpPr/>
          <p:nvPr/>
        </p:nvSpPr>
        <p:spPr>
          <a:xfrm>
            <a:off x="713232" y="4804114"/>
            <a:ext cx="978862" cy="1141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01097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6393BE-5840-A0F8-AF1F-99B6FBBC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4BAC0D-46B1-96D1-C5AF-1B49E169A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0E4BFE6-1C05-0095-4058-B4F022972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4B638F-9725-5B21-1847-66D572370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magine 1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76BDBC45-4042-2E46-6EDD-AE25E3B3D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00AB9911-4FB8-B098-12BA-C71FF8B5618B}"/>
              </a:ext>
            </a:extLst>
          </p:cNvPr>
          <p:cNvSpPr/>
          <p:nvPr/>
        </p:nvSpPr>
        <p:spPr>
          <a:xfrm>
            <a:off x="713232" y="973916"/>
            <a:ext cx="978862" cy="1141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7385CA7-BE64-651F-4BD4-EA6212C121E3}"/>
              </a:ext>
            </a:extLst>
          </p:cNvPr>
          <p:cNvSpPr txBox="1"/>
          <p:nvPr/>
        </p:nvSpPr>
        <p:spPr>
          <a:xfrm>
            <a:off x="650529" y="294491"/>
            <a:ext cx="79683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Fields (DAPF)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0F3A229F-9537-0B04-68CB-4F555F57F2D4}"/>
                  </a:ext>
                </a:extLst>
              </p:cNvPr>
              <p:cNvSpPr txBox="1"/>
              <p:nvPr/>
            </p:nvSpPr>
            <p:spPr>
              <a:xfrm>
                <a:off x="713232" y="1338943"/>
                <a:ext cx="10392484" cy="333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strategy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adopted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the Global Planner are the Discrete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Artificial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Potential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Fields.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They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discretized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version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well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known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Artificial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Potential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Fields (APF).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technique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gets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inspiration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behaviour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a point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charge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an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field or of a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polarized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point mass in a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magnetic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field.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idea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consists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applying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concepts of repulsive and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attractive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forces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planning for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robotics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Practically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attractive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field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towards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goal and repulsive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obstacles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It’s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possible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scalar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satisfies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characteristics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𝑎𝑡𝑡𝑟𝑎𝑐𝑡𝑖𝑣𝑒</m:t>
                          </m:r>
                        </m:sub>
                      </m:sSub>
                      <m:r>
                        <a:rPr lang="it-I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𝑟𝑒𝑝𝑢𝑙𝑠𝑖𝑣𝑒</m:t>
                          </m:r>
                        </m:sub>
                      </m:sSub>
                    </m:oMath>
                  </m:oMathPara>
                </a14:m>
                <a:endParaRPr lang="it-IT" sz="16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𝑎𝑡𝑡𝑟𝑎𝑐𝑡𝑖𝑣𝑒</m:t>
                        </m:r>
                      </m:sub>
                    </m:sSub>
                  </m:oMath>
                </a14:m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global minimum set on the goal point in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drive the robot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towards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target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𝑟𝑒𝑝𝑢𝑙𝑠𝑖𝑣𝑒</m:t>
                        </m:r>
                      </m:sub>
                    </m:sSub>
                  </m:oMath>
                </a14:m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maximum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located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obstacles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push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away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robot from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perimeter</a:t>
                </a:r>
                <a:endParaRPr lang="it-IT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DAPF works on a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discretized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considering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scalar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small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around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goal and big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around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obstacles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by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associating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possible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reproduce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behaviour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/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0F3A229F-9537-0B04-68CB-4F555F57F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32" y="1338943"/>
                <a:ext cx="10392484" cy="3331168"/>
              </a:xfrm>
              <a:prstGeom prst="rect">
                <a:avLst/>
              </a:prstGeom>
              <a:blipFill>
                <a:blip r:embed="rId4"/>
                <a:stretch>
                  <a:fillRect l="-293" t="-549" r="-2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Immagine 21" descr="Immagine che contiene schermata, quadrato, Rettangolo, rosso&#10;&#10;Il contenuto generato dall'IA potrebbe non essere corretto.">
            <a:extLst>
              <a:ext uri="{FF2B5EF4-FFF2-40B4-BE49-F238E27FC236}">
                <a16:creationId xmlns:a16="http://schemas.microsoft.com/office/drawing/2014/main" id="{C239ED3E-6DE9-C3ED-FAF2-FB433D6286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161" y="4495159"/>
            <a:ext cx="2514133" cy="1856522"/>
          </a:xfrm>
          <a:prstGeom prst="rect">
            <a:avLst/>
          </a:prstGeom>
        </p:spPr>
      </p:pic>
      <p:pic>
        <p:nvPicPr>
          <p:cNvPr id="5" name="Immagine 4" descr="Immagine che contiene Rettangolo, quadrato, schermata, rosso&#10;&#10;Il contenuto generato dall'IA potrebbe non essere corretto.">
            <a:extLst>
              <a:ext uri="{FF2B5EF4-FFF2-40B4-BE49-F238E27FC236}">
                <a16:creationId xmlns:a16="http://schemas.microsoft.com/office/drawing/2014/main" id="{4B192A91-62BE-904A-A01D-211A748418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007" y="4275444"/>
            <a:ext cx="2949083" cy="207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75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80897-4B00-7AE2-3FE4-507D8046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CA790F-88CB-4520-8736-954E543FE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81A7941-3FDE-F4D6-29F6-2F72B6AF1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729E217-E730-793D-BCA4-2D42DEE8A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magine 1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068ACD22-928C-BCBE-780B-8F244C493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DB33DC99-2905-C03F-E96D-8020C643E8C9}"/>
              </a:ext>
            </a:extLst>
          </p:cNvPr>
          <p:cNvSpPr/>
          <p:nvPr/>
        </p:nvSpPr>
        <p:spPr>
          <a:xfrm>
            <a:off x="713232" y="973916"/>
            <a:ext cx="978862" cy="1141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D89E0EC-1A9A-7416-605A-585FFB494DE1}"/>
              </a:ext>
            </a:extLst>
          </p:cNvPr>
          <p:cNvSpPr txBox="1"/>
          <p:nvPr/>
        </p:nvSpPr>
        <p:spPr>
          <a:xfrm>
            <a:off x="650529" y="294491"/>
            <a:ext cx="79683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Fields (DAPF)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B38AC9C-57EF-C1C9-0071-7DC10A8D45D3}"/>
              </a:ext>
            </a:extLst>
          </p:cNvPr>
          <p:cNvSpPr txBox="1"/>
          <p:nvPr/>
        </p:nvSpPr>
        <p:spPr>
          <a:xfrm>
            <a:off x="650529" y="1142980"/>
            <a:ext cx="104551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8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adjacent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smallest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share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minimum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euclidean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goal.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containing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goal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reached</a:t>
            </a:r>
            <a:endParaRPr lang="it-IT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generating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trajectories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aspect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useful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time.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possibility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face with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minima and with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passage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obstacles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 sort off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minima, some sub-goals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been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considered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Let’s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look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planning </a:t>
            </a:r>
            <a:r>
              <a:rPr 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CE1A0950-FAF2-6E79-B442-3770757F7036}"/>
                  </a:ext>
                </a:extLst>
              </p:cNvPr>
              <p:cNvSpPr txBox="1"/>
              <p:nvPr/>
            </p:nvSpPr>
            <p:spPr>
              <a:xfrm>
                <a:off x="1323951" y="6301025"/>
                <a:ext cx="138491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1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</a:t>
                </a:r>
                <a:r>
                  <a:rPr lang="it-IT" sz="1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it-IT" sz="11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it-IT" sz="1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it-IT" sz="11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it-IT" sz="1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CE1A0950-FAF2-6E79-B442-3770757F7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951" y="6301025"/>
                <a:ext cx="1384916" cy="261610"/>
              </a:xfrm>
              <a:prstGeom prst="rect">
                <a:avLst/>
              </a:prstGeom>
              <a:blipFill>
                <a:blip r:embed="rId4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958FBFC8-E3D8-45A5-E622-EE9AF7719381}"/>
                  </a:ext>
                </a:extLst>
              </p:cNvPr>
              <p:cNvSpPr txBox="1"/>
              <p:nvPr/>
            </p:nvSpPr>
            <p:spPr>
              <a:xfrm>
                <a:off x="5654989" y="6301025"/>
                <a:ext cx="153255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it-IT" sz="11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it-IT" sz="1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it-IT" sz="11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it-IT" sz="1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958FBFC8-E3D8-45A5-E622-EE9AF7719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989" y="6301025"/>
                <a:ext cx="1532550" cy="261610"/>
              </a:xfrm>
              <a:prstGeom prst="rect">
                <a:avLst/>
              </a:prstGeom>
              <a:blipFill>
                <a:blip r:embed="rId5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83887004-A515-E525-88E9-DBDCF4909CB8}"/>
                  </a:ext>
                </a:extLst>
              </p:cNvPr>
              <p:cNvSpPr txBox="1"/>
              <p:nvPr/>
            </p:nvSpPr>
            <p:spPr>
              <a:xfrm>
                <a:off x="9572347" y="6299822"/>
                <a:ext cx="609452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it-IT" sz="11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it-IT" sz="1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it-IT" sz="11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it-IT" sz="1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83887004-A515-E525-88E9-DBDCF4909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2347" y="6299822"/>
                <a:ext cx="6094520" cy="261610"/>
              </a:xfrm>
              <a:prstGeom prst="rect">
                <a:avLst/>
              </a:prstGeom>
              <a:blipFill>
                <a:blip r:embed="rId9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magine 12">
            <a:extLst>
              <a:ext uri="{FF2B5EF4-FFF2-40B4-BE49-F238E27FC236}">
                <a16:creationId xmlns:a16="http://schemas.microsoft.com/office/drawing/2014/main" id="{55FB925D-420B-6A19-D24E-6EFB075C42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29" y="3449893"/>
            <a:ext cx="3256213" cy="284278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E69B7B7D-A854-41C5-CD8B-28B87A553E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157" y="3453217"/>
            <a:ext cx="3256214" cy="284660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7F2C47F5-1D95-02BD-55D6-900151C38D8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70" y="3449893"/>
            <a:ext cx="3268834" cy="28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59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5" name="Immagine 4" descr="Immagine che contiene blu, Blu elettrico, Blu intenso, schermata&#10;&#10;Il contenuto generato dall'IA potrebbe non essere corretto.">
            <a:extLst>
              <a:ext uri="{FF2B5EF4-FFF2-40B4-BE49-F238E27FC236}">
                <a16:creationId xmlns:a16="http://schemas.microsoft.com/office/drawing/2014/main" id="{1E331BF2-E664-E8F6-74E4-F3F7A61A5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31717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DC602D9-4776-E8F8-160A-653B505A7743}"/>
              </a:ext>
            </a:extLst>
          </p:cNvPr>
          <p:cNvSpPr txBox="1"/>
          <p:nvPr/>
        </p:nvSpPr>
        <p:spPr>
          <a:xfrm>
            <a:off x="457195" y="701964"/>
            <a:ext cx="5370950" cy="3640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Controller</a:t>
            </a:r>
            <a:endParaRPr lang="en-US" sz="6000" b="1" i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tangolo 10">
            <a:extLst>
              <a:ext uri="{FF2B5EF4-FFF2-40B4-BE49-F238E27FC236}">
                <a16:creationId xmlns:a16="http://schemas.microsoft.com/office/drawing/2014/main" id="{BF9B5E94-13AC-882B-C9AE-76FED4126011}"/>
              </a:ext>
            </a:extLst>
          </p:cNvPr>
          <p:cNvSpPr/>
          <p:nvPr/>
        </p:nvSpPr>
        <p:spPr>
          <a:xfrm>
            <a:off x="540329" y="4804119"/>
            <a:ext cx="978862" cy="11417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83775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A31B1-3368-7D99-8CEE-1C0E4B6AB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6726A0-053B-F07E-5D60-39510FBBC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FBEC175-5D0E-F800-4A78-8212EC02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7AA729-78CA-A4BD-E2CC-2C12306E8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F960DD3-B8F4-107F-B929-C9F228FAF408}"/>
              </a:ext>
            </a:extLst>
          </p:cNvPr>
          <p:cNvSpPr txBox="1"/>
          <p:nvPr/>
        </p:nvSpPr>
        <p:spPr>
          <a:xfrm>
            <a:off x="650529" y="289234"/>
            <a:ext cx="23628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</a:t>
            </a:r>
            <a:endParaRPr lang="it-IT" sz="3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10C5EF57-4147-91C1-B07A-6C1523402D12}"/>
                  </a:ext>
                </a:extLst>
              </p:cNvPr>
              <p:cNvSpPr txBox="1"/>
              <p:nvPr/>
            </p:nvSpPr>
            <p:spPr>
              <a:xfrm>
                <a:off x="650529" y="1213514"/>
                <a:ext cx="10447531" cy="6716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controller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responsible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generating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control inputs (linear and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speeds) to make the robot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capable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track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trajectory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Input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commands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computed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according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the following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law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/>
                <a:endParaRPr lang="it-IT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it-IT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sz="16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𝑐𝑜𝑠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it-IT" sz="16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1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it-IT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it-IT" sz="1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it-IT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it-IT" sz="1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it-IT" sz="1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it-IT" sz="1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𝑠𝑖𝑛</m:t>
                                  </m:r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⁡</m:t>
                                  </m:r>
                                  <m:d>
                                    <m:d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160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6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it-IT" sz="16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it-IT" sz="16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it-I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it-IT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it-I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it-I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it-IT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it-IT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t-IT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p>
                        <m:r>
                          <a:rPr lang="it-IT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it-IT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it-IT" sz="1600" b="1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t-IT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  <m:sup>
                        <m:r>
                          <a:rPr lang="it-IT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reference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speeds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computed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follows: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it-I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it-IT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it-I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it-I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sz="16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arctg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2⁡(</m:t>
                      </m:r>
                      <m:func>
                        <m:funcPr>
                          <m:ctrlP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16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6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6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it-I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func>
                        <m:funcPr>
                          <m:ctrlPr>
                            <a:rPr lang="it-I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16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it-I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it-IT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it-I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it-IT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With: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it-IT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t-IT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p>
                        <m: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it-IT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it-IT" sz="16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t-IT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it-IT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reference</a:t>
                </a:r>
                <a:r>
                  <a:rPr lang="it-I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positions and angle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it-IT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it-IT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it-I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it-I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it-IT" sz="16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it-IT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d>
                      <m:dPr>
                        <m:ctrlPr>
                          <a:rPr lang="it-IT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it-I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it-I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both</a:t>
                </a:r>
                <a:r>
                  <a:rPr lang="it-I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bounded</a:t>
                </a:r>
                <a:r>
                  <a:rPr lang="it-I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:r>
                  <a:rPr lang="it-IT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bounded</a:t>
                </a:r>
                <a:r>
                  <a:rPr lang="it-I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derivative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it-IT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it-I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endParaRPr lang="it-I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𝒆𝒙</m:t>
                    </m:r>
                    <m:r>
                      <a:rPr lang="it-I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it-I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sz="1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it-IT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t-IT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it-I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d>
                      <m:dPr>
                        <m:ctrlPr>
                          <a:rPr lang="it-I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t-I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unc>
                      <m:funcPr>
                        <m:ctrlPr>
                          <a:rPr lang="it-I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sz="1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it-I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d>
                      <m:dPr>
                        <m:ctrlP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it-IT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it-IT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a:rPr lang="it-IT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it-I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it-IT" sz="1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it-IT" sz="1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t-IT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it-I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d>
                      <m:dPr>
                        <m:ctrlP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t-I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unc>
                      <m:funcPr>
                        <m:ctrlP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sz="1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it-I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d>
                      <m:dPr>
                        <m:ctrlP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it-IT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it-IT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sub>
                    </m:sSub>
                    <m:r>
                      <a:rPr lang="it-I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t-I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𝑎𝑟𝑐𝑡𝑔</m:t>
                    </m:r>
                    <m:r>
                      <a:rPr lang="it-I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2(</m:t>
                    </m:r>
                    <m:func>
                      <m:funcPr>
                        <m:ctrlP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sz="1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it-IT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it-IT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it-IT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it-IT" sz="16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d>
                      <m:dPr>
                        <m:ctrlP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it-I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it-I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just"/>
                <a:endParaRPr lang="it-IT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it-I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it-I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it-I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it-I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it-I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10C5EF57-4147-91C1-B07A-6C1523402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29" y="1213514"/>
                <a:ext cx="10447531" cy="6716775"/>
              </a:xfrm>
              <a:prstGeom prst="rect">
                <a:avLst/>
              </a:prstGeom>
              <a:blipFill>
                <a:blip r:embed="rId3"/>
                <a:stretch>
                  <a:fillRect l="-350" t="-272" r="-2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Parentesi graffa chiusa 21">
            <a:extLst>
              <a:ext uri="{FF2B5EF4-FFF2-40B4-BE49-F238E27FC236}">
                <a16:creationId xmlns:a16="http://schemas.microsoft.com/office/drawing/2014/main" id="{84AA79E1-C656-BFB5-53CD-1F5412CE4D85}"/>
              </a:ext>
            </a:extLst>
          </p:cNvPr>
          <p:cNvSpPr/>
          <p:nvPr/>
        </p:nvSpPr>
        <p:spPr>
          <a:xfrm>
            <a:off x="5542624" y="5644486"/>
            <a:ext cx="175364" cy="739035"/>
          </a:xfrm>
          <a:prstGeom prst="rightBrac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5DDE45FB-37A2-0252-2A4B-8172CD9432EA}"/>
              </a:ext>
            </a:extLst>
          </p:cNvPr>
          <p:cNvSpPr txBox="1"/>
          <p:nvPr/>
        </p:nvSpPr>
        <p:spPr>
          <a:xfrm>
            <a:off x="5717988" y="5827624"/>
            <a:ext cx="520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robot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</a:t>
            </a:r>
            <a:endParaRPr lang="it-IT" dirty="0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28FD0C8C-C794-7CE7-C09A-6E1E4915C054}"/>
              </a:ext>
            </a:extLst>
          </p:cNvPr>
          <p:cNvSpPr/>
          <p:nvPr/>
        </p:nvSpPr>
        <p:spPr>
          <a:xfrm>
            <a:off x="713232" y="977969"/>
            <a:ext cx="978862" cy="11417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A1F81718-4D46-1758-649E-8C99091B47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65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268CC-9F73-90DD-45FB-F3AF223D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3D71C5-DF11-DC1F-B9FE-3BFBDE30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5C03B94-7203-498B-33B9-A1D577304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E0A315-E5D7-F145-8DDD-C38E7898B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A54D6EDD-1956-E505-8E2A-05DD6A51DE0F}"/>
              </a:ext>
            </a:extLst>
          </p:cNvPr>
          <p:cNvGrpSpPr/>
          <p:nvPr/>
        </p:nvGrpSpPr>
        <p:grpSpPr>
          <a:xfrm>
            <a:off x="713232" y="1279632"/>
            <a:ext cx="10392484" cy="4793464"/>
            <a:chOff x="713232" y="1279632"/>
            <a:chExt cx="10392484" cy="4793464"/>
          </a:xfrm>
        </p:grpSpPr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26AE2DF9-B939-9D89-7179-A4A600CBBA07}"/>
                </a:ext>
              </a:extLst>
            </p:cNvPr>
            <p:cNvGrpSpPr/>
            <p:nvPr/>
          </p:nvGrpSpPr>
          <p:grpSpPr>
            <a:xfrm>
              <a:off x="2946247" y="2092868"/>
              <a:ext cx="6838148" cy="864811"/>
              <a:chOff x="650529" y="5684414"/>
              <a:chExt cx="6838148" cy="864811"/>
            </a:xfrm>
          </p:grpSpPr>
          <p:sp>
            <p:nvSpPr>
              <p:cNvPr id="6" name="Parentesi graffa chiusa 5">
                <a:extLst>
                  <a:ext uri="{FF2B5EF4-FFF2-40B4-BE49-F238E27FC236}">
                    <a16:creationId xmlns:a16="http://schemas.microsoft.com/office/drawing/2014/main" id="{1B87C9C6-69C8-F55E-678A-7657343983F8}"/>
                  </a:ext>
                </a:extLst>
              </p:cNvPr>
              <p:cNvSpPr/>
              <p:nvPr/>
            </p:nvSpPr>
            <p:spPr>
              <a:xfrm>
                <a:off x="4635898" y="5684414"/>
                <a:ext cx="238991" cy="602673"/>
              </a:xfrm>
              <a:prstGeom prst="rightBrace">
                <a:avLst/>
              </a:prstGeom>
              <a:ln w="38100">
                <a:solidFill>
                  <a:srgbClr val="FEBB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CasellaDiTesto 6">
                    <a:extLst>
                      <a:ext uri="{FF2B5EF4-FFF2-40B4-BE49-F238E27FC236}">
                        <a16:creationId xmlns:a16="http://schemas.microsoft.com/office/drawing/2014/main" id="{4162743B-1E2A-49FB-6633-F1B116BBD2D7}"/>
                      </a:ext>
                    </a:extLst>
                  </p:cNvPr>
                  <p:cNvSpPr txBox="1"/>
                  <p:nvPr/>
                </p:nvSpPr>
                <p:spPr>
                  <a:xfrm>
                    <a:off x="650529" y="5687451"/>
                    <a:ext cx="4087726" cy="86177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oMath>
                    </a14:m>
                    <a:r>
                      <a:rPr lang="it-IT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,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oMath>
                    </a14:m>
                    <a:r>
                      <a:rPr lang="it-IT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 </a:t>
                    </a:r>
                    <a:r>
                      <a:rPr lang="it-IT" sz="1600" i="1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bounded</a:t>
                    </a:r>
                    <a:r>
                      <a:rPr lang="it-IT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with </a:t>
                    </a:r>
                    <a:r>
                      <a:rPr lang="it-IT" sz="1600" i="1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bounded</a:t>
                    </a:r>
                    <a:r>
                      <a:rPr lang="it-IT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derivative</a:t>
                    </a:r>
                  </a:p>
                  <a:p>
                    <a:pPr algn="just"/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oMath>
                    </a14:m>
                    <a:r>
                      <a:rPr lang="it-IT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,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t-IT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it-IT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oMath>
                    </a14:m>
                    <a:r>
                      <a:rPr lang="it-IT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do </a:t>
                    </a:r>
                    <a:r>
                      <a:rPr lang="it-IT" sz="1600" i="1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not</a:t>
                    </a:r>
                    <a:r>
                      <a:rPr lang="it-IT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it-IT" sz="1600" i="1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simultaneously</a:t>
                    </a:r>
                    <a:r>
                      <a:rPr lang="it-IT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converge to zero</a:t>
                    </a:r>
                  </a:p>
                  <a:p>
                    <a:endParaRPr lang="it-IT" dirty="0"/>
                  </a:p>
                </p:txBody>
              </p:sp>
            </mc:Choice>
            <mc:Fallback xmlns="">
              <p:sp>
                <p:nvSpPr>
                  <p:cNvPr id="7" name="CasellaDiTesto 6">
                    <a:extLst>
                      <a:ext uri="{FF2B5EF4-FFF2-40B4-BE49-F238E27FC236}">
                        <a16:creationId xmlns:a16="http://schemas.microsoft.com/office/drawing/2014/main" id="{4162743B-1E2A-49FB-6633-F1B116BBD2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0529" y="5687451"/>
                    <a:ext cx="4087726" cy="86177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2128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CasellaDiTesto 7">
                    <a:extLst>
                      <a:ext uri="{FF2B5EF4-FFF2-40B4-BE49-F238E27FC236}">
                        <a16:creationId xmlns:a16="http://schemas.microsoft.com/office/drawing/2014/main" id="{CB33694B-4E9C-96AA-E84C-C30AC903F101}"/>
                      </a:ext>
                    </a:extLst>
                  </p:cNvPr>
                  <p:cNvSpPr txBox="1"/>
                  <p:nvPr/>
                </p:nvSpPr>
                <p:spPr>
                  <a:xfrm>
                    <a:off x="5931303" y="5709076"/>
                    <a:ext cx="1557374" cy="4577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it-IT" b="1" i="0" smtClean="0">
                                      <a:latin typeface="Cambria Math" panose="02040503050406030204" pitchFamily="18" charset="0"/>
                                    </a:rPr>
                                    <m:t>𝐥𝐢𝐦</m:t>
                                  </m:r>
                                </m:e>
                                <m:lim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d>
                                <m:dPr>
                                  <m:ctrlP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func>
                        </m:oMath>
                      </m:oMathPara>
                    </a14:m>
                    <a:endParaRPr lang="it-IT" b="1" dirty="0"/>
                  </a:p>
                </p:txBody>
              </p:sp>
            </mc:Choice>
            <mc:Fallback xmlns="">
              <p:sp>
                <p:nvSpPr>
                  <p:cNvPr id="8" name="CasellaDiTesto 7">
                    <a:extLst>
                      <a:ext uri="{FF2B5EF4-FFF2-40B4-BE49-F238E27FC236}">
                        <a16:creationId xmlns:a16="http://schemas.microsoft.com/office/drawing/2014/main" id="{CB33694B-4E9C-96AA-E84C-C30AC903F1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31303" y="5709076"/>
                    <a:ext cx="1557374" cy="4577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Freccia a destra 8">
                <a:extLst>
                  <a:ext uri="{FF2B5EF4-FFF2-40B4-BE49-F238E27FC236}">
                    <a16:creationId xmlns:a16="http://schemas.microsoft.com/office/drawing/2014/main" id="{29519325-74C6-6F1F-40A8-0E45B5BAB3B7}"/>
                  </a:ext>
                </a:extLst>
              </p:cNvPr>
              <p:cNvSpPr/>
              <p:nvPr/>
            </p:nvSpPr>
            <p:spPr>
              <a:xfrm>
                <a:off x="4973605" y="5804669"/>
                <a:ext cx="858982" cy="362161"/>
              </a:xfrm>
              <a:prstGeom prst="rightArrow">
                <a:avLst/>
              </a:prstGeom>
              <a:solidFill>
                <a:srgbClr val="FEBB00"/>
              </a:solidFill>
              <a:ln>
                <a:solidFill>
                  <a:srgbClr val="FEBB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ED875D89-75B4-74D2-6909-15CCC41F1DF7}"/>
                </a:ext>
              </a:extLst>
            </p:cNvPr>
            <p:cNvSpPr txBox="1"/>
            <p:nvPr/>
          </p:nvSpPr>
          <p:spPr>
            <a:xfrm>
              <a:off x="713232" y="1279632"/>
              <a:ext cx="103807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control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law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non linear for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presence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trigonometric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functions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rational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terms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main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advantage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choosig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controller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following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0C0FFC79-FF53-0677-FA44-D786FDD97456}"/>
                </a:ext>
              </a:extLst>
            </p:cNvPr>
            <p:cNvSpPr txBox="1"/>
            <p:nvPr/>
          </p:nvSpPr>
          <p:spPr>
            <a:xfrm>
              <a:off x="713232" y="3093929"/>
              <a:ext cx="103924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Thus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the 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law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ensures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asymptotic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convergence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on the 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trajectory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even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robot model 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non-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holonomous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About the non-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holonomicity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property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holds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sellaDiTesto 15">
                  <a:extLst>
                    <a:ext uri="{FF2B5EF4-FFF2-40B4-BE49-F238E27FC236}">
                      <a16:creationId xmlns:a16="http://schemas.microsoft.com/office/drawing/2014/main" id="{9BF0F0B5-C709-8649-054A-81FECB7CE0C6}"/>
                    </a:ext>
                  </a:extLst>
                </p:cNvPr>
                <p:cNvSpPr txBox="1"/>
                <p:nvPr/>
              </p:nvSpPr>
              <p:spPr>
                <a:xfrm>
                  <a:off x="4072401" y="4000148"/>
                  <a:ext cx="99892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sub>
                        </m:sSub>
                        <m:r>
                          <a:rPr lang="it-IT" sz="2000" b="1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it-IT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sub>
                        </m:sSub>
                      </m:oMath>
                    </m:oMathPara>
                  </a14:m>
                  <a:endParaRPr lang="it-IT" sz="2000" b="1" dirty="0"/>
                </a:p>
              </p:txBody>
            </p:sp>
          </mc:Choice>
          <mc:Fallback xmlns="">
            <p:sp>
              <p:nvSpPr>
                <p:cNvPr id="16" name="CasellaDiTesto 15">
                  <a:extLst>
                    <a:ext uri="{FF2B5EF4-FFF2-40B4-BE49-F238E27FC236}">
                      <a16:creationId xmlns:a16="http://schemas.microsoft.com/office/drawing/2014/main" id="{9BF0F0B5-C709-8649-054A-81FECB7CE0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2401" y="4000148"/>
                  <a:ext cx="998928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3049" b="-2156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Freccia a destra 16">
              <a:extLst>
                <a:ext uri="{FF2B5EF4-FFF2-40B4-BE49-F238E27FC236}">
                  <a16:creationId xmlns:a16="http://schemas.microsoft.com/office/drawing/2014/main" id="{DB3367ED-20DE-CF9A-0C2D-CF19EA6FB0DE}"/>
                </a:ext>
              </a:extLst>
            </p:cNvPr>
            <p:cNvSpPr/>
            <p:nvPr/>
          </p:nvSpPr>
          <p:spPr>
            <a:xfrm>
              <a:off x="5316531" y="3973307"/>
              <a:ext cx="858982" cy="362161"/>
            </a:xfrm>
            <a:prstGeom prst="rightArrow">
              <a:avLst/>
            </a:prstGeom>
            <a:solidFill>
              <a:srgbClr val="FEBB00"/>
            </a:solidFill>
            <a:ln>
              <a:solidFill>
                <a:srgbClr val="FEBB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47E35D6B-DAB5-7A6C-E831-7928A046D3F2}"/>
                </a:ext>
              </a:extLst>
            </p:cNvPr>
            <p:cNvSpPr txBox="1"/>
            <p:nvPr/>
          </p:nvSpPr>
          <p:spPr>
            <a:xfrm>
              <a:off x="6420715" y="3969370"/>
              <a:ext cx="3150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model </a:t>
              </a:r>
              <a:r>
                <a:rPr lang="it-IT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</a:t>
              </a:r>
              <a:r>
                <a:rPr lang="it-IT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non-</a:t>
              </a:r>
              <a:r>
                <a:rPr lang="it-IT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holonomic</a:t>
              </a:r>
              <a:endParaRPr lang="it-IT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asellaDiTesto 25">
                  <a:extLst>
                    <a:ext uri="{FF2B5EF4-FFF2-40B4-BE49-F238E27FC236}">
                      <a16:creationId xmlns:a16="http://schemas.microsoft.com/office/drawing/2014/main" id="{7F941AC4-9CC8-9359-723B-04667319B61D}"/>
                    </a:ext>
                  </a:extLst>
                </p:cNvPr>
                <p:cNvSpPr txBox="1"/>
                <p:nvPr/>
              </p:nvSpPr>
              <p:spPr>
                <a:xfrm>
                  <a:off x="713232" y="4335468"/>
                  <a:ext cx="10250951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Where:</a:t>
                  </a:r>
                </a:p>
                <a:p>
                  <a:pPr marL="285750" indent="-285750" algn="just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</m:oMath>
                  </a14:m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it-IT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is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the </a:t>
                  </a:r>
                  <a:r>
                    <a:rPr lang="it-IT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number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of degrees of </a:t>
                  </a:r>
                  <a:r>
                    <a:rPr lang="it-IT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freedom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it-IT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</m:oMath>
                  </a14:m>
                  <a:r>
                    <a:rPr lang="it-IT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it-IT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oMath>
                  </a14:m>
                  <a:r>
                    <a:rPr lang="it-IT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</a:t>
                  </a:r>
                  <a14:m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𝜽</m:t>
                      </m:r>
                    </m:oMath>
                  </a14:m>
                  <a:r>
                    <a:rPr lang="it-IT" b="1" i="1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it-IT" i="1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for the </a:t>
                  </a:r>
                  <a:r>
                    <a:rPr lang="it-IT" i="1" dirty="0" err="1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differential</a:t>
                  </a:r>
                  <a:r>
                    <a:rPr lang="it-IT" i="1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drive 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</m:oMath>
                  </a14:m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it-IT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is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the </a:t>
                  </a:r>
                  <a:r>
                    <a:rPr lang="it-IT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number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of control inputs:</a:t>
                  </a:r>
                  <a:r>
                    <a:rPr lang="it-IT" b="1" kern="100" dirty="0">
                      <a:ea typeface="Aptos" panose="020B0004020202020204" pitchFamily="34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b="1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GB" b="1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𝒍</m:t>
                          </m:r>
                        </m:sub>
                      </m:sSub>
                    </m:oMath>
                  </a14:m>
                  <a:r>
                    <a:rPr lang="en-GB" i="1" kern="100" dirty="0"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b="1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it-IT" b="1" i="1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sub>
                      </m:sSub>
                    </m:oMath>
                  </a14:m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for the </a:t>
                  </a:r>
                  <a:r>
                    <a:rPr lang="it-IT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differential</a:t>
                  </a:r>
                  <a:r>
                    <a:rPr lang="it-IT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drive </a:t>
                  </a:r>
                </a:p>
              </p:txBody>
            </p:sp>
          </mc:Choice>
          <mc:Fallback xmlns="">
            <p:sp>
              <p:nvSpPr>
                <p:cNvPr id="26" name="CasellaDiTesto 25">
                  <a:extLst>
                    <a:ext uri="{FF2B5EF4-FFF2-40B4-BE49-F238E27FC236}">
                      <a16:creationId xmlns:a16="http://schemas.microsoft.com/office/drawing/2014/main" id="{7F941AC4-9CC8-9359-723B-04667319B6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232" y="4335468"/>
                  <a:ext cx="10250951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476" t="-3289" b="-9211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6726742A-3FE8-6A52-61F5-4E1BB1968B2E}"/>
                </a:ext>
              </a:extLst>
            </p:cNvPr>
            <p:cNvSpPr txBox="1"/>
            <p:nvPr/>
          </p:nvSpPr>
          <p:spPr>
            <a:xfrm>
              <a:off x="713232" y="5426765"/>
              <a:ext cx="8997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So, the robot model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non-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holonomic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constraints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which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are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related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the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impossibility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moving</a:t>
              </a:r>
              <a:r>
                <a:rPr lang="it-IT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sideways</a:t>
              </a:r>
              <a:endParaRPr lang="it-IT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9" name="Immagine 28" descr="Immagine che contiene simbolo, cerchio, Elementi grafici, clipart&#10;&#10;Il contenuto generato dall'IA potrebbe non essere corretto.">
            <a:extLst>
              <a:ext uri="{FF2B5EF4-FFF2-40B4-BE49-F238E27FC236}">
                <a16:creationId xmlns:a16="http://schemas.microsoft.com/office/drawing/2014/main" id="{3D22DAE2-540F-95C8-B3AC-BAC2A6801C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809" y="4931857"/>
            <a:ext cx="2123191" cy="1844297"/>
          </a:xfrm>
          <a:prstGeom prst="rect">
            <a:avLst/>
          </a:prstGeom>
        </p:spPr>
      </p:pic>
      <p:sp>
        <p:nvSpPr>
          <p:cNvPr id="31" name="Rettangolo 30">
            <a:extLst>
              <a:ext uri="{FF2B5EF4-FFF2-40B4-BE49-F238E27FC236}">
                <a16:creationId xmlns:a16="http://schemas.microsoft.com/office/drawing/2014/main" id="{16B50929-5FE7-1B1D-F747-5BE1DF65FBBE}"/>
              </a:ext>
            </a:extLst>
          </p:cNvPr>
          <p:cNvSpPr/>
          <p:nvPr/>
        </p:nvSpPr>
        <p:spPr>
          <a:xfrm>
            <a:off x="713232" y="977969"/>
            <a:ext cx="978862" cy="114173"/>
          </a:xfrm>
          <a:prstGeom prst="rect">
            <a:avLst/>
          </a:prstGeom>
          <a:solidFill>
            <a:srgbClr val="FFC000"/>
          </a:solidFill>
          <a:ln>
            <a:solidFill>
              <a:srgbClr val="FE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D6C720E-A6E0-42FF-7B3B-76EDB18C7D5C}"/>
              </a:ext>
            </a:extLst>
          </p:cNvPr>
          <p:cNvSpPr txBox="1"/>
          <p:nvPr/>
        </p:nvSpPr>
        <p:spPr>
          <a:xfrm>
            <a:off x="650529" y="289234"/>
            <a:ext cx="23628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</a:t>
            </a:r>
            <a:endParaRPr lang="it-IT" sz="3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magine 10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EF273649-3424-61BA-CF8B-1BB66D9E7C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87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07DD4-F5A1-7086-C1D6-34B6236E3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2EA39B-0008-B0FC-30AB-28E8A7D5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6A7558A-6D07-9CB7-AB74-1671213CB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F6C39FE-A4FF-9116-2A79-8BE135E47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magine 1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6938F274-2086-6E20-662A-CF8573007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47F9B79-D763-91F4-EA10-5517A157E472}"/>
              </a:ext>
            </a:extLst>
          </p:cNvPr>
          <p:cNvSpPr txBox="1"/>
          <p:nvPr/>
        </p:nvSpPr>
        <p:spPr>
          <a:xfrm>
            <a:off x="650529" y="294491"/>
            <a:ext cx="101823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Tracking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endParaRPr lang="it-IT" sz="3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8AF91CC-45FD-D574-7523-EFB390FACFDD}"/>
              </a:ext>
            </a:extLst>
          </p:cNvPr>
          <p:cNvSpPr/>
          <p:nvPr/>
        </p:nvSpPr>
        <p:spPr>
          <a:xfrm>
            <a:off x="713232" y="977969"/>
            <a:ext cx="978862" cy="114173"/>
          </a:xfrm>
          <a:prstGeom prst="rect">
            <a:avLst/>
          </a:prstGeom>
          <a:solidFill>
            <a:srgbClr val="FFC000"/>
          </a:solidFill>
          <a:ln>
            <a:solidFill>
              <a:srgbClr val="FE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54ACC8-8E2A-F081-19BB-DEF647A2386F}"/>
              </a:ext>
            </a:extLst>
          </p:cNvPr>
          <p:cNvSpPr txBox="1"/>
          <p:nvPr/>
        </p:nvSpPr>
        <p:spPr>
          <a:xfrm>
            <a:off x="650529" y="1371600"/>
            <a:ext cx="10392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Let’s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look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tracking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displacement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desired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pose of the robot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assumed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92B3145-87D4-47C3-983B-2A834D12953C}"/>
              </a:ext>
            </a:extLst>
          </p:cNvPr>
          <p:cNvSpPr txBox="1"/>
          <p:nvPr/>
        </p:nvSpPr>
        <p:spPr>
          <a:xfrm>
            <a:off x="5741620" y="299152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19A0BE52-542D-DA30-B2AC-A4C1FE9B74C3}"/>
              </a:ext>
            </a:extLst>
          </p:cNvPr>
          <p:cNvGrpSpPr/>
          <p:nvPr/>
        </p:nvGrpSpPr>
        <p:grpSpPr>
          <a:xfrm>
            <a:off x="1388426" y="5818905"/>
            <a:ext cx="9444415" cy="262395"/>
            <a:chOff x="1408304" y="5419681"/>
            <a:chExt cx="9444415" cy="262395"/>
          </a:xfrm>
        </p:grpSpPr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5B8193B8-E29F-80BA-6153-AB25CE51B40D}"/>
                </a:ext>
              </a:extLst>
            </p:cNvPr>
            <p:cNvSpPr txBox="1"/>
            <p:nvPr/>
          </p:nvSpPr>
          <p:spPr>
            <a:xfrm>
              <a:off x="1408304" y="5419681"/>
              <a:ext cx="1989428" cy="250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along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axis</a:t>
              </a:r>
              <a:endParaRPr lang="it-IT" sz="11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A98AC5BD-5E95-225F-720C-033B34D0F27A}"/>
                </a:ext>
              </a:extLst>
            </p:cNvPr>
            <p:cNvSpPr txBox="1"/>
            <p:nvPr/>
          </p:nvSpPr>
          <p:spPr>
            <a:xfrm>
              <a:off x="5730206" y="5420466"/>
              <a:ext cx="13204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along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axis</a:t>
              </a:r>
              <a:endParaRPr lang="it-IT" sz="11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CA495B36-E527-995A-CD39-9E5023D621DC}"/>
                </a:ext>
              </a:extLst>
            </p:cNvPr>
            <p:cNvSpPr txBox="1"/>
            <p:nvPr/>
          </p:nvSpPr>
          <p:spPr>
            <a:xfrm>
              <a:off x="9532230" y="5420466"/>
              <a:ext cx="13204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Angular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</a:t>
              </a:r>
              <a:endParaRPr lang="it-IT" sz="11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5C19612-3D1E-85AE-1D41-636787D54D1C}"/>
              </a:ext>
            </a:extLst>
          </p:cNvPr>
          <p:cNvSpPr txBox="1"/>
          <p:nvPr/>
        </p:nvSpPr>
        <p:spPr>
          <a:xfrm>
            <a:off x="593336" y="2176501"/>
            <a:ext cx="14764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it-IT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pic>
        <p:nvPicPr>
          <p:cNvPr id="47" name="Immagine 46">
            <a:extLst>
              <a:ext uri="{FF2B5EF4-FFF2-40B4-BE49-F238E27FC236}">
                <a16:creationId xmlns:a16="http://schemas.microsoft.com/office/drawing/2014/main" id="{C67AA6B7-7EFE-3CDB-A4C7-B9F198C9E6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48" y="2790686"/>
            <a:ext cx="3900536" cy="2954132"/>
          </a:xfrm>
          <a:prstGeom prst="rect">
            <a:avLst/>
          </a:prstGeom>
        </p:spPr>
      </p:pic>
      <p:pic>
        <p:nvPicPr>
          <p:cNvPr id="49" name="Immagine 48">
            <a:extLst>
              <a:ext uri="{FF2B5EF4-FFF2-40B4-BE49-F238E27FC236}">
                <a16:creationId xmlns:a16="http://schemas.microsoft.com/office/drawing/2014/main" id="{5884AE45-C07F-21AF-6465-5806497303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508" y="2762055"/>
            <a:ext cx="3900536" cy="2982763"/>
          </a:xfrm>
          <a:prstGeom prst="rect">
            <a:avLst/>
          </a:prstGeom>
        </p:spPr>
      </p:pic>
      <p:pic>
        <p:nvPicPr>
          <p:cNvPr id="51" name="Immagine 50">
            <a:extLst>
              <a:ext uri="{FF2B5EF4-FFF2-40B4-BE49-F238E27FC236}">
                <a16:creationId xmlns:a16="http://schemas.microsoft.com/office/drawing/2014/main" id="{7529F174-F8CF-E8C2-D397-647E23CC4B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328" y="2790686"/>
            <a:ext cx="3798170" cy="295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00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10450-6920-96E3-4A07-E079D73D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9CDCB1-FB41-6B4C-8B26-28B3DE705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B4FA62F-67DC-C1BA-6257-B0D61668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64DA3A-91B4-3C25-B29C-47127D1B3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magine 1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E5BAE169-8E7C-029A-6107-FC2C06754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B9E424D6-FB8B-EC72-C7DD-99CF017D6F0E}"/>
              </a:ext>
            </a:extLst>
          </p:cNvPr>
          <p:cNvSpPr txBox="1"/>
          <p:nvPr/>
        </p:nvSpPr>
        <p:spPr>
          <a:xfrm>
            <a:off x="650529" y="294491"/>
            <a:ext cx="101823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Tracking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endParaRPr lang="it-IT" sz="3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B33CFA1-E60F-260A-34E1-8E9D30D1C8BB}"/>
              </a:ext>
            </a:extLst>
          </p:cNvPr>
          <p:cNvSpPr/>
          <p:nvPr/>
        </p:nvSpPr>
        <p:spPr>
          <a:xfrm>
            <a:off x="713232" y="977969"/>
            <a:ext cx="978862" cy="114173"/>
          </a:xfrm>
          <a:prstGeom prst="rect">
            <a:avLst/>
          </a:prstGeom>
          <a:solidFill>
            <a:srgbClr val="FFC000"/>
          </a:solidFill>
          <a:ln>
            <a:solidFill>
              <a:srgbClr val="FE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352E0FC-B228-E364-AC98-1B2FBD55F59A}"/>
              </a:ext>
            </a:extLst>
          </p:cNvPr>
          <p:cNvSpPr txBox="1"/>
          <p:nvPr/>
        </p:nvSpPr>
        <p:spPr>
          <a:xfrm>
            <a:off x="5741620" y="299152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5670217A-779B-CB25-DBE5-1645E2E15490}"/>
              </a:ext>
            </a:extLst>
          </p:cNvPr>
          <p:cNvGrpSpPr/>
          <p:nvPr/>
        </p:nvGrpSpPr>
        <p:grpSpPr>
          <a:xfrm>
            <a:off x="1049265" y="1975850"/>
            <a:ext cx="11142735" cy="1682523"/>
            <a:chOff x="1197234" y="2280458"/>
            <a:chExt cx="11142735" cy="1682523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65E8D746-04EB-884D-CE9B-8420B151B3E9}"/>
                </a:ext>
              </a:extLst>
            </p:cNvPr>
            <p:cNvSpPr txBox="1"/>
            <p:nvPr/>
          </p:nvSpPr>
          <p:spPr>
            <a:xfrm>
              <a:off x="9871462" y="2280458"/>
              <a:ext cx="24685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lang="it-IT" sz="22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Path</a:t>
              </a:r>
              <a:r>
                <a:rPr lang="it-IT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2</a:t>
              </a:r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38E2F24D-4A82-B16B-8D08-AC4FA2A60B22}"/>
                </a:ext>
              </a:extLst>
            </p:cNvPr>
            <p:cNvSpPr txBox="1"/>
            <p:nvPr/>
          </p:nvSpPr>
          <p:spPr>
            <a:xfrm>
              <a:off x="1197234" y="3702711"/>
              <a:ext cx="1989428" cy="250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along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axis</a:t>
              </a:r>
              <a:endParaRPr lang="it-IT" sz="11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CasellaDiTesto 23">
              <a:extLst>
                <a:ext uri="{FF2B5EF4-FFF2-40B4-BE49-F238E27FC236}">
                  <a16:creationId xmlns:a16="http://schemas.microsoft.com/office/drawing/2014/main" id="{DBA93505-C2C5-24E2-2374-006BB4146934}"/>
                </a:ext>
              </a:extLst>
            </p:cNvPr>
            <p:cNvSpPr txBox="1"/>
            <p:nvPr/>
          </p:nvSpPr>
          <p:spPr>
            <a:xfrm>
              <a:off x="4287850" y="3701371"/>
              <a:ext cx="19894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along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axis</a:t>
              </a:r>
              <a:endParaRPr lang="it-IT" sz="11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EB184832-7D13-75B3-B2A7-7B39A2098745}"/>
                </a:ext>
              </a:extLst>
            </p:cNvPr>
            <p:cNvSpPr txBox="1"/>
            <p:nvPr/>
          </p:nvSpPr>
          <p:spPr>
            <a:xfrm>
              <a:off x="7326543" y="3693812"/>
              <a:ext cx="19894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Angular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</a:t>
              </a:r>
              <a:endParaRPr lang="it-IT" sz="11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E17DB176-D95C-5355-39B6-B9C7CB33CAC4}"/>
              </a:ext>
            </a:extLst>
          </p:cNvPr>
          <p:cNvGrpSpPr/>
          <p:nvPr/>
        </p:nvGrpSpPr>
        <p:grpSpPr>
          <a:xfrm>
            <a:off x="570186" y="4683369"/>
            <a:ext cx="10201355" cy="1609235"/>
            <a:chOff x="381255" y="4683532"/>
            <a:chExt cx="10201355" cy="1609235"/>
          </a:xfrm>
        </p:grpSpPr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8D0C6EAA-D201-DE27-04D8-5C1F2CDCC0B7}"/>
                </a:ext>
              </a:extLst>
            </p:cNvPr>
            <p:cNvSpPr txBox="1"/>
            <p:nvPr/>
          </p:nvSpPr>
          <p:spPr>
            <a:xfrm>
              <a:off x="381255" y="4683532"/>
              <a:ext cx="24685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3"/>
              </a:pPr>
              <a:r>
                <a:rPr lang="it-IT" sz="22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Path</a:t>
              </a:r>
              <a:r>
                <a:rPr lang="it-IT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3</a:t>
              </a:r>
            </a:p>
          </p:txBody>
        </p:sp>
        <p:sp>
          <p:nvSpPr>
            <p:cNvPr id="37" name="CasellaDiTesto 36">
              <a:extLst>
                <a:ext uri="{FF2B5EF4-FFF2-40B4-BE49-F238E27FC236}">
                  <a16:creationId xmlns:a16="http://schemas.microsoft.com/office/drawing/2014/main" id="{BE2569ED-FFAF-28ED-0D72-5812C0D29EA6}"/>
                </a:ext>
              </a:extLst>
            </p:cNvPr>
            <p:cNvSpPr txBox="1"/>
            <p:nvPr/>
          </p:nvSpPr>
          <p:spPr>
            <a:xfrm>
              <a:off x="2465635" y="6023245"/>
              <a:ext cx="1989428" cy="250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along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axis</a:t>
              </a:r>
              <a:endParaRPr lang="it-IT" sz="11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CasellaDiTesto 39">
              <a:extLst>
                <a:ext uri="{FF2B5EF4-FFF2-40B4-BE49-F238E27FC236}">
                  <a16:creationId xmlns:a16="http://schemas.microsoft.com/office/drawing/2014/main" id="{4BFBE30E-DB1D-DBDE-7D80-BE5E4FF7F345}"/>
                </a:ext>
              </a:extLst>
            </p:cNvPr>
            <p:cNvSpPr txBox="1"/>
            <p:nvPr/>
          </p:nvSpPr>
          <p:spPr>
            <a:xfrm>
              <a:off x="5484444" y="6031157"/>
              <a:ext cx="19894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along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axis</a:t>
              </a:r>
              <a:endParaRPr lang="it-IT" sz="11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CasellaDiTesto 42">
              <a:extLst>
                <a:ext uri="{FF2B5EF4-FFF2-40B4-BE49-F238E27FC236}">
                  <a16:creationId xmlns:a16="http://schemas.microsoft.com/office/drawing/2014/main" id="{6731516A-9110-6574-C797-0660563BF56B}"/>
                </a:ext>
              </a:extLst>
            </p:cNvPr>
            <p:cNvSpPr txBox="1"/>
            <p:nvPr/>
          </p:nvSpPr>
          <p:spPr>
            <a:xfrm>
              <a:off x="8593182" y="6028105"/>
              <a:ext cx="19894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Angular</a:t>
              </a:r>
              <a:r>
                <a:rPr lang="it-IT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1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</a:t>
              </a:r>
              <a:endParaRPr lang="it-IT" sz="11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8" name="Immagine 57">
            <a:extLst>
              <a:ext uri="{FF2B5EF4-FFF2-40B4-BE49-F238E27FC236}">
                <a16:creationId xmlns:a16="http://schemas.microsoft.com/office/drawing/2014/main" id="{03F9908A-16AA-86AE-0479-727D840C4B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58" y="1194142"/>
            <a:ext cx="2919776" cy="2247158"/>
          </a:xfrm>
          <a:prstGeom prst="rect">
            <a:avLst/>
          </a:prstGeom>
        </p:spPr>
      </p:pic>
      <p:pic>
        <p:nvPicPr>
          <p:cNvPr id="60" name="Immagine 59">
            <a:extLst>
              <a:ext uri="{FF2B5EF4-FFF2-40B4-BE49-F238E27FC236}">
                <a16:creationId xmlns:a16="http://schemas.microsoft.com/office/drawing/2014/main" id="{406F532F-8D74-BA77-0D40-C7B97761D2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140" y="1204078"/>
            <a:ext cx="2989340" cy="2247159"/>
          </a:xfrm>
          <a:prstGeom prst="rect">
            <a:avLst/>
          </a:prstGeom>
        </p:spPr>
      </p:pic>
      <p:pic>
        <p:nvPicPr>
          <p:cNvPr id="62" name="Immagine 61">
            <a:extLst>
              <a:ext uri="{FF2B5EF4-FFF2-40B4-BE49-F238E27FC236}">
                <a16:creationId xmlns:a16="http://schemas.microsoft.com/office/drawing/2014/main" id="{D7550327-4D36-897C-5C10-4E9B3B792D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147" y="1198651"/>
            <a:ext cx="2927846" cy="2252586"/>
          </a:xfrm>
          <a:prstGeom prst="rect">
            <a:avLst/>
          </a:prstGeom>
        </p:spPr>
      </p:pic>
      <p:pic>
        <p:nvPicPr>
          <p:cNvPr id="64" name="Immagine 63">
            <a:extLst>
              <a:ext uri="{FF2B5EF4-FFF2-40B4-BE49-F238E27FC236}">
                <a16:creationId xmlns:a16="http://schemas.microsoft.com/office/drawing/2014/main" id="{E30C2A47-EE94-A866-40E9-FD27F60068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134" y="3796889"/>
            <a:ext cx="2989340" cy="2234300"/>
          </a:xfrm>
          <a:prstGeom prst="rect">
            <a:avLst/>
          </a:prstGeom>
        </p:spPr>
      </p:pic>
      <p:pic>
        <p:nvPicPr>
          <p:cNvPr id="66" name="Immagine 65">
            <a:extLst>
              <a:ext uri="{FF2B5EF4-FFF2-40B4-BE49-F238E27FC236}">
                <a16:creationId xmlns:a16="http://schemas.microsoft.com/office/drawing/2014/main" id="{22EC2064-9EEA-C8AA-F327-BA6E7E90C9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827" y="3796889"/>
            <a:ext cx="2990051" cy="2259380"/>
          </a:xfrm>
          <a:prstGeom prst="rect">
            <a:avLst/>
          </a:prstGeom>
        </p:spPr>
      </p:pic>
      <p:pic>
        <p:nvPicPr>
          <p:cNvPr id="68" name="Immagine 67">
            <a:extLst>
              <a:ext uri="{FF2B5EF4-FFF2-40B4-BE49-F238E27FC236}">
                <a16:creationId xmlns:a16="http://schemas.microsoft.com/office/drawing/2014/main" id="{9BF1A378-1A1D-8863-5288-F71781E844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212" y="3796889"/>
            <a:ext cx="3000124" cy="228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35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D7EB4-5454-3CEE-61A5-23D08C39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1A9847-4A30-49E0-DFF7-475D1A5BA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F69EE12-3C87-6F42-1545-604E446F2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5659241-DDF3-2C88-D970-2D7CC09A6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magine 1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37B7DA33-2E26-A4F0-1CC6-510F081EE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8005509-BD3B-FE0F-4051-87EE4F12BB49}"/>
              </a:ext>
            </a:extLst>
          </p:cNvPr>
          <p:cNvSpPr txBox="1"/>
          <p:nvPr/>
        </p:nvSpPr>
        <p:spPr>
          <a:xfrm>
            <a:off x="650529" y="294491"/>
            <a:ext cx="34227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it-IT" sz="3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F43E323-0191-51AE-C598-0BF2F98470DA}"/>
              </a:ext>
            </a:extLst>
          </p:cNvPr>
          <p:cNvSpPr/>
          <p:nvPr/>
        </p:nvSpPr>
        <p:spPr>
          <a:xfrm>
            <a:off x="713232" y="977969"/>
            <a:ext cx="978862" cy="114173"/>
          </a:xfrm>
          <a:prstGeom prst="rect">
            <a:avLst/>
          </a:prstGeom>
          <a:solidFill>
            <a:srgbClr val="FFC000"/>
          </a:solidFill>
          <a:ln>
            <a:solidFill>
              <a:srgbClr val="FE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C439BAD-CD72-D45D-FAA8-593D3A6E609F}"/>
              </a:ext>
            </a:extLst>
          </p:cNvPr>
          <p:cNvSpPr txBox="1"/>
          <p:nvPr/>
        </p:nvSpPr>
        <p:spPr>
          <a:xfrm>
            <a:off x="650529" y="294491"/>
            <a:ext cx="101823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it-IT" sz="3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B82AF7F-7F5B-58CF-553E-9047639B82BF}"/>
              </a:ext>
            </a:extLst>
          </p:cNvPr>
          <p:cNvSpPr txBox="1"/>
          <p:nvPr/>
        </p:nvSpPr>
        <p:spPr>
          <a:xfrm>
            <a:off x="713232" y="1341783"/>
            <a:ext cx="102993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tracking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oscillates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range of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[-0.25[m] 0.25[m]].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coherent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control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0.2 [m]. For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concerns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robot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capable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devotedly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angular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linear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Some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arise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non linear parts of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below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Global Planner and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Controller:</a:t>
            </a:r>
          </a:p>
          <a:p>
            <a:endParaRPr lang="it-IT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0716100-CC4D-1518-DD5E-375B269DF58F}"/>
              </a:ext>
            </a:extLst>
          </p:cNvPr>
          <p:cNvSpPr txBox="1"/>
          <p:nvPr/>
        </p:nvSpPr>
        <p:spPr>
          <a:xfrm>
            <a:off x="2262490" y="3213556"/>
            <a:ext cx="14113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it-IT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B1EA51C-2CA6-A0D4-DADD-735686A4EFD0}"/>
              </a:ext>
            </a:extLst>
          </p:cNvPr>
          <p:cNvSpPr txBox="1"/>
          <p:nvPr/>
        </p:nvSpPr>
        <p:spPr>
          <a:xfrm>
            <a:off x="5618922" y="3213556"/>
            <a:ext cx="14113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it-IT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19D8ACB-7B08-1077-8613-5875B1156ED6}"/>
              </a:ext>
            </a:extLst>
          </p:cNvPr>
          <p:cNvSpPr txBox="1"/>
          <p:nvPr/>
        </p:nvSpPr>
        <p:spPr>
          <a:xfrm>
            <a:off x="9223832" y="3213555"/>
            <a:ext cx="14113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it-IT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C42D4742-5AD5-7141-BA21-1331225E4D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246" y="3699129"/>
            <a:ext cx="3550519" cy="2740975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71FC9AB0-5766-159C-DEE1-41A3B59699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510" y="3691509"/>
            <a:ext cx="3634979" cy="2776272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ACD1D6A1-FA14-DBF2-72CA-51ED0D440D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029" y="3719797"/>
            <a:ext cx="3688571" cy="277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09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F5712B-5176-603D-6D66-3D6BCC1A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506C8B-CA9E-40D9-BD3A-81842EB6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63AD6CB-E418-CC0C-F794-FA47AEB6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0E90F56-63E5-30E4-885E-D03F6E84C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magine 1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3A6B2F46-9AFA-E290-7E60-D75DCBDC8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r="31356"/>
          <a:stretch>
            <a:fillRect/>
          </a:stretch>
        </p:blipFill>
        <p:spPr>
          <a:xfrm>
            <a:off x="11105716" y="1"/>
            <a:ext cx="1086284" cy="91681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CBFDAF3-8AA0-0FD8-23DF-11B92E392BB5}"/>
              </a:ext>
            </a:extLst>
          </p:cNvPr>
          <p:cNvSpPr txBox="1"/>
          <p:nvPr/>
        </p:nvSpPr>
        <p:spPr>
          <a:xfrm>
            <a:off x="650529" y="294491"/>
            <a:ext cx="34227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it-IT" sz="3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12912415-C9EE-0637-AF06-5A7DDF68D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410609"/>
              </p:ext>
            </p:extLst>
          </p:nvPr>
        </p:nvGraphicFramePr>
        <p:xfrm>
          <a:off x="1677685" y="2443864"/>
          <a:ext cx="812800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429684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92615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6781783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54560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</a:t>
                      </a:r>
                      <a:endParaRPr lang="it-IT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318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</a:t>
                      </a:r>
                      <a:r>
                        <a:rPr lang="it-IT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lang="it-IT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 [sec]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 [sec]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 [sec]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88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Execution</a:t>
                      </a:r>
                      <a:r>
                        <a:rPr lang="it-IT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45.37 [sec]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82.11 [sec]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61.76 [sec]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663083"/>
                  </a:ext>
                </a:extLst>
              </a:tr>
            </a:tbl>
          </a:graphicData>
        </a:graphic>
      </p:graphicFrame>
      <p:sp>
        <p:nvSpPr>
          <p:cNvPr id="5" name="Rettangolo 4">
            <a:extLst>
              <a:ext uri="{FF2B5EF4-FFF2-40B4-BE49-F238E27FC236}">
                <a16:creationId xmlns:a16="http://schemas.microsoft.com/office/drawing/2014/main" id="{421EB952-3FF5-384B-2C69-595AF4EE05EB}"/>
              </a:ext>
            </a:extLst>
          </p:cNvPr>
          <p:cNvSpPr/>
          <p:nvPr/>
        </p:nvSpPr>
        <p:spPr>
          <a:xfrm>
            <a:off x="713232" y="977969"/>
            <a:ext cx="978862" cy="114173"/>
          </a:xfrm>
          <a:prstGeom prst="rect">
            <a:avLst/>
          </a:prstGeom>
          <a:solidFill>
            <a:srgbClr val="FFC000"/>
          </a:solidFill>
          <a:ln>
            <a:solidFill>
              <a:srgbClr val="FE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B37DD0A-7F51-D3F5-D5FD-FEE36C1A01A8}"/>
              </a:ext>
            </a:extLst>
          </p:cNvPr>
          <p:cNvSpPr txBox="1"/>
          <p:nvPr/>
        </p:nvSpPr>
        <p:spPr>
          <a:xfrm>
            <a:off x="650529" y="294491"/>
            <a:ext cx="101823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it-IT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FF90408-98C0-A9C5-4A1C-D2F42BAE397E}"/>
              </a:ext>
            </a:extLst>
          </p:cNvPr>
          <p:cNvSpPr txBox="1"/>
          <p:nvPr/>
        </p:nvSpPr>
        <p:spPr>
          <a:xfrm>
            <a:off x="713232" y="1351722"/>
            <a:ext cx="10392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time,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regarding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following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illustrates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for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1ED58F2-BEFA-B144-A641-1B2351FEF28D}"/>
              </a:ext>
            </a:extLst>
          </p:cNvPr>
          <p:cNvSpPr txBox="1"/>
          <p:nvPr/>
        </p:nvSpPr>
        <p:spPr>
          <a:xfrm>
            <a:off x="713232" y="4130500"/>
            <a:ext cx="9891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notice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satisfied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0984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schermata, Carattere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2AB79336-9DF8-DBAA-63CE-B3DD70CC9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91" b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BD540AE-2AFD-3F83-3DBD-1FBB7763EC6F}"/>
              </a:ext>
            </a:extLst>
          </p:cNvPr>
          <p:cNvSpPr txBox="1"/>
          <p:nvPr/>
        </p:nvSpPr>
        <p:spPr>
          <a:xfrm>
            <a:off x="2915478" y="234246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427507835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19895</TotalTime>
  <Words>2505</Words>
  <Application>Microsoft Office PowerPoint</Application>
  <PresentationFormat>Widescreen</PresentationFormat>
  <Paragraphs>170</Paragraphs>
  <Slides>27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27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Cambria Math</vt:lpstr>
      <vt:lpstr>Courier New</vt:lpstr>
      <vt:lpstr>Grandview Display</vt:lpstr>
      <vt:lpstr>Neue Haas Grotesk Text Pro</vt:lpstr>
      <vt:lpstr>Times New Roman</vt:lpstr>
      <vt:lpstr>DashVTI</vt:lpstr>
      <vt:lpstr>Office 2013 - 2022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Furina</dc:creator>
  <cp:lastModifiedBy>Alessandro Furina</cp:lastModifiedBy>
  <cp:revision>88</cp:revision>
  <dcterms:created xsi:type="dcterms:W3CDTF">2025-06-02T13:52:07Z</dcterms:created>
  <dcterms:modified xsi:type="dcterms:W3CDTF">2025-06-18T09:46:53Z</dcterms:modified>
</cp:coreProperties>
</file>